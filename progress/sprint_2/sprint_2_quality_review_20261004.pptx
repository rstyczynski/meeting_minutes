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35cf473e374efd" /><Relationship Type="http://schemas.openxmlformats.org/officeDocument/2006/relationships/extended-properties" Target="/docProps/app.xml" Id="Ra793e80f6cc543cb" /><Relationship Type="http://schemas.openxmlformats.org/officeDocument/2006/relationships/officeDocument" Target="/ppt/presentation.xml" Id="Rd9b0d62d6a9640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6327279f4f4304"/>
  </p:sldMasterIdLst>
  <p:notesMasterIdLst>
    <p:notesMasterId xmlns:r="http://schemas.openxmlformats.org/officeDocument/2006/relationships" r:id="Rbbeed0d6a0b14182"/>
  </p:notesMasterIdLst>
  <p:sldIdLst>
    <p:sldId xmlns:r="http://schemas.openxmlformats.org/officeDocument/2006/relationships" id="256" r:id="R0c6a5ba870d74d89"/>
    <p:sldId xmlns:r="http://schemas.openxmlformats.org/officeDocument/2006/relationships" id="257" r:id="Rcf3538ff9d454451"/>
    <p:sldId xmlns:r="http://schemas.openxmlformats.org/officeDocument/2006/relationships" id="258" r:id="Rb1730f703ddf41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f56d3a8b67472f" /><Relationship Type="http://schemas.openxmlformats.org/officeDocument/2006/relationships/slideMaster" Target="/ppt/slideMasters/slideMaster1.xml" Id="R8c6327279f4f4304" /><Relationship Type="http://schemas.openxmlformats.org/officeDocument/2006/relationships/notesMaster" Target="/ppt/notesMasters/notesMaster1.xml" Id="Rbbeed0d6a0b14182" /><Relationship Type="http://schemas.openxmlformats.org/officeDocument/2006/relationships/presProps" Target="/ppt/presProps.xml" Id="Rc3b80f1d47d74628" /><Relationship Type="http://schemas.openxmlformats.org/officeDocument/2006/relationships/tableStyles" Target="/ppt/tableStyles.xml" Id="R5bc1e9752d564987" /><Relationship Type="http://schemas.openxmlformats.org/officeDocument/2006/relationships/slide" Target="/ppt/slides/slide1.xml" Id="R0c6a5ba870d74d89" /><Relationship Type="http://schemas.openxmlformats.org/officeDocument/2006/relationships/slide" Target="/ppt/slides/slide2.xml" Id="Rcf3538ff9d454451" /><Relationship Type="http://schemas.openxmlformats.org/officeDocument/2006/relationships/slide" Target="/ppt/slides/slide3.xml" Id="Rb1730f703ddf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cf6764e2bf4b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23a9e587304dc4" /><Relationship Type="http://schemas.openxmlformats.org/officeDocument/2006/relationships/notesMaster" Target="/ppt/notesMasters/notesMaster1.xml" Id="Rc4337e3ff0b546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893bdf2bc14266" /><Relationship Type="http://schemas.openxmlformats.org/officeDocument/2006/relationships/notesMaster" Target="/ppt/notesMasters/notesMaster1.xml" Id="Re7e954e64a8a49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ee98a2c8724551" /><Relationship Type="http://schemas.openxmlformats.org/officeDocument/2006/relationships/notesMaster" Target="/ppt/notesMasters/notesMaster1.xml" Id="R5e747463934849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60b78f58064d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67232aca4a417a" /><Relationship Type="http://schemas.openxmlformats.org/officeDocument/2006/relationships/slideLayout" Target="/ppt/slideLayouts/slideLayout1.xml" Id="R4c3f20c243524f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3f20c243524f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abdf4768844f8" /><Relationship Type="http://schemas.openxmlformats.org/officeDocument/2006/relationships/notesSlide" Target="/ppt/notesSlides/notesSlide1.xml" Id="Reb67cabf8c2d4c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f4f0e4d604e60" /><Relationship Type="http://schemas.openxmlformats.org/officeDocument/2006/relationships/notesSlide" Target="/ppt/notesSlides/notesSlide2.xml" Id="Ra0574adf8d334d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6fcb3423744d2" /><Relationship Type="http://schemas.openxmlformats.org/officeDocument/2006/relationships/notesSlide" Target="/ppt/notesSlides/notesSlide3.xml" Id="R095881b6dc6646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3F980-94E0-4891-A283-77910097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3A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3A5E"/>
                </a:solidFill>
                <a:latin typeface="Arial"/>
                <a:ea typeface="Arial"/>
                <a:cs typeface="Arial"/>
              </a:rPr>
              <a:t>Quality controls around the minutes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0F97C-11AA-44B9-B3C8-1BB10698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The model proposes content; code checks structure and citations; the operator can review the audio.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23205-D544-424D-94A5-3898E54A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29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30086-C630-4FD1-9236-CDF18944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8764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7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7A0"/>
                </a:solidFill>
                <a:latin typeface="Arial"/>
                <a:ea typeface="Arial"/>
                <a:cs typeface="Arial"/>
              </a:rPr>
              <a:t>1  Preserve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55D77-2DAD-4190-8F9C-30BBF919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8859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Immutable raw ASR segments, times, and original speaker labels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D3209-0915-45EC-A766-0A6A1B3B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11029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96E8B-E205-4CC4-A083-16A2B6FF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2415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7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7A0"/>
                </a:solidFill>
                <a:latin typeface="Arial"/>
                <a:ea typeface="Arial"/>
                <a:cs typeface="Arial"/>
              </a:rPr>
              <a:t>2 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6211F-5D9B-45FC-A888-E91C1F41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33675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Proposed fragment joins; audio-backed, reversible operator text correction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71FCE-7E18-4B32-9173-3C09D324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11029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BBE03-33F5-4260-896D-1B5D1E1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718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7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7A0"/>
                </a:solidFill>
                <a:latin typeface="Arial"/>
                <a:ea typeface="Arial"/>
                <a:cs typeface="Arial"/>
              </a:rPr>
              <a:t>3  Organize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B52BF-6D57-40ED-8F57-8F54E5A7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5814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Topics and utterance assignments; require 100% structural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8172D-1C84-4717-B4B4-7A94BBB3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11029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A9A60B-5B23-4310-B4FE-6B91168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4196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7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7A0"/>
                </a:solidFill>
                <a:latin typeface="Arial"/>
                <a:ea typeface="Arial"/>
                <a:cs typeface="Arial"/>
              </a:rPr>
              <a:t>4  Draft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D6660-E0B0-4397-9963-37F72FC5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429125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One summary and item extraction call per topic with source excerpts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97956-0893-4855-86F8-E29198B9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11029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AB289-D228-430E-9D34-75567DFB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673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67A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567A0"/>
                </a:solidFill>
                <a:latin typeface="Arial"/>
                <a:ea typeface="Arial"/>
                <a:cs typeface="Arial"/>
              </a:rPr>
              <a:t>5 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40DA2A-8A18-4330-9196-BB546E74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7685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Validate JSON, IDs, exact quotes, item signals, and atomic saving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DB8E1-D6CC-4117-B792-88966F7D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6124575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7571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7571A"/>
                </a:solidFill>
                <a:latin typeface="Arial"/>
                <a:ea typeface="Arial"/>
                <a:cs typeface="Arial"/>
              </a:rPr>
              <a:t>A valid citation can still accompany a false paraphrase. Human content review remains required.</a:t>
            </a:r>
          </a:p>
        </p:txBody>
      </p:sp>
    </p:spTree>
    <p:extLst>
      <p:ext uri="{BB962C8B-B14F-4D97-AF65-F5344CB8AC3E}">
        <p14:creationId xmlns:p14="http://schemas.microsoft.com/office/powerpoint/2010/main" val="1253971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A40A6-3DB7-41ED-ADA5-A5BCC1D5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3A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3A5E"/>
                </a:solidFill>
                <a:latin typeface="Arial"/>
                <a:ea typeface="Arial"/>
                <a:cs typeface="Arial"/>
              </a:rPr>
              <a:t>Measured on two real meeting transcripts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2551B-9301-43ED-AA5F-0AD8FCF8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Same saved ASR inputs, local Qwen3 30B 4-bit; final staged run versus prior one-call result.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EE474-E76B-4D5D-8752-81DFD11C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62125"/>
            <a:ext cx="5286375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C22D1-C630-49C0-A242-7E2F3895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62125"/>
            <a:ext cx="55245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5832C-EAAA-433B-945D-3DBA1AC2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3A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3A5E"/>
                </a:solidFill>
                <a:latin typeface="Arial"/>
                <a:ea typeface="Arial"/>
                <a:cs typeface="Arial"/>
              </a:rPr>
              <a:t>English AMI • 120 seconds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95D10-6D4B-470F-9B80-4D6D52F4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810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217/217 raw segments retained</a:t>
            </a:r>
          </a:p>
          <a:p xmlns:a="http://schemas.openxmlformats.org/drawingml/2006/main">
            <a:pPr>
              <a:defRPr sz="172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21/21 utterances assigned</a:t>
            </a:r>
          </a:p>
          <a:p xmlns:a="http://schemas.openxmlformats.org/drawingml/2006/main">
            <a:pPr>
              <a:defRPr sz="172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5 topic summaries saved</a:t>
            </a:r>
          </a:p>
          <a:p xmlns:a="http://schemas.openxmlformats.org/drawingml/2006/main">
            <a:pPr>
              <a:defRPr sz="172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2/5 fully supported by cited ASR lines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3B95F-7A94-4169-8E5B-7BE5144B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7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7A0"/>
                </a:solidFill>
                <a:latin typeface="Arial"/>
                <a:ea typeface="Arial"/>
                <a:cs typeface="Arial"/>
              </a:rPr>
              <a:t>24.981 s • 16.01 GB max child RSS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552E2-613E-4A1D-9473-356B153D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6215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3A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3A5E"/>
                </a:solidFill>
                <a:latin typeface="Arial"/>
                <a:ea typeface="Arial"/>
                <a:cs typeface="Arial"/>
              </a:rPr>
              <a:t>Polish Sejm • ~10 minutes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28578-CE07-4B67-B80A-841F7182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71750"/>
            <a:ext cx="5000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801/801 raw segments retained</a:t>
            </a:r>
          </a:p>
          <a:p xmlns:a="http://schemas.openxmlformats.org/drawingml/2006/main">
            <a:pPr>
              <a:defRPr sz="172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32/32 utterances assigned</a:t>
            </a:r>
          </a:p>
          <a:p xmlns:a="http://schemas.openxmlformats.org/drawingml/2006/main">
            <a:pPr>
              <a:defRPr sz="172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4 summaries + 1 decision saved</a:t>
            </a:r>
          </a:p>
          <a:p xmlns:a="http://schemas.openxmlformats.org/drawingml/2006/main">
            <a:pPr>
              <a:defRPr sz="172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2/4 summaries fully citation-supported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A2212-FB5F-45C8-AFB0-34187A9A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33925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7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7A0"/>
                </a:solidFill>
                <a:latin typeface="Arial"/>
                <a:ea typeface="Arial"/>
                <a:cs typeface="Arial"/>
              </a:rPr>
              <a:t>53.410 s • 17.34 GB max child RSS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DAC7F-E12B-415A-B17B-42D5E4D3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05450"/>
            <a:ext cx="11001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8315A-6906-4C98-8624-337F5464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062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A4B"/>
                </a:solidFill>
                <a:latin typeface="Arial"/>
                <a:ea typeface="Arial"/>
                <a:cs typeface="Arial"/>
              </a:rPr>
              <a:t>Earlier one-call 30B: one short AMI quote; no Sejm minutes. Structural coverage improved; factual quality is still blocked.</a:t>
            </a:r>
          </a:p>
        </p:txBody>
      </p:sp>
    </p:spTree>
    <p:extLst>
      <p:ext uri="{BB962C8B-B14F-4D97-AF65-F5344CB8AC3E}">
        <p14:creationId xmlns:p14="http://schemas.microsoft.com/office/powerpoint/2010/main" val="1333820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D7E47-115F-4F49-8536-D497F9A6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33A5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3A5E"/>
                </a:solidFill>
                <a:latin typeface="Arial"/>
                <a:ea typeface="Arial"/>
                <a:cs typeface="Arial"/>
              </a:rPr>
              <a:t>Prototype conclusion and next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A708D-92B4-471A-AE28-5828076B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5727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The staged path is an executable architecture experiment, not participant-ready minutes.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41B6B-F989-4EBE-A367-CA4EFB63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724025"/>
            <a:ext cx="11001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ED9F6-4EF8-4FE8-8F54-1C735C52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6690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3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3A5E"/>
                </a:solidFill>
                <a:latin typeface="Arial"/>
                <a:ea typeface="Arial"/>
                <a:cs typeface="Arial"/>
              </a:rPr>
              <a:t>What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E567E-8255-447A-8D11-0DE2D679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Raw transcript is preserved. Topic coverage, exact quote checks, and bounded technical repair operate on both languages.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C3172-690D-4F1A-8B98-05149F3F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48000"/>
            <a:ext cx="11001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8EFB6-4D45-4551-8679-D47C1D9F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90875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3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3A5E"/>
                </a:solidFill>
                <a:latin typeface="Arial"/>
                <a:ea typeface="Arial"/>
                <a:cs typeface="Arial"/>
              </a:rPr>
              <a:t>What fails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E216B-BB7C-4B17-BA7E-05445A83E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AMI mixes room equipment with the product brief. Sejm summaries omit supporting source words. One of two explicit Sejm decisions is missed.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919F0-BCF3-45E3-9D72-1FEBF688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71975"/>
            <a:ext cx="11001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1C58B-8343-4199-AF77-A39BE67D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1485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33A5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3A5E"/>
                </a:solidFill>
                <a:latin typeface="Arial"/>
                <a:ea typeface="Arial"/>
                <a:cs typeface="Arial"/>
              </a:rPr>
              <a:t>What the operator 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23BEB-8D1B-465B-AEEF-8563AC9A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63A4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A4B"/>
                </a:solidFill>
                <a:latin typeface="Arial"/>
                <a:ea typeface="Arial"/>
                <a:cs typeface="Arial"/>
              </a:rPr>
              <a:t>Listen at the source range, correct transcript words reversibly, then regenerate the draft. Automatic fragment joins remain proposals.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CE797C-8801-495E-8E54-08B7B39E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886450"/>
            <a:ext cx="109823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67A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567A0"/>
                </a:solidFill>
                <a:latin typeface="Arial"/>
                <a:ea typeface="Arial"/>
                <a:cs typeface="Arial"/>
              </a:rPr>
              <a:t>Decision sought: validate claim support, topic boundaries, missed items, and operator review on annotated real meetings.</a:t>
            </a:r>
          </a:p>
        </p:txBody>
      </p:sp>
    </p:spTree>
    <p:extLst>
      <p:ext uri="{BB962C8B-B14F-4D97-AF65-F5344CB8AC3E}">
        <p14:creationId xmlns:p14="http://schemas.microsoft.com/office/powerpoint/2010/main" val="116978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2026-10-04T08:40:17.0080000Z</dcterms:created>
  <dcterms:modified xsi:type="dcterms:W3CDTF">2026-10-04T08:40:17.0080000Z</dcterms:modified>
</coreProperties>
</file>