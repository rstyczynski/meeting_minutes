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1.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2.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fd6210b538445a7" /><Relationship Type="http://schemas.openxmlformats.org/officeDocument/2006/relationships/extended-properties" Target="/docProps/app.xml" Id="Rcdcb55c8f24d45c6" /><Relationship Type="http://schemas.openxmlformats.org/officeDocument/2006/relationships/officeDocument" Target="/ppt/presentation.xml" Id="R4afd4f59b71547b3" /></Relationships>
</file>

<file path=ppt/presentation.xml><?xml version="1.0" encoding="utf-8"?>
<ns0:presentation xmlns:ns0="http://schemas.openxmlformats.org/presentationml/2006/main" xmlns:ns1="http://schemas.openxmlformats.org/officeDocument/2006/relationships">
  <ns0:sldMasterIdLst>
    <ns0:sldMasterId id="2147483648" ns1:id="R0b334a00e329463b"/>
  </ns0:sldMasterIdLst>
  <ns0:notesMasterIdLst>
    <ns0:notesMasterId ns1:id="R06237dbc4fd342e5"/>
  </ns0:notesMasterIdLst>
  <ns0:sldIdLst>
    <ns0:sldId id="256" ns1:id="Rbb9a3b6ff3e1410b"/>
    <ns0:sldId id="257" ns1:id="Rd4ba4b20ff924705"/>
    <ns0:sldId id="258" ns1:id="Rdf4f3d4b8e1648d0"/>
    <ns0:sldId id="259" ns1:id="Raa23c7ea66f443de"/>
    <ns0:sldId id="260" ns1:id="R90b1cc4414754b6d"/>
    <ns0:sldId id="261" ns1:id="Rede91a3324624746"/>
    <ns0:sldId id="262" ns1:id="Rfe7df4f436c545d8"/>
    <ns0:sldId id="263" ns1:id="R949b856af20a4582"/>
    <ns0:sldId id="264" ns1:id="Ree932ba58de1409f"/>
    <ns0:sldId id="265" ns1:id="Rc216fccc644b4227"/>
    <ns0:sldId id="266" ns1:id="R6461605dd0ee4c5a"/>
    <ns0:sldId id="267" ns1:id="R3ce0505a4b38430f"/>
    <ns0:sldId id="268" ns1:id="R9eaab1e7dba54a14"/>
    <ns0:sldId id="269" ns1:id="R3f600e06c1544541"/>
    <ns0:sldId id="270" ns1:id="Re5dac0432be44932"/>
    <ns0:sldId id="271" ns1:id="R55e3604d054e4bb4"/>
    <ns0:sldId id="272" ns1:id="R2ecf56c599504e04"/>
    <ns0:sldId id="273" ns1:id="R4f31a1aaa1bf4c5b"/>
    <ns0:sldId id="274" ns1:id="rIdCleanup19"/>
    <ns0:sldId id="275" ns1:id="rIdCleanup20"/>
    <ns0:sldId id="276" ns1:id="rIdConclusions21"/>
  </ns0:sldIdLst>
  <ns0:sldSz cx="12192000" cy="6858000"/>
  <ns0:notesSz cx="6858000" cy="9144000"/>
</ns0: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ns0:Relationships xmlns:ns0="http://schemas.openxmlformats.org/package/2006/relationships"><ns0:Relationship Type="http://schemas.openxmlformats.org/officeDocument/2006/relationships/theme" Target="/ppt/theme/theme1.xml" Id="Re2bb294ab5a6472d" /><ns0:Relationship Type="http://schemas.openxmlformats.org/officeDocument/2006/relationships/slideMaster" Target="/ppt/slideMasters/slideMaster1.xml" Id="R0b334a00e329463b" /><ns0:Relationship Type="http://schemas.openxmlformats.org/officeDocument/2006/relationships/notesMaster" Target="/ppt/notesMasters/notesMaster1.xml" Id="R06237dbc4fd342e5" /><ns0:Relationship Type="http://schemas.openxmlformats.org/officeDocument/2006/relationships/presProps" Target="/ppt/presProps.xml" Id="R294d8306d65e4ed0" /><ns0:Relationship Type="http://schemas.openxmlformats.org/officeDocument/2006/relationships/tableStyles" Target="/ppt/tableStyles.xml" Id="Rd179c6906cc449a8" /><ns0:Relationship Type="http://schemas.openxmlformats.org/officeDocument/2006/relationships/slide" Target="/ppt/slides/slide1.xml" Id="Rbb9a3b6ff3e1410b" /><ns0:Relationship Type="http://schemas.openxmlformats.org/officeDocument/2006/relationships/slide" Target="/ppt/slides/slide2.xml" Id="Rd4ba4b20ff924705" /><ns0:Relationship Type="http://schemas.openxmlformats.org/officeDocument/2006/relationships/slide" Target="/ppt/slides/slide3.xml" Id="Rdf4f3d4b8e1648d0" /><ns0:Relationship Type="http://schemas.openxmlformats.org/officeDocument/2006/relationships/slide" Target="/ppt/slides/slide4.xml" Id="Raa23c7ea66f443de" /><ns0:Relationship Type="http://schemas.openxmlformats.org/officeDocument/2006/relationships/slide" Target="/ppt/slides/slide5.xml" Id="R90b1cc4414754b6d" /><ns0:Relationship Type="http://schemas.openxmlformats.org/officeDocument/2006/relationships/slide" Target="/ppt/slides/slide6.xml" Id="Rede91a3324624746" /><ns0:Relationship Type="http://schemas.openxmlformats.org/officeDocument/2006/relationships/slide" Target="/ppt/slides/slide7.xml" Id="Rfe7df4f436c545d8" /><ns0:Relationship Type="http://schemas.openxmlformats.org/officeDocument/2006/relationships/slide" Target="/ppt/slides/slide8.xml" Id="R949b856af20a4582" /><ns0:Relationship Type="http://schemas.openxmlformats.org/officeDocument/2006/relationships/slide" Target="/ppt/slides/slide9.xml" Id="Ree932ba58de1409f" /><ns0:Relationship Type="http://schemas.openxmlformats.org/officeDocument/2006/relationships/slide" Target="/ppt/slides/slide10.xml" Id="Rc216fccc644b4227" /><ns0:Relationship Type="http://schemas.openxmlformats.org/officeDocument/2006/relationships/slide" Target="/ppt/slides/slide11.xml" Id="R6461605dd0ee4c5a" /><ns0:Relationship Type="http://schemas.openxmlformats.org/officeDocument/2006/relationships/slide" Target="/ppt/slides/slide12.xml" Id="R3ce0505a4b38430f" /><ns0:Relationship Type="http://schemas.openxmlformats.org/officeDocument/2006/relationships/slide" Target="/ppt/slides/slide13.xml" Id="R9eaab1e7dba54a14" /><ns0:Relationship Type="http://schemas.openxmlformats.org/officeDocument/2006/relationships/slide" Target="/ppt/slides/slide14.xml" Id="R3f600e06c1544541" /><ns0:Relationship Type="http://schemas.openxmlformats.org/officeDocument/2006/relationships/slide" Target="/ppt/slides/slide15.xml" Id="Re5dac0432be44932" /><ns0:Relationship Type="http://schemas.openxmlformats.org/officeDocument/2006/relationships/slide" Target="/ppt/slides/slide16.xml" Id="R55e3604d054e4bb4" /><ns0:Relationship Type="http://schemas.openxmlformats.org/officeDocument/2006/relationships/slide" Target="/ppt/slides/slide17.xml" Id="R2ecf56c599504e04" /><ns0:Relationship Type="http://schemas.openxmlformats.org/officeDocument/2006/relationships/slide" Target="/ppt/slides/slide18.xml" Id="R4f31a1aaa1bf4c5b" /><ns0:Relationship Id="rIdCleanup19" Type="http://schemas.openxmlformats.org/officeDocument/2006/relationships/slide" Target="slides/slide19.xml" /><ns0:Relationship Id="rIdCleanup20" Type="http://schemas.openxmlformats.org/officeDocument/2006/relationships/slide" Target="slides/slide20.xml" /><ns0:Relationship Id="rIdConclusions21" Type="http://schemas.openxmlformats.org/officeDocument/2006/relationships/slide" Target="slides/slide21.xml" /></ns0: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9d2527bb68b4c5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570751f4c4a4a43" /><Relationship Type="http://schemas.openxmlformats.org/officeDocument/2006/relationships/notesMaster" Target="/ppt/notesMasters/notesMaster1.xml" Id="Rd4853b737ad5461e" /></Relationships>
</file>

<file path=ppt/notesSlides/_rels/notesSlide2.xml.rels>&#65279;<?xml version="1.0" encoding="utf-8"?><Relationships xmlns="http://schemas.openxmlformats.org/package/2006/relationships"><Relationship Type="http://schemas.openxmlformats.org/officeDocument/2006/relationships/slide" Target="/ppt/slides/slide2.xml" Id="R39cf4da23a804c76" /><Relationship Type="http://schemas.openxmlformats.org/officeDocument/2006/relationships/notesMaster" Target="/ppt/notesMasters/notesMaster1.xml" Id="R1cdb5c3dd0a54b7f" /></Relationships>
</file>

<file path=ppt/notesSlides/_rels/notesSlide3.xml.rels>&#65279;<?xml version="1.0" encoding="utf-8"?><Relationships xmlns="http://schemas.openxmlformats.org/package/2006/relationships"><Relationship Type="http://schemas.openxmlformats.org/officeDocument/2006/relationships/slide" Target="/ppt/slides/slide3.xml" Id="R1500fa1d6ee746ee" /><Relationship Type="http://schemas.openxmlformats.org/officeDocument/2006/relationships/notesMaster" Target="/ppt/notesMasters/notesMaster1.xml" Id="Ra835011f3732425f" /></Relationships>
</file>

<file path=ppt/notesSlides/_rels/notesSlide4.xml.rels>&#65279;<?xml version="1.0" encoding="utf-8"?><Relationships xmlns="http://schemas.openxmlformats.org/package/2006/relationships"><Relationship Type="http://schemas.openxmlformats.org/officeDocument/2006/relationships/slide" Target="/ppt/slides/slide4.xml" Id="R21299155f1a44eb6" /><Relationship Type="http://schemas.openxmlformats.org/officeDocument/2006/relationships/notesMaster" Target="/ppt/notesMasters/notesMaster1.xml" Id="R2dfd254c258844ea" /></Relationships>
</file>

<file path=ppt/notesSlides/_rels/notesSlide5.xml.rels>&#65279;<?xml version="1.0" encoding="utf-8"?><Relationships xmlns="http://schemas.openxmlformats.org/package/2006/relationships"><Relationship Type="http://schemas.openxmlformats.org/officeDocument/2006/relationships/slide" Target="/ppt/slides/slide5.xml" Id="R2ba271b5f1254c49" /><Relationship Type="http://schemas.openxmlformats.org/officeDocument/2006/relationships/notesMaster" Target="/ppt/notesMasters/notesMaster1.xml" Id="Rc22f5744cab8496a" /></Relationships>
</file>

<file path=ppt/notesSlides/_rels/notesSlide6.xml.rels>&#65279;<?xml version="1.0" encoding="utf-8"?><Relationships xmlns="http://schemas.openxmlformats.org/package/2006/relationships"><Relationship Type="http://schemas.openxmlformats.org/officeDocument/2006/relationships/slide" Target="/ppt/slides/slide6.xml" Id="R88b9bd2ec39842bf" /><Relationship Type="http://schemas.openxmlformats.org/officeDocument/2006/relationships/notesMaster" Target="/ppt/notesMasters/notesMaster1.xml" Id="Rb5b37957ccc44257" /></Relationships>
</file>

<file path=ppt/notesSlides/_rels/notesSlide7.xml.rels>&#65279;<?xml version="1.0" encoding="utf-8"?><Relationships xmlns="http://schemas.openxmlformats.org/package/2006/relationships"><Relationship Type="http://schemas.openxmlformats.org/officeDocument/2006/relationships/slide" Target="/ppt/slides/slide7.xml" Id="Red6dea53502c4b56" /><Relationship Type="http://schemas.openxmlformats.org/officeDocument/2006/relationships/notesMaster" Target="/ppt/notesMasters/notesMaster1.xml" Id="R3a1523652f134b35" /></Relationships>
</file>

<file path=ppt/notesSlides/_rels/notesSlide8.xml.rels>&#65279;<?xml version="1.0" encoding="utf-8"?><Relationships xmlns="http://schemas.openxmlformats.org/package/2006/relationships"><Relationship Type="http://schemas.openxmlformats.org/officeDocument/2006/relationships/slide" Target="/ppt/slides/slide8.xml" Id="R7054ff8850b1437f" /><Relationship Type="http://schemas.openxmlformats.org/officeDocument/2006/relationships/notesMaster" Target="/ppt/notesMasters/notesMaster1.xml" Id="Ra2c2cef47dfa4cfc" /></Relationships>
</file>

<file path=ppt/notesSlides/_rels/notesSlide9.xml.rels>&#65279;<?xml version="1.0" encoding="utf-8"?><Relationships xmlns="http://schemas.openxmlformats.org/package/2006/relationships"><Relationship Type="http://schemas.openxmlformats.org/officeDocument/2006/relationships/slide" Target="/ppt/slides/slide9.xml" Id="R587e6d968dd04553" /><Relationship Type="http://schemas.openxmlformats.org/officeDocument/2006/relationships/notesMaster" Target="/ppt/notesMasters/notesMaster1.xml" Id="R340834f5085140d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251b57b639a4aa7" /><Relationship Type="http://schemas.openxmlformats.org/officeDocument/2006/relationships/notesMaster" Target="/ppt/notesMasters/notesMaster1.xml" Id="R105ee6ecce13405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764bf4f9f3d4147" /><Relationship Type="http://schemas.openxmlformats.org/officeDocument/2006/relationships/notesMaster" Target="/ppt/notesMasters/notesMaster1.xml" Id="Rc0c754e2686f4e8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af4ea0580e7491f" /><Relationship Type="http://schemas.openxmlformats.org/officeDocument/2006/relationships/notesMaster" Target="/ppt/notesMasters/notesMaster1.xml" Id="R8e1871651c08409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34f47987b7249f2" /><Relationship Type="http://schemas.openxmlformats.org/officeDocument/2006/relationships/notesMaster" Target="/ppt/notesMasters/notesMaster1.xml" Id="Ra7687a471a544d2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4ef04ff219a470e" /><Relationship Type="http://schemas.openxmlformats.org/officeDocument/2006/relationships/notesMaster" Target="/ppt/notesMasters/notesMaster1.xml" Id="R64c38338607a4a7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99e3871a636440f" /><Relationship Type="http://schemas.openxmlformats.org/officeDocument/2006/relationships/notesMaster" Target="/ppt/notesMasters/notesMaster1.xml" Id="Rbdf1615b8428486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ec4aced7882499a" /><Relationship Type="http://schemas.openxmlformats.org/officeDocument/2006/relationships/notesMaster" Target="/ppt/notesMasters/notesMaster1.xml" Id="Rf0ebbade1bfb4cde" /></Relationships>
</file>

<file path=ppt/notesSlides/_rels/notesSlide17.xml.rels><?xml version='1.0' encoding='utf-8'?>
<ns0:Relationships xmlns:ns0="http://schemas.openxmlformats.org/package/2006/relationships"><ns0:Relationship Type="http://schemas.openxmlformats.org/officeDocument/2006/relationships/slide" Target="../slides/slide17.xml" Id="R1500fa1d6ee746ee" /><ns0:Relationship Type="http://schemas.openxmlformats.org/officeDocument/2006/relationships/notesMaster" Target="/ppt/notesMasters/notesMaster1.xml" Id="Ra835011f3732425f" /></ns0:Relationships>
</file>

<file path=ppt/notesSlides/_rels/notesSlide18.xml.rels><?xml version='1.0' encoding='utf-8'?>
<ns0:Relationships xmlns:ns0="http://schemas.openxmlformats.org/package/2006/relationships"><ns0:Relationship Type="http://schemas.openxmlformats.org/officeDocument/2006/relationships/slide" Target="../slides/slide18.xml" Id="R1500fa1d6ee746ee" /><ns0:Relationship Type="http://schemas.openxmlformats.org/officeDocument/2006/relationships/notesMaster" Target="/ppt/notesMasters/notesMaster1.xml" Id="Ra835011f3732425f" /></ns0:Relationships>
</file>

<file path=ppt/notesSlides/_rels/notesSlide19.xml.rels><?xml version='1.0' encoding='utf-8'?>
<ns0:Relationships xmlns:ns0="http://schemas.openxmlformats.org/package/2006/relationships"><ns0:Relationship Type="http://schemas.openxmlformats.org/officeDocument/2006/relationships/slide" Target="../slides/slide19.xml" Id="R1500fa1d6ee746ee" /><ns0:Relationship Type="http://schemas.openxmlformats.org/officeDocument/2006/relationships/notesMaster" Target="/ppt/notesMasters/notesMaster1.xml" Id="Ra835011f3732425f" /></ns0:Relationships>
</file>

<file path=ppt/notesSlides/_rels/notesSlide20.xml.rels><?xml version='1.0' encoding='utf-8'?>
<ns0:Relationships xmlns:ns0="http://schemas.openxmlformats.org/package/2006/relationships"><ns0:Relationship Type="http://schemas.openxmlformats.org/officeDocument/2006/relationships/slide" Target="../slides/slide20.xml" Id="R1500fa1d6ee746ee" /><ns0:Relationship Type="http://schemas.openxmlformats.org/officeDocument/2006/relationships/notesMaster" Target="/ppt/notesMasters/notesMaster1.xml" Id="Ra835011f3732425f" /></ns0:Relationships>
</file>

<file path=ppt/notesSlides/_rels/notesSlide21.xml.rels><?xml version='1.0' encoding='utf-8'?>
<ns0:Relationships xmlns:ns0="http://schemas.openxmlformats.org/package/2006/relationships"><ns0:Relationship Type="http://schemas.openxmlformats.org/officeDocument/2006/relationships/slide" Target="../slides/slide21.xml" Id="R1500fa1d6ee746ee" /><ns0:Relationship Type="http://schemas.openxmlformats.org/officeDocument/2006/relationships/notesMaster" Target="/ppt/notesMasters/notesMaster1.xml" Id="Ra835011f3732425f" /></ns0: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PLAN.md Sprint 2 and BACKLOG.md PBI-011/PBI-018. This is an architectural prototype and evidence handover, with open minutes defects.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Sources: PLAN.md Sprint 2; progress/sprint_2/sprint_2_design.md; progress/sprint_2/sprint_2_increment_demo.md.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Pipeline evidence: Sources/MeetingCore/Import.swift, Recognition.swift, TranscriptCleanup.swift, MultiStageMinutes.swift; experiments/FluidAdapter/Sources/MeetingFluidASR/main.swift. Recognize reads source audio, aligns each ASR part to the diarization turn with greatest positive time overlap and saves labels. Recognition is optional. Without it the reading layer retains unassigned labels. Operator review is available before minutes and can be repeated later. Text correction or cleanup profile change invalidates derived minutes. Reading joins use Swift, not the LLM. All source parts and source times remain traceable. Neighbor joins are proposals, not independently verified acoustic or semantic conclusions. See transcript_segmentation.md and sprint_2_implementation.md.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FluidAudio exposes ASR and diarization as separate APIs. The prototype explicitly calls OfflineDiarizerManager for diarization, using local segmentation and speaker-embedding models; it does not prompt Qwen or Parakeet to detect speakers. The ASR adapter creates timed words/fragments. Swift writes storage JSON. Qwen receives the prepared text, runs staged prompts and returns structured claims. Full prompts: sprint_2_implementation.md; captured interactions: tests/multistage_20261004/. Current speaker clusters can merge people incorrectly. No semantic boundary validation is 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progress/sprint_2/ami_es2002a_fixture.md; polish_sejm_meeting_fixture.md; doe_itiac_day2_fixture.md. Files and models were staged on the Sprint 2 Mac outside Git. Exact preflight and commands: progress/sprint_2/user_manual.md.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fresh real-model record 5DC83D71-D1B0-4568-A66D-70F3B9A71D46 in /private/tmp/meeting-sprint2-po-rehearsal.wFIPLx, 801 timed segments with Parakeet v3. Official comparison: progress/sprint_2/tests/polish_sejm_pdf_transcription_review_20261002.md. The ASR wording varies between runs.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fresh real-model AMI record 43CE873A-603C-473F-9B23-A785A0689456, /private/tmp/meeting-sprint2-po-rehearsal.wFIPLx. Fluid saved 16 warnings. The app has an earlier manual seek check; bounded replay after a later change still needs manual verification. Benchmark: progress/sprint_2/ami_asr_benchmark.md.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progress/sprint_2/tests/operator_review_rehearsal_20261004.md and operator_cleanup_rehearsal_20261004.json. The reading view is a proposal, not an audio-verified speaker correction.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Selected-text design accepted on 2026-10-04. BUG-6 exposed word-sized playback; BUG-7 exposed rejection of crossing corrections. Exact selected wording now changes while unselected words and superseded history stay saved. A saved native crossing edit was observed read-only in the Product Owner session: tests/selection_owner_session_20261004.json. All six selection_compatibility_verified gates passed at 20261004_230115. Source timing remains original-part resolution, with no invented replacement-word times. Context defaults to 2 seconds each side and is configurable. BUG-8 exposed a 33.28-second pause within the same S1 card. The directed repair adds a configurable long-silence boundary and a full-recording slider to both review and correction sheet. Dragging pauses/cancels bounded playback; release seeks; Play from position resumes. Demonstrate actual listening, scrubbing, Save, Restore, Cancel and restart. The separate QA-window launch was declined; native slider/audio verification remains pending. CLI shown is single-source only outside active ranges; range editing uses GUI. No ASR/LLM inference quality improvement is claimed. Evidence: sprint_2_tests.md; tests/selection_correction_review_20261004.json; tests/long_silence_review_20261004.json. Bidirectional synchronization was explicitly accepted by the Product Owner. ReviewPlayback exposes media time and a transient slider preview; TranscriptAudioIndex maps shared RangeProjection spans. Temporary text highlighting is independent of native correction selection. Playback or slider movement marks matching text and follows it; selecting a nonempty phrase pauses and seeks to its first mapped source start. Show the real 148.40–181.68 s gap with no highlight, then select the post-gap W(it)am source at 181.68 s. Corrected paragraphs have one shared original source interval, not invented replacement-word times; a phrase inside the earlier corrected paragraph seeks to 134.88 s. Internal untimed gaps remain unmarked. UT-22/IT-17 test mapping and store rebuilding. Native listening, mouse/keyboard selection and scrolling still require the live check; no GUI rehearsal is claimed. See tests/transcript_audio_sync_review_20261004.json and user_manual.md#synchronize-audio-and-transcript-text.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Copy the full command block into Terminal on the Sprint 2 Mac. It defines the working directory and asks for the name, then uses the actual open record UUID and store. The name must be verified by listening to the whole S2 cluster; no identity has been inferred. A fresh demo uses a new store and record ID; stage 4 prints its complete command. Naming applies to the whole cluster. Close and reopen the player after the CLI edit. Evidence: tests/speaker_naming_demo_20261004.md and demo/README.md.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fresh Polish record 5DC83D71-D1B0-4568-A66D-70F3B9A71D46, four pre-gate local-model review items after swift run. PDF: Sejm sitting 39. The source ranges are in the saved JSON and sprint_2_tests.md.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docs/srs.md NFR-06; progress/sprint_2/sprint_2_design.md approved recovery amendment; experiments/MinutesAdapter/Tests/MeetingMLXMinutesTests/ResponseValidationTests.swift. Real-model Sejm checks have not yet produced a dependable new summary.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progress/sprint_2/doe_itiac_day2_fixture.md and tests/doe_itiac_day2_run_20261002.json. The DOE advisory committee source provides an official speaker-labeled transcript and long recording. The first 30 minutes were used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progress/sprint_2/user_manual.md; sprint_2_handover.md; sprint_2_bugs.md. The review app can seek to selected ranges; its latest bounded playback change still needs manual replay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progress/sprint_2/ami_asr_benchmark.md. Whole-meeting word error rate on the same AMI ES2002a headset mix; FluidAudio/Parakeet v2 19.48%, whisper.cpp/Whisper base.en 28.79%. Affected-speaker reference-linked errors use a separate measure.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progress/sprint_2/ami_asr_benchmark.md FR-11. Five referenced FLEURS read-speech clips per language on each model. Whisper base used CPU because Metal initialization failed on this Mac. This is not a Polish meeting Word Error 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profile: progress/sprint_2/demo/segmentation-settings.json. Contract and executable command: transcript_segmentation.md. preserveSpeakerChanges false explicitly restores the older brief-switch proposal experiment. Every label reassignment remains a reading proposal, never a raw source rewrite. UT-14 tests all controls. IT-13 compares captured LLM input against CLI inspection for the same saved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The prior unlimited same-speaker default merged a 33.28-second gap between segment_104 ending at 148.40 s and segment_105 starting at 181.68 s. Product Owner directed a new segment and parameter. longSilenceBoundarySeconds defaults to 10 seconds, finite and positive; gap &gt;= threshold splits even with same speaker. Missing/null older fields inherit 10. maximumReadingGapSeconds remains optional for stricter cuts; maximumReadingBlockSeconds stays null, so there is no 15-second duration cap. This is a configurable temporal boundary, not semantic topic detection. UT-21/IT-16 cover threshold equality, old decoding, invalid settings, saved corrections and CLI persistence. Eleven controls are documented in transcript_segmentation.md and demo/segmentation-settings.json. The earlier 32-to-four measurement is historical and no longer describes current default grouping. Native slider seeking and listening remain live checks. Evidence: tests/long_silence_review_20261004.json.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Evidence: sprint_2_implementation.md; ami_asr_benchmark.md; tests/long_silence_review_20261004.json; tests/po_demo_rehearsal_20261004.md. Historical unlimited same-speaker grouping changed 32 blocks to four and preserved 802 source parts, but the later owner review found a 33.28-second pause wrongly merged. The new threshold splits it while preserving labels, words and corrections. This is reading behavior, not ASR accuracy. AMI Word Error Rate values and 30B resource measurements retain their original model/input scope. Peak child-process RSS 16.01 GB for AMI and 17.34 GB for Sejm, single observations. Model quality failures remain open.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ami_asr_benchmark.md; tests/polish_sejm_pdf_transcription_review_20261002.md; tests/multistage_minutes_trial_20261004.md; tests/po_demo_rehearsal_20261004.md; tests/doe_minutes_failure_diagnosis_20261002.md; sprint_2_tests.md. The 2/5 and 2/4 measures are a strict manual audit against cited saved ASR text, not gold-topic accuracy or full audio correctness. They belong to earlier 21/32-utterance profiles, not the latest four-turn reading policy. The semantic topic mix-up is an LLM interpretation error, not demonstrated speaker-label failure. Qwen 30B trials used 4-bit local qwen3-30b-a3b-instruct-2507. Passing JSON/source checks does not prove entailment. Native QA attachment timed out during the last correction, so no fresh GUI listening pass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Conclusions follow Sprint 2 prototype evidence and the planned Sprint 3 assessment. Sources: PLAN.md; sprint_2_increment_demo.md; tests/multistage_minutes_trial_20261004.md; ami_asr_benchmark.md; transcript_segmentation.md; tests/long_silence_review_20261004.json. The directed long-silence repair now prevents the demonstrated same-speaker merge, but semantic continuity and voice reassessment remain unimplemented. Recommendations are not newly assigned PBIs. Live operator slider/audio checks, reliable minutes, documentation approval and sprint-close decision remain pending.</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6ae4409a56a451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1a5f85330b64921" /><Relationship Type="http://schemas.openxmlformats.org/officeDocument/2006/relationships/slideLayout" Target="/ppt/slideLayouts/slideLayout1.xml" Id="Re96aeb36a98e47a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96aeb36a98e47a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20ad158e8414aa0" /><Relationship Type="http://schemas.openxmlformats.org/officeDocument/2006/relationships/notesSlide" Target="/ppt/notesSlides/notesSlide1.xml" Id="R4331872a2a69469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c14e2f4f8304f22" /><Relationship Type="http://schemas.openxmlformats.org/officeDocument/2006/relationships/notesSlide" Target="/ppt/notesSlides/notesSlide2.xml" Id="R73b0d723f2d14ac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f3fc3990ca24350" /><Relationship Type="http://schemas.openxmlformats.org/officeDocument/2006/relationships/notesSlide" Target="/ppt/notesSlides/notesSlide3.xml" Id="R9e015ded87df476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f2aafda0475485f" /><Relationship Type="http://schemas.openxmlformats.org/officeDocument/2006/relationships/notesSlide" Target="/ppt/notesSlides/notesSlide4.xml" Id="R895fc01e7a1e4df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e541eb736f94557" /><Relationship Type="http://schemas.openxmlformats.org/officeDocument/2006/relationships/notesSlide" Target="/ppt/notesSlides/notesSlide5.xml" Id="R4d0ca9f9038349e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989865c66fa4537" /><Relationship Type="http://schemas.openxmlformats.org/officeDocument/2006/relationships/notesSlide" Target="/ppt/notesSlides/notesSlide6.xml" Id="Rb8a69c5d6898489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840f4edb60f47fd" /><Relationship Type="http://schemas.openxmlformats.org/officeDocument/2006/relationships/notesSlide" Target="/ppt/notesSlides/notesSlide7.xml" Id="Rf3011177ae9c4c1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8c1c35ba1e84bfd" /><Relationship Type="http://schemas.openxmlformats.org/officeDocument/2006/relationships/notesSlide" Target="/ppt/notesSlides/notesSlide8.xml" Id="R0bbe0baef2974b2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f6dc76e75aa47fd" /><Relationship Type="http://schemas.openxmlformats.org/officeDocument/2006/relationships/notesSlide" Target="/ppt/notesSlides/notesSlide9.xml" Id="R92140784b56046a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e7cfde5d2aa41c8" /><Relationship Type="http://schemas.openxmlformats.org/officeDocument/2006/relationships/notesSlide" Target="/ppt/notesSlides/notesSlide10.xml" Id="Rf8e2d3a650674c9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5d2ff5f36e448d2" /><Relationship Type="http://schemas.openxmlformats.org/officeDocument/2006/relationships/notesSlide" Target="/ppt/notesSlides/notesSlide11.xml" Id="R7987f2222965485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622be4760114381" /><Relationship Type="http://schemas.openxmlformats.org/officeDocument/2006/relationships/notesSlide" Target="/ppt/notesSlides/notesSlide12.xml" Id="R93907b9732b1430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4b4ffe2d7a742e0" /><Relationship Type="http://schemas.openxmlformats.org/officeDocument/2006/relationships/notesSlide" Target="/ppt/notesSlides/notesSlide13.xml" Id="R946c5d0ee69e48c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d6e34ab9ed446ca" /><Relationship Type="http://schemas.openxmlformats.org/officeDocument/2006/relationships/notesSlide" Target="/ppt/notesSlides/notesSlide14.xml" Id="Rb0e266689a3d483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adbdf77a2a14521" /><Relationship Type="http://schemas.openxmlformats.org/officeDocument/2006/relationships/chart" Target="/ppt/slides/charts/chart1.xml" Id="Re6c0a9bfe9e7463f" /><Relationship Type="http://schemas.openxmlformats.org/officeDocument/2006/relationships/notesSlide" Target="/ppt/notesSlides/notesSlide15.xml" Id="R27226a80c16b431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fc2e76719154913" /><Relationship Type="http://schemas.openxmlformats.org/officeDocument/2006/relationships/chart" Target="/ppt/slides/charts/chart2.xml" Id="R1b3d92abb43c4a53" /><Relationship Type="http://schemas.openxmlformats.org/officeDocument/2006/relationships/notesSlide" Target="/ppt/notesSlides/notesSlide16.xml" Id="Re6ed1c868f2541fa" /></Relationships>
</file>

<file path=ppt/slides/_rels/slide17.xml.rels><?xml version='1.0' encoding='utf-8'?>
<ns0:Relationships xmlns:ns0="http://schemas.openxmlformats.org/package/2006/relationships"><ns0:Relationship Type="http://schemas.openxmlformats.org/officeDocument/2006/relationships/slideLayout" Target="/ppt/slideLayouts/slideLayout1.xml" Id="Rdf3fc3990ca24350" /><ns0:Relationship Type="http://schemas.openxmlformats.org/officeDocument/2006/relationships/notesSlide" Target="../notesSlides/notesSlide17.xml" Id="R9e015ded87df476c" /></ns0:Relationships>
</file>

<file path=ppt/slides/_rels/slide18.xml.rels><?xml version='1.0' encoding='utf-8'?>
<ns0:Relationships xmlns:ns0="http://schemas.openxmlformats.org/package/2006/relationships"><ns0:Relationship Type="http://schemas.openxmlformats.org/officeDocument/2006/relationships/slideLayout" Target="/ppt/slideLayouts/slideLayout1.xml" Id="Rdf3fc3990ca24350" /><ns0:Relationship Type="http://schemas.openxmlformats.org/officeDocument/2006/relationships/notesSlide" Target="../notesSlides/notesSlide18.xml" Id="R9e015ded87df476c" /></ns0:Relationships>
</file>

<file path=ppt/slides/_rels/slide19.xml.rels><?xml version='1.0' encoding='utf-8'?>
<ns0:Relationships xmlns:ns0="http://schemas.openxmlformats.org/package/2006/relationships"><ns0:Relationship Type="http://schemas.openxmlformats.org/officeDocument/2006/relationships/slideLayout" Target="/ppt/slideLayouts/slideLayout1.xml" Id="Rdf3fc3990ca24350" /><ns0:Relationship Type="http://schemas.openxmlformats.org/officeDocument/2006/relationships/notesSlide" Target="../notesSlides/notesSlide19.xml" Id="R9e015ded87df476c" /></ns0:Relationships>
</file>

<file path=ppt/slides/_rels/slide20.xml.rels><?xml version='1.0' encoding='utf-8'?>
<ns0:Relationships xmlns:ns0="http://schemas.openxmlformats.org/package/2006/relationships"><ns0:Relationship Type="http://schemas.openxmlformats.org/officeDocument/2006/relationships/slideLayout" Target="/ppt/slideLayouts/slideLayout1.xml" Id="Rdf3fc3990ca24350" /><ns0:Relationship Type="http://schemas.openxmlformats.org/officeDocument/2006/relationships/notesSlide" Target="../notesSlides/notesSlide20.xml" Id="R9e015ded87df476c" /></ns0:Relationships>
</file>

<file path=ppt/slides/_rels/slide21.xml.rels><?xml version='1.0' encoding='utf-8'?>
<ns0:Relationships xmlns:ns0="http://schemas.openxmlformats.org/package/2006/relationships"><ns0:Relationship Type="http://schemas.openxmlformats.org/officeDocument/2006/relationships/slideLayout" Target="/ppt/slideLayouts/slideLayout1.xml" Id="Rdf3fc3990ca24350" /><ns0:Relationship Type="http://schemas.openxmlformats.org/officeDocument/2006/relationships/notesSlide" Target="../notesSlides/notesSlide21.xml" Id="R9e015ded87df476c" /></ns0: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FluidAudio / Parakeet v2</c:v>
          </c:tx>
          <c:spPr>
            <a:solidFill xmlns:a="http://schemas.openxmlformats.org/drawingml/2006/main">
              <a:srgbClr val="1769AA"/>
            </a:solidFill>
          </c:spPr>
          <c:cat>
            <c:strRef>
              <c:f>'Chart Data'!$A$2:$A$2</c:f>
              <c:strCache>
                <c:ptCount val="1"/>
                <c:pt idx="0">
                  <c:v>AMI meeting</c:v>
                </c:pt>
              </c:strCache>
            </c:strRef>
          </c:cat>
          <c:val>
            <c:numRef>
              <c:f>'Chart Data'!$B$2:$B$2</c:f>
              <c:numCache>
                <c:formatCode>General</c:formatCode>
                <c:ptCount val="1"/>
                <c:pt idx="0">
                  <c:v>19.48</c:v>
                </c:pt>
              </c:numCache>
            </c:numRef>
          </c:val>
        </c:ser>
        <c:ser>
          <c:idx val="1"/>
          <c:order val="1"/>
          <c:tx>
            <c:v>whisper.cpp / Whisper base.en</c:v>
          </c:tx>
          <c:spPr>
            <a:solidFill xmlns:a="http://schemas.openxmlformats.org/drawingml/2006/main">
              <a:srgbClr val="D96B2B"/>
            </a:solidFill>
          </c:spPr>
          <c:cat>
            <c:strRef>
              <c:f>'Chart Data'!$C$2:$C$2</c:f>
              <c:strCache>
                <c:ptCount val="1"/>
                <c:pt idx="0">
                  <c:v>AMI meeting</c:v>
                </c:pt>
              </c:strCache>
            </c:strRef>
          </c:cat>
          <c:val>
            <c:numRef>
              <c:f>'Chart Data'!$D$2:$D$2</c:f>
              <c:numCache>
                <c:formatCode>General</c:formatCode>
                <c:ptCount val="1"/>
                <c:pt idx="0">
                  <c:v>28.79</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Parakeet v3</c:v>
          </c:tx>
          <c:spPr>
            <a:solidFill xmlns:a="http://schemas.openxmlformats.org/drawingml/2006/main">
              <a:srgbClr val="1769AA"/>
            </a:solidFill>
          </c:spPr>
          <c:cat>
            <c:strRef>
              <c:f>'Chart Data'!$A$2:$A$3</c:f>
              <c:strCache>
                <c:ptCount val="2"/>
                <c:pt idx="0">
                  <c:v>English</c:v>
                </c:pt>
                <c:pt idx="1">
                  <c:v>Polish</c:v>
                </c:pt>
              </c:strCache>
            </c:strRef>
          </c:cat>
          <c:val>
            <c:numRef>
              <c:f>'Chart Data'!$B$2:$B$3</c:f>
              <c:numCache>
                <c:formatCode>General</c:formatCode>
                <c:ptCount val="2"/>
                <c:pt idx="0">
                  <c:v>11.49</c:v>
                </c:pt>
                <c:pt idx="1">
                  <c:v>3.41</c:v>
                </c:pt>
              </c:numCache>
            </c:numRef>
          </c:val>
        </c:ser>
        <c:ser>
          <c:idx val="1"/>
          <c:order val="1"/>
          <c:tx>
            <c:v>Whisper base, CPU</c:v>
          </c:tx>
          <c:spPr>
            <a:solidFill xmlns:a="http://schemas.openxmlformats.org/drawingml/2006/main">
              <a:srgbClr val="D96B2B"/>
            </a:solidFill>
          </c:spPr>
          <c:cat>
            <c:strRef>
              <c:f>'Chart Data'!$C$2:$C$3</c:f>
              <c:strCache>
                <c:ptCount val="2"/>
                <c:pt idx="0">
                  <c:v>English</c:v>
                </c:pt>
                <c:pt idx="1">
                  <c:v>Polish</c:v>
                </c:pt>
              </c:strCache>
            </c:strRef>
          </c:cat>
          <c:val>
            <c:numRef>
              <c:f>'Chart Data'!$D$2:$D$3</c:f>
              <c:numCache>
                <c:formatCode>General</c:formatCode>
                <c:ptCount val="2"/>
                <c:pt idx="0">
                  <c:v>18.39</c:v>
                </c:pt>
                <c:pt idx="1">
                  <c:v>27.27</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185809E-3542-4EE2-9260-43DE1CCE1E71}"/>
              </a:ext>
            </a:extLst>
          </p:cNvPr>
          <p:cNvSpPr>
            <a:spLocks xmlns:a="http://schemas.openxmlformats.org/drawingml/2006/main" noGrp="1"/>
          </p:cNvSpPr>
          <p:nvPr/>
        </p:nvSpPr>
        <p:spPr>
          <a:xfrm xmlns:a="http://schemas.openxmlformats.org/drawingml/2006/main">
            <a:off x="742950" y="1476375"/>
            <a:ext cx="1028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200" b="1">
                <a:solidFill>
                  <a:srgbClr val="142536"/>
                </a:solidFill>
                <a:latin typeface="Helvetica Neue"/>
                <a:ea typeface="Helvetica Neue"/>
                <a:cs typeface="Helvetica Neue"/>
              </a:defRPr>
            </a:pPr>
            <a:r>
              <a:rPr sz="4200" b="1">
                <a:solidFill>
                  <a:srgbClr val="142536"/>
                </a:solidFill>
                <a:latin typeface="Helvetica Neue"/>
                <a:ea typeface="Helvetica Neue"/>
                <a:cs typeface="Helvetica Neue"/>
              </a:rPr>
              <a:t>Sprint 2</a:t>
            </a:r>
          </a:p>
        </p:txBody>
      </p:sp>
      <p:sp>
        <p:nvSpPr>
          <p:cNvPr id="2" name="">
            <a:extLst xmlns:a="http://schemas.openxmlformats.org/drawingml/2006/main">
              <a:ext uri="{FF2B5EF4-FFF2-40B4-BE49-F238E27FC236}">
                <a16:creationId xmlns:a16="http://schemas.microsoft.com/office/drawing/2014/main" id="{0DF8DE71-DDBE-449C-88C1-8C663A3760E7}"/>
              </a:ext>
            </a:extLst>
          </p:cNvPr>
          <p:cNvSpPr>
            <a:spLocks xmlns:a="http://schemas.openxmlformats.org/drawingml/2006/main" noGrp="1"/>
          </p:cNvSpPr>
          <p:nvPr/>
        </p:nvSpPr>
        <p:spPr>
          <a:xfrm xmlns:a="http://schemas.openxmlformats.org/drawingml/2006/main">
            <a:off x="742950" y="2381250"/>
            <a:ext cx="10572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75" b="1">
                <a:solidFill>
                  <a:srgbClr val="142536"/>
                </a:solidFill>
                <a:latin typeface="Helvetica Neue"/>
                <a:ea typeface="Helvetica Neue"/>
                <a:cs typeface="Helvetica Neue"/>
              </a:defRPr>
            </a:pPr>
            <a:r>
              <a:rPr sz="3675" b="1">
                <a:solidFill>
                  <a:srgbClr val="142536"/>
                </a:solidFill>
                <a:latin typeface="Helvetica Neue"/>
                <a:ea typeface="Helvetica Neue"/>
                <a:cs typeface="Helvetica Neue"/>
              </a:rPr>
              <a:t>Meeting prototype and technical evidence</a:t>
            </a:r>
          </a:p>
        </p:txBody>
      </p:sp>
      <p:sp>
        <p:nvSpPr>
          <p:cNvPr id="3" name="">
            <a:extLst xmlns:a="http://schemas.openxmlformats.org/drawingml/2006/main">
              <a:ext uri="{FF2B5EF4-FFF2-40B4-BE49-F238E27FC236}">
                <a16:creationId xmlns:a16="http://schemas.microsoft.com/office/drawing/2014/main" id="{9E6A3805-C890-4825-840F-EDEA304BFB59}"/>
              </a:ext>
            </a:extLst>
          </p:cNvPr>
          <p:cNvSpPr>
            <a:spLocks xmlns:a="http://schemas.openxmlformats.org/drawingml/2006/main" noGrp="1"/>
          </p:cNvSpPr>
          <p:nvPr/>
        </p:nvSpPr>
        <p:spPr>
          <a:xfrm xmlns:a="http://schemas.openxmlformats.org/drawingml/2006/main">
            <a:off x="742950" y="4095750"/>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662A5"/>
                </a:solidFill>
                <a:latin typeface="Helvetica Neue"/>
                <a:ea typeface="Helvetica Neue"/>
                <a:cs typeface="Helvetica Neue"/>
              </a:defRPr>
            </a:pPr>
            <a:r>
              <a:rPr sz="2100" b="0">
                <a:solidFill>
                  <a:srgbClr val="1662A5"/>
                </a:solidFill>
                <a:latin typeface="Helvetica Neue"/>
                <a:ea typeface="Helvetica Neue"/>
                <a:cs typeface="Helvetica Neue"/>
              </a:rPr>
              <a:t>Product Owner presentation set</a:t>
            </a:r>
          </a:p>
        </p:txBody>
      </p:sp>
      <p:sp>
        <p:nvSpPr>
          <p:cNvPr id="4" name="">
            <a:extLst xmlns:a="http://schemas.openxmlformats.org/drawingml/2006/main">
              <a:ext uri="{FF2B5EF4-FFF2-40B4-BE49-F238E27FC236}">
                <a16:creationId xmlns:a16="http://schemas.microsoft.com/office/drawing/2014/main" id="{52354F07-1420-4375-9231-A8C1218F7746}"/>
              </a:ext>
            </a:extLst>
          </p:cNvPr>
          <p:cNvSpPr>
            <a:spLocks xmlns:a="http://schemas.openxmlformats.org/drawingml/2006/main" noGrp="1"/>
          </p:cNvSpPr>
          <p:nvPr/>
        </p:nvSpPr>
        <p:spPr>
          <a:xfrm xmlns:a="http://schemas.openxmlformats.org/drawingml/2006/main">
            <a:off x="742950" y="564832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496071"/>
                </a:solidFill>
                <a:latin typeface="Helvetica Neue"/>
                <a:ea typeface="Helvetica Neue"/>
                <a:cs typeface="Helvetica Neue"/>
              </a:defRPr>
            </a:pPr>
            <a:r>
              <a:rPr sz="1725" b="0">
                <a:solidFill>
                  <a:srgbClr val="496071"/>
                </a:solidFill>
                <a:latin typeface="Helvetica Neue"/>
                <a:ea typeface="Helvetica Neue"/>
                <a:cs typeface="Helvetica Neue"/>
              </a:rPr>
              <a:t>4 October 2026</a:t>
            </a:r>
          </a:p>
        </p:txBody>
      </p:sp>
    </p:spTree>
    <p:extLst>
      <p:ext uri="{BB962C8B-B14F-4D97-AF65-F5344CB8AC3E}">
        <p14:creationId xmlns:p14="http://schemas.microsoft.com/office/powerpoint/2010/main" val="19324660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19D4089-2F7A-473F-8D99-1A3B4754FDF0}"/>
              </a:ext>
            </a:extLst>
          </p:cNvPr>
          <p:cNvSpPr>
            <a:spLocks xmlns:a="http://schemas.openxmlformats.org/drawingml/2006/main" noGrp="1"/>
          </p:cNvSpPr>
          <p:nvPr/>
        </p:nvSpPr>
        <p:spPr>
          <a:xfrm xmlns:a="http://schemas.openxmlformats.org/drawingml/2006/main">
            <a:off x="666750" y="428625"/>
            <a:ext cx="1085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536"/>
                </a:solidFill>
                <a:latin typeface="Helvetica Neue"/>
                <a:ea typeface="Helvetica Neue"/>
                <a:cs typeface="Helvetica Neue"/>
              </a:defRPr>
            </a:pPr>
            <a:r>
              <a:rPr sz="3150" b="1">
                <a:solidFill>
                  <a:srgbClr val="142536"/>
                </a:solidFill>
                <a:latin typeface="Helvetica Neue"/>
                <a:ea typeface="Helvetica Neue"/>
                <a:cs typeface="Helvetica Neue"/>
              </a:rPr>
              <a:t>What Sprint 2 set out to test</a:t>
            </a:r>
          </a:p>
        </p:txBody>
      </p:sp>
      <p:sp>
        <p:nvSpPr>
          <p:cNvPr id="2" name="">
            <a:extLst xmlns:a="http://schemas.openxmlformats.org/drawingml/2006/main">
              <a:ext uri="{FF2B5EF4-FFF2-40B4-BE49-F238E27FC236}">
                <a16:creationId xmlns:a16="http://schemas.microsoft.com/office/drawing/2014/main" id="{82DA5265-24D7-470C-B117-CC0085E6D33C}"/>
              </a:ext>
            </a:extLst>
          </p:cNvPr>
          <p:cNvSpPr>
            <a:spLocks xmlns:a="http://schemas.openxmlformats.org/drawingml/2006/main" noGrp="1"/>
          </p:cNvSpPr>
          <p:nvPr/>
        </p:nvSpPr>
        <p:spPr>
          <a:xfrm xmlns:a="http://schemas.openxmlformats.org/drawingml/2006/main">
            <a:off x="790575" y="1438275"/>
            <a:ext cx="1047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42536"/>
                </a:solidFill>
                <a:latin typeface="Helvetica Neue"/>
                <a:ea typeface="Helvetica Neue"/>
                <a:cs typeface="Helvetica Neue"/>
              </a:defRPr>
            </a:pPr>
            <a:r>
              <a:rPr sz="2250" b="1">
                <a:solidFill>
                  <a:srgbClr val="142536"/>
                </a:solidFill>
                <a:latin typeface="Helvetica Neue"/>
                <a:ea typeface="Helvetica Neue"/>
                <a:cs typeface="Helvetica Neue"/>
              </a:rPr>
              <a:t>Can a chair turn local meeting audio into a reviewable record?</a:t>
            </a:r>
          </a:p>
        </p:txBody>
      </p:sp>
      <p:sp>
        <p:nvSpPr>
          <p:cNvPr id="3" name="">
            <a:extLst xmlns:a="http://schemas.openxmlformats.org/drawingml/2006/main">
              <a:ext uri="{FF2B5EF4-FFF2-40B4-BE49-F238E27FC236}">
                <a16:creationId xmlns:a16="http://schemas.microsoft.com/office/drawing/2014/main" id="{A28EE6A5-49C4-40E2-BC1E-7E38BBFEA476}"/>
              </a:ext>
            </a:extLst>
          </p:cNvPr>
          <p:cNvSpPr>
            <a:spLocks xmlns:a="http://schemas.openxmlformats.org/drawingml/2006/main" noGrp="1"/>
          </p:cNvSpPr>
          <p:nvPr/>
        </p:nvSpPr>
        <p:spPr>
          <a:xfrm xmlns:a="http://schemas.openxmlformats.org/drawingml/2006/main">
            <a:off x="790575" y="2514600"/>
            <a:ext cx="10477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42536"/>
                </a:solidFill>
                <a:latin typeface="Helvetica Neue"/>
                <a:ea typeface="Helvetica Neue"/>
                <a:cs typeface="Helvetica Neue"/>
              </a:defRPr>
            </a:pPr>
            <a:r>
              <a:rPr sz="2175" b="0">
                <a:solidFill>
                  <a:srgbClr val="142536"/>
                </a:solidFill>
                <a:latin typeface="Helvetica Neue"/>
                <a:ea typeface="Helvetica Neue"/>
                <a:cs typeface="Helvetica Neue"/>
              </a:rPr>
              <a:t>PBI-011 built a runnable Swift prototype for transcription, speaker review, manual names, and draft minutes.</a:t>
            </a:r>
          </a:p>
        </p:txBody>
      </p:sp>
      <p:sp>
        <p:nvSpPr>
          <p:cNvPr id="4" name="">
            <a:extLst xmlns:a="http://schemas.openxmlformats.org/drawingml/2006/main">
              <a:ext uri="{FF2B5EF4-FFF2-40B4-BE49-F238E27FC236}">
                <a16:creationId xmlns:a16="http://schemas.microsoft.com/office/drawing/2014/main" id="{77171FB0-62DE-4E18-AED8-B95BA9300A58}"/>
              </a:ext>
            </a:extLst>
          </p:cNvPr>
          <p:cNvSpPr>
            <a:spLocks xmlns:a="http://schemas.openxmlformats.org/drawingml/2006/main" noGrp="1"/>
          </p:cNvSpPr>
          <p:nvPr/>
        </p:nvSpPr>
        <p:spPr>
          <a:xfrm xmlns:a="http://schemas.openxmlformats.org/drawingml/2006/main">
            <a:off x="790575" y="4029075"/>
            <a:ext cx="1047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42536"/>
                </a:solidFill>
                <a:latin typeface="Helvetica Neue"/>
                <a:ea typeface="Helvetica Neue"/>
                <a:cs typeface="Helvetica Neue"/>
              </a:defRPr>
            </a:pPr>
            <a:r>
              <a:rPr sz="2175" b="0">
                <a:solidFill>
                  <a:srgbClr val="142536"/>
                </a:solidFill>
                <a:latin typeface="Helvetica Neue"/>
                <a:ea typeface="Helvetica Neue"/>
                <a:cs typeface="Helvetica Neue"/>
              </a:rPr>
              <a:t>PBI-018 compared local model options on referenced data and recorded the failures that architecture work must address.</a:t>
            </a:r>
          </a:p>
        </p:txBody>
      </p:sp>
      <p:sp>
        <p:nvSpPr>
          <p:cNvPr id="5" name="">
            <a:extLst xmlns:a="http://schemas.openxmlformats.org/drawingml/2006/main">
              <a:ext uri="{FF2B5EF4-FFF2-40B4-BE49-F238E27FC236}">
                <a16:creationId xmlns:a16="http://schemas.microsoft.com/office/drawing/2014/main" id="{D5FB714C-4C24-488A-AC74-94B4B295118C}"/>
              </a:ext>
            </a:extLst>
          </p:cNvPr>
          <p:cNvSpPr>
            <a:spLocks xmlns:a="http://schemas.openxmlformats.org/drawingml/2006/main" noGrp="1"/>
          </p:cNvSpPr>
          <p:nvPr/>
        </p:nvSpPr>
        <p:spPr>
          <a:xfrm xmlns:a="http://schemas.openxmlformats.org/drawingml/2006/main">
            <a:off x="742950" y="6000750"/>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496071"/>
                </a:solidFill>
                <a:latin typeface="Helvetica Neue"/>
                <a:ea typeface="Helvetica Neue"/>
                <a:cs typeface="Helvetica Neue"/>
              </a:defRPr>
            </a:pPr>
            <a:r>
              <a:rPr sz="1575" b="0">
                <a:solidFill>
                  <a:srgbClr val="496071"/>
                </a:solidFill>
                <a:latin typeface="Helvetica Neue"/>
                <a:ea typeface="Helvetica Neue"/>
                <a:cs typeface="Helvetica Neue"/>
              </a:rPr>
              <a:t>The architecture and model interfaces come next, followed by the real-meeting demonstration.</a:t>
            </a:r>
          </a:p>
        </p:txBody>
      </p:sp>
    </p:spTree>
    <p:extLst>
      <p:ext uri="{BB962C8B-B14F-4D97-AF65-F5344CB8AC3E}">
        <p14:creationId xmlns:p14="http://schemas.microsoft.com/office/powerpoint/2010/main" val="174119404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6F40597C-CAEC-4A03-A09C-8509B8760F9E}"/>
              </a:ext>
            </a:extLst>
          </p:cNvPr>
          <p:cNvSpPr>
            <a:spLocks xmlns:a="http://schemas.openxmlformats.org/drawingml/2006/main" noGrp="1"/>
          </p:cNvSpPr>
          <p:nvPr/>
        </p:nvSpPr>
        <p:spPr>
          <a:xfrm xmlns:a="http://schemas.openxmlformats.org/drawingml/2006/main">
            <a:off x="666750" y="4381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5"/>
                </a:solidFill>
                <a:latin typeface="Helvetica Neue"/>
                <a:ea typeface="Helvetica Neue"/>
                <a:cs typeface="Helvetica Neue"/>
              </a:defRPr>
            </a:pPr>
            <a:r>
              <a:rPr sz="3000" b="1">
                <a:solidFill>
                  <a:srgbClr val="142735"/>
                </a:solidFill>
                <a:latin typeface="Helvetica Neue"/>
                <a:ea typeface="Helvetica Neue"/>
                <a:cs typeface="Helvetica Neue"/>
              </a:rPr>
              <a:t>Processing pipeline: audio, speakers and minutes</a:t>
            </a:r>
          </a:p>
        </p:txBody>
      </p:sp>
      <p:sp>
        <p:nvSpPr>
          <p:cNvPr id="2" name="">
            <a:extLst xmlns:a="http://schemas.openxmlformats.org/drawingml/2006/main">
              <a:ext uri="{FF2B5EF4-FFF2-40B4-BE49-F238E27FC236}">
                <a16:creationId xmlns:a16="http://schemas.microsoft.com/office/drawing/2014/main" id="{82A4DA28-D36B-4824-A658-31165C52CF78}"/>
              </a:ext>
            </a:extLst>
          </p:cNvPr>
          <p:cNvSpPr>
            <a:spLocks xmlns:a="http://schemas.openxmlformats.org/drawingml/2006/main" noGrp="1"/>
          </p:cNvSpPr>
          <p:nvPr/>
        </p:nvSpPr>
        <p:spPr>
          <a:xfrm xmlns:a="http://schemas.openxmlformats.org/drawingml/2006/main">
            <a:off x="723900" y="11811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85C74"/>
                </a:solidFill>
                <a:latin typeface="Helvetica Neue"/>
                <a:ea typeface="Helvetica Neue"/>
                <a:cs typeface="Helvetica Neue"/>
              </a:defRPr>
            </a:pPr>
            <a:r>
              <a:rPr sz="1875" b="0">
                <a:solidFill>
                  <a:srgbClr val="485C74"/>
                </a:solidFill>
                <a:latin typeface="Helvetica Neue"/>
                <a:ea typeface="Helvetica Neue"/>
                <a:cs typeface="Helvetica Neue"/>
              </a:rPr>
              <a:t>Swift coordinates one local record. Speaker recognition and minutes are optional.</a:t>
            </a:r>
          </a:p>
        </p:txBody>
      </p:sp>
      <p:sp>
        <p:nvSpPr>
          <p:cNvPr id="3" name="">
            <a:extLst xmlns:a="http://schemas.openxmlformats.org/drawingml/2006/main">
              <a:ext uri="{FF2B5EF4-FFF2-40B4-BE49-F238E27FC236}">
                <a16:creationId xmlns:a16="http://schemas.microsoft.com/office/drawing/2014/main" id="{987C2A98-9114-49A9-B279-6350D12545AB}"/>
              </a:ext>
            </a:extLst>
          </p:cNvPr>
          <p:cNvSpPr>
            <a:spLocks xmlns:a="http://schemas.openxmlformats.org/drawingml/2006/main" noGrp="1"/>
          </p:cNvSpPr>
          <p:nvPr/>
        </p:nvSpPr>
        <p:spPr>
          <a:xfrm xmlns:a="http://schemas.openxmlformats.org/drawingml/2006/main">
            <a:off x="714375" y="1924050"/>
            <a:ext cx="3333750" cy="1571625"/>
          </a:xfrm>
          <a:prstGeom xmlns:a="http://schemas.openxmlformats.org/drawingml/2006/main" prst="rect">
            <a:avLst/>
          </a:prstGeom>
          <a:solidFill xmlns:a="http://schemas.openxmlformats.org/drawingml/2006/main">
            <a:srgbClr val="EFF6FF"/>
          </a:solidFill>
          <a:ln xmlns:a="http://schemas.openxmlformats.org/drawingml/2006/main" w="9525">
            <a:solidFill>
              <a:srgbClr val="D1DAE4"/>
            </a:solidFill>
          </a:ln>
        </p:spPr>
      </p:sp>
      <p:sp>
        <p:nvSpPr>
          <p:cNvPr id="4" name="">
            <a:extLst xmlns:a="http://schemas.openxmlformats.org/drawingml/2006/main">
              <a:ext uri="{FF2B5EF4-FFF2-40B4-BE49-F238E27FC236}">
                <a16:creationId xmlns:a16="http://schemas.microsoft.com/office/drawing/2014/main" id="{8F16F4D5-5DF8-4357-9ECA-9B17132BF290}"/>
              </a:ext>
            </a:extLst>
          </p:cNvPr>
          <p:cNvSpPr>
            <a:spLocks xmlns:a="http://schemas.openxmlformats.org/drawingml/2006/main" noGrp="1"/>
          </p:cNvSpPr>
          <p:nvPr/>
        </p:nvSpPr>
        <p:spPr>
          <a:xfrm xmlns:a="http://schemas.openxmlformats.org/drawingml/2006/main">
            <a:off x="885825" y="2038350"/>
            <a:ext cx="2990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2735"/>
                </a:solidFill>
                <a:latin typeface="Helvetica Neue"/>
                <a:ea typeface="Helvetica Neue"/>
                <a:cs typeface="Helvetica Neue"/>
              </a:defRPr>
            </a:pPr>
            <a:r>
              <a:rPr sz="1875" b="1">
                <a:solidFill>
                  <a:srgbClr val="142735"/>
                </a:solidFill>
                <a:latin typeface="Helvetica Neue"/>
                <a:ea typeface="Helvetica Neue"/>
                <a:cs typeface="Helvetica Neue"/>
              </a:rPr>
              <a:t>1. Transcribe audio</a:t>
            </a:r>
          </a:p>
        </p:txBody>
      </p:sp>
      <p:sp>
        <p:nvSpPr>
          <p:cNvPr id="5" name="">
            <a:extLst xmlns:a="http://schemas.openxmlformats.org/drawingml/2006/main">
              <a:ext uri="{FF2B5EF4-FFF2-40B4-BE49-F238E27FC236}">
                <a16:creationId xmlns:a16="http://schemas.microsoft.com/office/drawing/2014/main" id="{AE78DD72-46A0-4968-938D-18B82C1104B2}"/>
              </a:ext>
            </a:extLst>
          </p:cNvPr>
          <p:cNvSpPr>
            <a:spLocks xmlns:a="http://schemas.openxmlformats.org/drawingml/2006/main" noGrp="1"/>
          </p:cNvSpPr>
          <p:nvPr/>
        </p:nvSpPr>
        <p:spPr>
          <a:xfrm xmlns:a="http://schemas.openxmlformats.org/drawingml/2006/main">
            <a:off x="885825" y="2419350"/>
            <a:ext cx="29908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ASR: Parakeet or Whisper</a:t>
            </a:r>
          </a:p>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Audio + language</a:t>
            </a:r>
          </a:p>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Timed text parts</a:t>
            </a:r>
          </a:p>
        </p:txBody>
      </p:sp>
      <p:sp>
        <p:nvSpPr>
          <p:cNvPr id="6" name="">
            <a:extLst xmlns:a="http://schemas.openxmlformats.org/drawingml/2006/main">
              <a:ext uri="{FF2B5EF4-FFF2-40B4-BE49-F238E27FC236}">
                <a16:creationId xmlns:a16="http://schemas.microsoft.com/office/drawing/2014/main" id="{97FC760D-ACBB-41DC-93F7-E485128D3FB5}"/>
              </a:ext>
            </a:extLst>
          </p:cNvPr>
          <p:cNvSpPr>
            <a:spLocks xmlns:a="http://schemas.openxmlformats.org/drawingml/2006/main" noGrp="1"/>
          </p:cNvSpPr>
          <p:nvPr/>
        </p:nvSpPr>
        <p:spPr>
          <a:xfrm xmlns:a="http://schemas.openxmlformats.org/drawingml/2006/main">
            <a:off x="4429125" y="1924050"/>
            <a:ext cx="3333750" cy="1571625"/>
          </a:xfrm>
          <a:prstGeom xmlns:a="http://schemas.openxmlformats.org/drawingml/2006/main" prst="rect">
            <a:avLst/>
          </a:prstGeom>
          <a:solidFill xmlns:a="http://schemas.openxmlformats.org/drawingml/2006/main">
            <a:srgbClr val="EDFDF8"/>
          </a:solidFill>
          <a:ln xmlns:a="http://schemas.openxmlformats.org/drawingml/2006/main" w="9525">
            <a:solidFill>
              <a:srgbClr val="D1DAE4"/>
            </a:solidFill>
          </a:ln>
        </p:spPr>
      </p:sp>
      <p:sp>
        <p:nvSpPr>
          <p:cNvPr id="7" name="">
            <a:extLst xmlns:a="http://schemas.openxmlformats.org/drawingml/2006/main">
              <a:ext uri="{FF2B5EF4-FFF2-40B4-BE49-F238E27FC236}">
                <a16:creationId xmlns:a16="http://schemas.microsoft.com/office/drawing/2014/main" id="{54DDA733-EA3D-4EF6-BC35-FB0755773BA2}"/>
              </a:ext>
            </a:extLst>
          </p:cNvPr>
          <p:cNvSpPr>
            <a:spLocks xmlns:a="http://schemas.openxmlformats.org/drawingml/2006/main" noGrp="1"/>
          </p:cNvSpPr>
          <p:nvPr/>
        </p:nvSpPr>
        <p:spPr>
          <a:xfrm xmlns:a="http://schemas.openxmlformats.org/drawingml/2006/main">
            <a:off x="4600575" y="2038350"/>
            <a:ext cx="2990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2735"/>
                </a:solidFill>
                <a:latin typeface="Helvetica Neue"/>
                <a:ea typeface="Helvetica Neue"/>
                <a:cs typeface="Helvetica Neue"/>
              </a:defRPr>
            </a:pPr>
            <a:r>
              <a:rPr sz="1875" b="1">
                <a:solidFill>
                  <a:srgbClr val="142735"/>
                </a:solidFill>
                <a:latin typeface="Helvetica Neue"/>
                <a:ea typeface="Helvetica Neue"/>
                <a:cs typeface="Helvetica Neue"/>
              </a:rPr>
              <a:t>2. Recognize speakers</a:t>
            </a:r>
          </a:p>
        </p:txBody>
      </p:sp>
      <p:sp>
        <p:nvSpPr>
          <p:cNvPr id="8" name="">
            <a:extLst xmlns:a="http://schemas.openxmlformats.org/drawingml/2006/main">
              <a:ext uri="{FF2B5EF4-FFF2-40B4-BE49-F238E27FC236}">
                <a16:creationId xmlns:a16="http://schemas.microsoft.com/office/drawing/2014/main" id="{B9A90B5A-44A3-40FD-B6A6-1F821A2ACE68}"/>
              </a:ext>
            </a:extLst>
          </p:cNvPr>
          <p:cNvSpPr>
            <a:spLocks xmlns:a="http://schemas.openxmlformats.org/drawingml/2006/main" noGrp="1"/>
          </p:cNvSpPr>
          <p:nvPr/>
        </p:nvSpPr>
        <p:spPr>
          <a:xfrm xmlns:a="http://schemas.openxmlformats.org/drawingml/2006/main">
            <a:off x="4600575" y="2419350"/>
            <a:ext cx="29908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FluidAudio diarizer (optional)</a:t>
            </a:r>
          </a:p>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Audio gives S1/S2/S3</a:t>
            </a:r>
          </a:p>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Swift aligns labels by time</a:t>
            </a:r>
          </a:p>
        </p:txBody>
      </p:sp>
      <p:sp>
        <p:nvSpPr>
          <p:cNvPr id="9" name="">
            <a:extLst xmlns:a="http://schemas.openxmlformats.org/drawingml/2006/main">
              <a:ext uri="{FF2B5EF4-FFF2-40B4-BE49-F238E27FC236}">
                <a16:creationId xmlns:a16="http://schemas.microsoft.com/office/drawing/2014/main" id="{1BD9B617-B87B-4F63-9CD2-F115ABFD13F5}"/>
              </a:ext>
            </a:extLst>
          </p:cNvPr>
          <p:cNvSpPr>
            <a:spLocks xmlns:a="http://schemas.openxmlformats.org/drawingml/2006/main" noGrp="1"/>
          </p:cNvSpPr>
          <p:nvPr/>
        </p:nvSpPr>
        <p:spPr>
          <a:xfrm xmlns:a="http://schemas.openxmlformats.org/drawingml/2006/main">
            <a:off x="8143875" y="1924050"/>
            <a:ext cx="3333750" cy="1571625"/>
          </a:xfrm>
          <a:prstGeom xmlns:a="http://schemas.openxmlformats.org/drawingml/2006/main" prst="rect">
            <a:avLst/>
          </a:prstGeom>
          <a:solidFill xmlns:a="http://schemas.openxmlformats.org/drawingml/2006/main">
            <a:srgbClr val="F6F3FF"/>
          </a:solidFill>
          <a:ln xmlns:a="http://schemas.openxmlformats.org/drawingml/2006/main" w="9525">
            <a:solidFill>
              <a:srgbClr val="D1DAE4"/>
            </a:solidFill>
          </a:ln>
        </p:spPr>
      </p:sp>
      <p:sp>
        <p:nvSpPr>
          <p:cNvPr id="10" name="">
            <a:extLst xmlns:a="http://schemas.openxmlformats.org/drawingml/2006/main">
              <a:ext uri="{FF2B5EF4-FFF2-40B4-BE49-F238E27FC236}">
                <a16:creationId xmlns:a16="http://schemas.microsoft.com/office/drawing/2014/main" id="{2CC0A981-0417-4532-939B-FE30B8AC17EB}"/>
              </a:ext>
            </a:extLst>
          </p:cNvPr>
          <p:cNvSpPr>
            <a:spLocks xmlns:a="http://schemas.openxmlformats.org/drawingml/2006/main" noGrp="1"/>
          </p:cNvSpPr>
          <p:nvPr/>
        </p:nvSpPr>
        <p:spPr>
          <a:xfrm xmlns:a="http://schemas.openxmlformats.org/drawingml/2006/main">
            <a:off x="8315325" y="2038350"/>
            <a:ext cx="2990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2735"/>
                </a:solidFill>
                <a:latin typeface="Helvetica Neue"/>
                <a:ea typeface="Helvetica Neue"/>
                <a:cs typeface="Helvetica Neue"/>
              </a:defRPr>
            </a:pPr>
            <a:r>
              <a:rPr sz="1875" b="1">
                <a:solidFill>
                  <a:srgbClr val="142735"/>
                </a:solidFill>
                <a:latin typeface="Helvetica Neue"/>
                <a:ea typeface="Helvetica Neue"/>
                <a:cs typeface="Helvetica Neue"/>
              </a:rPr>
              <a:t>3. Build reading turns</a:t>
            </a:r>
          </a:p>
        </p:txBody>
      </p:sp>
      <p:sp>
        <p:nvSpPr>
          <p:cNvPr id="11" name="">
            <a:extLst xmlns:a="http://schemas.openxmlformats.org/drawingml/2006/main">
              <a:ext uri="{FF2B5EF4-FFF2-40B4-BE49-F238E27FC236}">
                <a16:creationId xmlns:a16="http://schemas.microsoft.com/office/drawing/2014/main" id="{01885904-EA6C-4ED8-A835-49AF3B6F6578}"/>
              </a:ext>
            </a:extLst>
          </p:cNvPr>
          <p:cNvSpPr>
            <a:spLocks xmlns:a="http://schemas.openxmlformats.org/drawingml/2006/main" noGrp="1"/>
          </p:cNvSpPr>
          <p:nvPr/>
        </p:nvSpPr>
        <p:spPr>
          <a:xfrm xmlns:a="http://schemas.openxmlformats.org/drawingml/2006/main">
            <a:off x="8315325" y="2419350"/>
            <a:ext cx="29908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Swift TranscriptCleaner</a:t>
            </a:r>
          </a:p>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Text + time + speaker labels</a:t>
            </a:r>
          </a:p>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Configurable reading turns</a:t>
            </a:r>
          </a:p>
        </p:txBody>
      </p:sp>
      <p:sp>
        <p:nvSpPr>
          <p:cNvPr id="12" name="">
            <a:extLst xmlns:a="http://schemas.openxmlformats.org/drawingml/2006/main">
              <a:ext uri="{FF2B5EF4-FFF2-40B4-BE49-F238E27FC236}">
                <a16:creationId xmlns:a16="http://schemas.microsoft.com/office/drawing/2014/main" id="{D9881878-0CAA-40A3-A440-5D5A3C899AEF}"/>
              </a:ext>
            </a:extLst>
          </p:cNvPr>
          <p:cNvSpPr>
            <a:spLocks xmlns:a="http://schemas.openxmlformats.org/drawingml/2006/main" noGrp="1"/>
          </p:cNvSpPr>
          <p:nvPr/>
        </p:nvSpPr>
        <p:spPr>
          <a:xfrm xmlns:a="http://schemas.openxmlformats.org/drawingml/2006/main">
            <a:off x="714375" y="4048125"/>
            <a:ext cx="3333750" cy="1571625"/>
          </a:xfrm>
          <a:prstGeom xmlns:a="http://schemas.openxmlformats.org/drawingml/2006/main" prst="rect">
            <a:avLst/>
          </a:prstGeom>
          <a:solidFill xmlns:a="http://schemas.openxmlformats.org/drawingml/2006/main">
            <a:srgbClr val="EFF6FF"/>
          </a:solidFill>
          <a:ln xmlns:a="http://schemas.openxmlformats.org/drawingml/2006/main" w="9525">
            <a:solidFill>
              <a:srgbClr val="D1DAE4"/>
            </a:solidFill>
          </a:ln>
        </p:spPr>
      </p:sp>
      <p:sp>
        <p:nvSpPr>
          <p:cNvPr id="13" name="">
            <a:extLst xmlns:a="http://schemas.openxmlformats.org/drawingml/2006/main">
              <a:ext uri="{FF2B5EF4-FFF2-40B4-BE49-F238E27FC236}">
                <a16:creationId xmlns:a16="http://schemas.microsoft.com/office/drawing/2014/main" id="{738C1782-B7EA-4968-8994-D109B0E08C96}"/>
              </a:ext>
            </a:extLst>
          </p:cNvPr>
          <p:cNvSpPr>
            <a:spLocks xmlns:a="http://schemas.openxmlformats.org/drawingml/2006/main" noGrp="1"/>
          </p:cNvSpPr>
          <p:nvPr/>
        </p:nvSpPr>
        <p:spPr>
          <a:xfrm xmlns:a="http://schemas.openxmlformats.org/drawingml/2006/main">
            <a:off x="885825" y="4162425"/>
            <a:ext cx="2990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2735"/>
                </a:solidFill>
                <a:latin typeface="Helvetica Neue"/>
                <a:ea typeface="Helvetica Neue"/>
                <a:cs typeface="Helvetica Neue"/>
              </a:defRPr>
            </a:pPr>
            <a:r>
              <a:rPr sz="1875" b="1">
                <a:solidFill>
                  <a:srgbClr val="142735"/>
                </a:solidFill>
                <a:latin typeface="Helvetica Neue"/>
                <a:ea typeface="Helvetica Neue"/>
                <a:cs typeface="Helvetica Neue"/>
              </a:rPr>
              <a:t>4. Operator review</a:t>
            </a:r>
          </a:p>
        </p:txBody>
      </p:sp>
      <p:sp>
        <p:nvSpPr>
          <p:cNvPr id="14" name="">
            <a:extLst xmlns:a="http://schemas.openxmlformats.org/drawingml/2006/main">
              <a:ext uri="{FF2B5EF4-FFF2-40B4-BE49-F238E27FC236}">
                <a16:creationId xmlns:a16="http://schemas.microsoft.com/office/drawing/2014/main" id="{EB7F948A-DD85-4992-965F-241BFD5979A0}"/>
              </a:ext>
            </a:extLst>
          </p:cNvPr>
          <p:cNvSpPr>
            <a:spLocks xmlns:a="http://schemas.openxmlformats.org/drawingml/2006/main" noGrp="1"/>
          </p:cNvSpPr>
          <p:nvPr/>
        </p:nvSpPr>
        <p:spPr>
          <a:xfrm xmlns:a="http://schemas.openxmlformats.org/drawingml/2006/main">
            <a:off x="885825" y="4543425"/>
            <a:ext cx="29908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SwiftUI + AVFoundation</a:t>
            </a:r>
          </a:p>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Listen, then correct via CLI</a:t>
            </a:r>
          </a:p>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Assign speaker names</a:t>
            </a:r>
          </a:p>
        </p:txBody>
      </p:sp>
      <p:sp>
        <p:nvSpPr>
          <p:cNvPr id="15" name="">
            <a:extLst xmlns:a="http://schemas.openxmlformats.org/drawingml/2006/main">
              <a:ext uri="{FF2B5EF4-FFF2-40B4-BE49-F238E27FC236}">
                <a16:creationId xmlns:a16="http://schemas.microsoft.com/office/drawing/2014/main" id="{47860E14-1518-46C9-971D-0EECD425EEA3}"/>
              </a:ext>
            </a:extLst>
          </p:cNvPr>
          <p:cNvSpPr>
            <a:spLocks xmlns:a="http://schemas.openxmlformats.org/drawingml/2006/main" noGrp="1"/>
          </p:cNvSpPr>
          <p:nvPr/>
        </p:nvSpPr>
        <p:spPr>
          <a:xfrm xmlns:a="http://schemas.openxmlformats.org/drawingml/2006/main">
            <a:off x="4429125" y="4048125"/>
            <a:ext cx="3333750" cy="1571625"/>
          </a:xfrm>
          <a:prstGeom xmlns:a="http://schemas.openxmlformats.org/drawingml/2006/main" prst="rect">
            <a:avLst/>
          </a:prstGeom>
          <a:solidFill xmlns:a="http://schemas.openxmlformats.org/drawingml/2006/main">
            <a:srgbClr val="FFF8EF"/>
          </a:solidFill>
          <a:ln xmlns:a="http://schemas.openxmlformats.org/drawingml/2006/main" w="9525">
            <a:solidFill>
              <a:srgbClr val="D1DAE4"/>
            </a:solidFill>
          </a:ln>
        </p:spPr>
      </p:sp>
      <p:sp>
        <p:nvSpPr>
          <p:cNvPr id="16" name="">
            <a:extLst xmlns:a="http://schemas.openxmlformats.org/drawingml/2006/main">
              <a:ext uri="{FF2B5EF4-FFF2-40B4-BE49-F238E27FC236}">
                <a16:creationId xmlns:a16="http://schemas.microsoft.com/office/drawing/2014/main" id="{E826A1BD-BA85-4CA5-80DB-27E74E59A91C}"/>
              </a:ext>
            </a:extLst>
          </p:cNvPr>
          <p:cNvSpPr>
            <a:spLocks xmlns:a="http://schemas.openxmlformats.org/drawingml/2006/main" noGrp="1"/>
          </p:cNvSpPr>
          <p:nvPr/>
        </p:nvSpPr>
        <p:spPr>
          <a:xfrm xmlns:a="http://schemas.openxmlformats.org/drawingml/2006/main">
            <a:off x="4600575" y="4162425"/>
            <a:ext cx="2990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2735"/>
                </a:solidFill>
                <a:latin typeface="Helvetica Neue"/>
                <a:ea typeface="Helvetica Neue"/>
                <a:cs typeface="Helvetica Neue"/>
              </a:defRPr>
            </a:pPr>
            <a:r>
              <a:rPr sz="1875" b="1">
                <a:solidFill>
                  <a:srgbClr val="142735"/>
                </a:solidFill>
                <a:latin typeface="Helvetica Neue"/>
                <a:ea typeface="Helvetica Neue"/>
                <a:cs typeface="Helvetica Neue"/>
              </a:rPr>
              <a:t>5. Create draft minutes</a:t>
            </a:r>
          </a:p>
        </p:txBody>
      </p:sp>
      <p:sp>
        <p:nvSpPr>
          <p:cNvPr id="17" name="">
            <a:extLst xmlns:a="http://schemas.openxmlformats.org/drawingml/2006/main">
              <a:ext uri="{FF2B5EF4-FFF2-40B4-BE49-F238E27FC236}">
                <a16:creationId xmlns:a16="http://schemas.microsoft.com/office/drawing/2014/main" id="{D38E0B7E-1CDE-4EFF-89F7-DD691295BF0E}"/>
              </a:ext>
            </a:extLst>
          </p:cNvPr>
          <p:cNvSpPr>
            <a:spLocks xmlns:a="http://schemas.openxmlformats.org/drawingml/2006/main" noGrp="1"/>
          </p:cNvSpPr>
          <p:nvPr/>
        </p:nvSpPr>
        <p:spPr>
          <a:xfrm xmlns:a="http://schemas.openxmlformats.org/drawingml/2006/main">
            <a:off x="4600575" y="4543425"/>
            <a:ext cx="29908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Qwen LLM via MLX (optional)</a:t>
            </a:r>
          </a:p>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Topics and coverage</a:t>
            </a:r>
          </a:p>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Summaries and explicit items</a:t>
            </a:r>
          </a:p>
        </p:txBody>
      </p:sp>
      <p:sp>
        <p:nvSpPr>
          <p:cNvPr id="18" name="">
            <a:extLst xmlns:a="http://schemas.openxmlformats.org/drawingml/2006/main">
              <a:ext uri="{FF2B5EF4-FFF2-40B4-BE49-F238E27FC236}">
                <a16:creationId xmlns:a16="http://schemas.microsoft.com/office/drawing/2014/main" id="{48B78828-6638-41B3-B1D9-3C16D0852F80}"/>
              </a:ext>
            </a:extLst>
          </p:cNvPr>
          <p:cNvSpPr>
            <a:spLocks xmlns:a="http://schemas.openxmlformats.org/drawingml/2006/main" noGrp="1"/>
          </p:cNvSpPr>
          <p:nvPr/>
        </p:nvSpPr>
        <p:spPr>
          <a:xfrm xmlns:a="http://schemas.openxmlformats.org/drawingml/2006/main">
            <a:off x="8143875" y="4048125"/>
            <a:ext cx="3333750" cy="1571625"/>
          </a:xfrm>
          <a:prstGeom xmlns:a="http://schemas.openxmlformats.org/drawingml/2006/main" prst="rect">
            <a:avLst/>
          </a:prstGeom>
          <a:solidFill xmlns:a="http://schemas.openxmlformats.org/drawingml/2006/main">
            <a:srgbClr val="EDFDF8"/>
          </a:solidFill>
          <a:ln xmlns:a="http://schemas.openxmlformats.org/drawingml/2006/main" w="9525">
            <a:solidFill>
              <a:srgbClr val="D1DAE4"/>
            </a:solidFill>
          </a:ln>
        </p:spPr>
      </p:sp>
      <p:sp>
        <p:nvSpPr>
          <p:cNvPr id="19" name="">
            <a:extLst xmlns:a="http://schemas.openxmlformats.org/drawingml/2006/main">
              <a:ext uri="{FF2B5EF4-FFF2-40B4-BE49-F238E27FC236}">
                <a16:creationId xmlns:a16="http://schemas.microsoft.com/office/drawing/2014/main" id="{06EA02E5-7399-48FF-AFFF-2E5AEAB04A87}"/>
              </a:ext>
            </a:extLst>
          </p:cNvPr>
          <p:cNvSpPr>
            <a:spLocks xmlns:a="http://schemas.openxmlformats.org/drawingml/2006/main" noGrp="1"/>
          </p:cNvSpPr>
          <p:nvPr/>
        </p:nvSpPr>
        <p:spPr>
          <a:xfrm xmlns:a="http://schemas.openxmlformats.org/drawingml/2006/main">
            <a:off x="8315325" y="4162425"/>
            <a:ext cx="2990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2735"/>
                </a:solidFill>
                <a:latin typeface="Helvetica Neue"/>
                <a:ea typeface="Helvetica Neue"/>
                <a:cs typeface="Helvetica Neue"/>
              </a:defRPr>
            </a:pPr>
            <a:r>
              <a:rPr sz="1875" b="1">
                <a:solidFill>
                  <a:srgbClr val="142735"/>
                </a:solidFill>
                <a:latin typeface="Helvetica Neue"/>
                <a:ea typeface="Helvetica Neue"/>
                <a:cs typeface="Helvetica Neue"/>
              </a:rPr>
              <a:t>6. Validate and save</a:t>
            </a:r>
          </a:p>
        </p:txBody>
      </p:sp>
      <p:sp>
        <p:nvSpPr>
          <p:cNvPr id="20" name="">
            <a:extLst xmlns:a="http://schemas.openxmlformats.org/drawingml/2006/main">
              <a:ext uri="{FF2B5EF4-FFF2-40B4-BE49-F238E27FC236}">
                <a16:creationId xmlns:a16="http://schemas.microsoft.com/office/drawing/2014/main" id="{FFBCBF2C-B5C7-40DE-BA53-BAFAE331A1EC}"/>
              </a:ext>
            </a:extLst>
          </p:cNvPr>
          <p:cNvSpPr>
            <a:spLocks xmlns:a="http://schemas.openxmlformats.org/drawingml/2006/main" noGrp="1"/>
          </p:cNvSpPr>
          <p:nvPr/>
        </p:nvSpPr>
        <p:spPr>
          <a:xfrm xmlns:a="http://schemas.openxmlformats.org/drawingml/2006/main">
            <a:off x="8315325" y="4543425"/>
            <a:ext cx="29908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Validate JSON and evidence</a:t>
            </a:r>
          </a:p>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Repair with bounded retries</a:t>
            </a:r>
          </a:p>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Save supported items</a:t>
            </a:r>
          </a:p>
        </p:txBody>
      </p:sp>
      <p:sp>
        <p:nvSpPr>
          <p:cNvPr id="21" name="">
            <a:extLst xmlns:a="http://schemas.openxmlformats.org/drawingml/2006/main">
              <a:ext uri="{FF2B5EF4-FFF2-40B4-BE49-F238E27FC236}">
                <a16:creationId xmlns:a16="http://schemas.microsoft.com/office/drawing/2014/main" id="{E96B113F-EDBC-4E43-9B9E-822F63EC4295}"/>
              </a:ext>
            </a:extLst>
          </p:cNvPr>
          <p:cNvSpPr>
            <a:spLocks xmlns:a="http://schemas.openxmlformats.org/drawingml/2006/main" noGrp="1"/>
          </p:cNvSpPr>
          <p:nvPr/>
        </p:nvSpPr>
        <p:spPr>
          <a:xfrm xmlns:a="http://schemas.openxmlformats.org/drawingml/2006/main">
            <a:off x="733425" y="60769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85C74"/>
                </a:solidFill>
                <a:latin typeface="Helvetica Neue"/>
                <a:ea typeface="Helvetica Neue"/>
                <a:cs typeface="Helvetica Neue"/>
              </a:defRPr>
            </a:pPr>
            <a:r>
              <a:rPr sz="1725" b="0">
                <a:solidFill>
                  <a:srgbClr val="485C74"/>
                </a:solidFill>
                <a:latin typeface="Helvetica Neue"/>
                <a:ea typeface="Helvetica Neue"/>
                <a:cs typeface="Helvetica Neue"/>
              </a:rPr>
              <a:t>Raw parts remain saved. Review recomputes the reading layer. Controls: slides 17–18.</a:t>
            </a:r>
          </a:p>
        </p:txBody>
      </p:sp>
    </p:spTree>
    <p:extLst>
      <p:ext uri="{BB962C8B-B14F-4D97-AF65-F5344CB8AC3E}">
        <p14:creationId xmlns:p14="http://schemas.microsoft.com/office/powerpoint/2010/main" val="6113533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127BD51-E8DC-4236-96F8-FA17173CF401}"/>
              </a:ext>
            </a:extLst>
          </p:cNvPr>
          <p:cNvSpPr>
            <a:spLocks xmlns:a="http://schemas.openxmlformats.org/drawingml/2006/main" noGrp="1"/>
          </p:cNvSpPr>
          <p:nvPr/>
        </p:nvSpPr>
        <p:spPr>
          <a:xfrm xmlns:a="http://schemas.openxmlformats.org/drawingml/2006/main">
            <a:off x="666750" y="4381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5"/>
                </a:solidFill>
                <a:latin typeface="Helvetica Neue"/>
                <a:ea typeface="Helvetica Neue"/>
                <a:cs typeface="Helvetica Neue"/>
              </a:defRPr>
            </a:pPr>
            <a:r>
              <a:rPr sz="3000" b="1">
                <a:solidFill>
                  <a:srgbClr val="142735"/>
                </a:solidFill>
                <a:latin typeface="Helvetica Neue"/>
                <a:ea typeface="Helvetica Neue"/>
                <a:cs typeface="Helvetica Neue"/>
              </a:rPr>
              <a:t>Three different model jobs</a:t>
            </a:r>
          </a:p>
        </p:txBody>
      </p:sp>
      <p:sp>
        <p:nvSpPr>
          <p:cNvPr id="2" name="">
            <a:extLst xmlns:a="http://schemas.openxmlformats.org/drawingml/2006/main">
              <a:ext uri="{FF2B5EF4-FFF2-40B4-BE49-F238E27FC236}">
                <a16:creationId xmlns:a16="http://schemas.microsoft.com/office/drawing/2014/main" id="{8206F8AE-413E-48C4-A380-D7CB2AC4EE5F}"/>
              </a:ext>
            </a:extLst>
          </p:cNvPr>
          <p:cNvSpPr>
            <a:spLocks xmlns:a="http://schemas.openxmlformats.org/drawingml/2006/main" noGrp="1"/>
          </p:cNvSpPr>
          <p:nvPr/>
        </p:nvSpPr>
        <p:spPr>
          <a:xfrm xmlns:a="http://schemas.openxmlformats.org/drawingml/2006/main">
            <a:off x="742950" y="1476375"/>
            <a:ext cx="504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6CAD"/>
                </a:solidFill>
                <a:latin typeface="Helvetica Neue"/>
                <a:ea typeface="Helvetica Neue"/>
                <a:cs typeface="Helvetica Neue"/>
              </a:defRPr>
            </a:pPr>
            <a:r>
              <a:rPr sz="2175" b="1">
                <a:solidFill>
                  <a:srgbClr val="176CAD"/>
                </a:solidFill>
                <a:latin typeface="Helvetica Neue"/>
                <a:ea typeface="Helvetica Neue"/>
                <a:cs typeface="Helvetica Neue"/>
              </a:rPr>
              <a:t>ASR: Parakeet or Whisper</a:t>
            </a:r>
          </a:p>
        </p:txBody>
      </p:sp>
      <p:sp>
        <p:nvSpPr>
          <p:cNvPr id="3" name="">
            <a:extLst xmlns:a="http://schemas.openxmlformats.org/drawingml/2006/main">
              <a:ext uri="{FF2B5EF4-FFF2-40B4-BE49-F238E27FC236}">
                <a16:creationId xmlns:a16="http://schemas.microsoft.com/office/drawing/2014/main" id="{A7575F46-1774-4E63-8801-228A17B37F4A}"/>
              </a:ext>
            </a:extLst>
          </p:cNvPr>
          <p:cNvSpPr>
            <a:spLocks xmlns:a="http://schemas.openxmlformats.org/drawingml/2006/main" noGrp="1"/>
          </p:cNvSpPr>
          <p:nvPr/>
        </p:nvSpPr>
        <p:spPr>
          <a:xfrm xmlns:a="http://schemas.openxmlformats.org/drawingml/2006/main">
            <a:off x="742950" y="1971675"/>
            <a:ext cx="5048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735"/>
                </a:solidFill>
                <a:latin typeface="Helvetica Neue"/>
                <a:ea typeface="Helvetica Neue"/>
                <a:cs typeface="Helvetica Neue"/>
              </a:defRPr>
            </a:pPr>
            <a:r>
              <a:rPr sz="1875" b="0">
                <a:solidFill>
                  <a:srgbClr val="142735"/>
                </a:solidFill>
                <a:latin typeface="Helvetica Neue"/>
                <a:ea typeface="Helvetica Neue"/>
                <a:cs typeface="Helvetica Neue"/>
              </a:rPr>
              <a:t>Input: audio and language selection</a:t>
            </a:r>
          </a:p>
          <a:p xmlns:a="http://schemas.openxmlformats.org/drawingml/2006/main">
            <a:pPr>
              <a:defRPr sz="1875" b="0">
                <a:solidFill>
                  <a:srgbClr val="142735"/>
                </a:solidFill>
                <a:latin typeface="Helvetica Neue"/>
                <a:ea typeface="Helvetica Neue"/>
                <a:cs typeface="Helvetica Neue"/>
              </a:defRPr>
            </a:pPr>
            <a:r>
              <a:rPr sz="1875" b="0">
                <a:solidFill>
                  <a:srgbClr val="142735"/>
                </a:solidFill>
                <a:latin typeface="Helvetica Neue"/>
                <a:ea typeface="Helvetica Neue"/>
                <a:cs typeface="Helvetica Neue"/>
              </a:rPr>
              <a:t>Output: recognized text with timestamps</a:t>
            </a:r>
          </a:p>
          <a:p xmlns:a="http://schemas.openxmlformats.org/drawingml/2006/main">
            <a:pPr>
              <a:defRPr sz="1875" b="0">
                <a:solidFill>
                  <a:srgbClr val="142735"/>
                </a:solidFill>
                <a:latin typeface="Helvetica Neue"/>
                <a:ea typeface="Helvetica Neue"/>
                <a:cs typeface="Helvetica Neue"/>
              </a:defRPr>
            </a:pPr>
            <a:r>
              <a:rPr sz="1875" b="0">
                <a:solidFill>
                  <a:srgbClr val="142735"/>
                </a:solidFill>
                <a:latin typeface="Helvetica Neue"/>
                <a:ea typeface="Helvetica Neue"/>
                <a:cs typeface="Helvetica Neue"/>
              </a:rPr>
              <a:t>The adapter receives no free-text prompt.</a:t>
            </a:r>
          </a:p>
        </p:txBody>
      </p:sp>
      <p:sp>
        <p:nvSpPr>
          <p:cNvPr id="4" name="">
            <a:extLst xmlns:a="http://schemas.openxmlformats.org/drawingml/2006/main">
              <a:ext uri="{FF2B5EF4-FFF2-40B4-BE49-F238E27FC236}">
                <a16:creationId xmlns:a16="http://schemas.microsoft.com/office/drawing/2014/main" id="{9EAC9A81-0051-41F2-8E13-C504227A65B9}"/>
              </a:ext>
            </a:extLst>
          </p:cNvPr>
          <p:cNvSpPr>
            <a:spLocks xmlns:a="http://schemas.openxmlformats.org/drawingml/2006/main" noGrp="1"/>
          </p:cNvSpPr>
          <p:nvPr/>
        </p:nvSpPr>
        <p:spPr>
          <a:xfrm xmlns:a="http://schemas.openxmlformats.org/drawingml/2006/main">
            <a:off x="742950" y="3333750"/>
            <a:ext cx="504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6CAD"/>
                </a:solidFill>
                <a:latin typeface="Helvetica Neue"/>
                <a:ea typeface="Helvetica Neue"/>
                <a:cs typeface="Helvetica Neue"/>
              </a:defRPr>
            </a:pPr>
            <a:r>
              <a:rPr sz="2175" b="1">
                <a:solidFill>
                  <a:srgbClr val="176CAD"/>
                </a:solidFill>
                <a:latin typeface="Helvetica Neue"/>
                <a:ea typeface="Helvetica Neue"/>
                <a:cs typeface="Helvetica Neue"/>
              </a:rPr>
              <a:t>Diarizer: FluidAudio</a:t>
            </a:r>
          </a:p>
        </p:txBody>
      </p:sp>
      <p:sp>
        <p:nvSpPr>
          <p:cNvPr id="5" name="">
            <a:extLst xmlns:a="http://schemas.openxmlformats.org/drawingml/2006/main">
              <a:ext uri="{FF2B5EF4-FFF2-40B4-BE49-F238E27FC236}">
                <a16:creationId xmlns:a16="http://schemas.microsoft.com/office/drawing/2014/main" id="{BDE4409A-0C23-4054-8441-A2CAEC3C53E2}"/>
              </a:ext>
            </a:extLst>
          </p:cNvPr>
          <p:cNvSpPr>
            <a:spLocks xmlns:a="http://schemas.openxmlformats.org/drawingml/2006/main" noGrp="1"/>
          </p:cNvSpPr>
          <p:nvPr/>
        </p:nvSpPr>
        <p:spPr>
          <a:xfrm xmlns:a="http://schemas.openxmlformats.org/drawingml/2006/main">
            <a:off x="742950" y="3819525"/>
            <a:ext cx="5048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735"/>
                </a:solidFill>
                <a:latin typeface="Helvetica Neue"/>
                <a:ea typeface="Helvetica Neue"/>
                <a:cs typeface="Helvetica Neue"/>
              </a:defRPr>
            </a:pPr>
            <a:r>
              <a:rPr sz="1875" b="0">
                <a:solidFill>
                  <a:srgbClr val="142735"/>
                </a:solidFill>
                <a:latin typeface="Helvetica Neue"/>
                <a:ea typeface="Helvetica Neue"/>
                <a:cs typeface="Helvetica Neue"/>
              </a:rPr>
              <a:t>Input: the recording</a:t>
            </a:r>
          </a:p>
          <a:p xmlns:a="http://schemas.openxmlformats.org/drawingml/2006/main">
            <a:pPr>
              <a:defRPr sz="1875" b="0">
                <a:solidFill>
                  <a:srgbClr val="142735"/>
                </a:solidFill>
                <a:latin typeface="Helvetica Neue"/>
                <a:ea typeface="Helvetica Neue"/>
                <a:cs typeface="Helvetica Neue"/>
              </a:defRPr>
            </a:pPr>
            <a:r>
              <a:rPr sz="1875" b="0">
                <a:solidFill>
                  <a:srgbClr val="142735"/>
                </a:solidFill>
                <a:latin typeface="Helvetica Neue"/>
                <a:ea typeface="Helvetica Neue"/>
                <a:cs typeface="Helvetica Neue"/>
              </a:rPr>
              <a:t>Output: anonymous voice turns S1/S2/S3</a:t>
            </a:r>
          </a:p>
          <a:p xmlns:a="http://schemas.openxmlformats.org/drawingml/2006/main">
            <a:pPr>
              <a:defRPr sz="1875" b="0">
                <a:solidFill>
                  <a:srgbClr val="142735"/>
                </a:solidFill>
                <a:latin typeface="Helvetica Neue"/>
                <a:ea typeface="Helvetica Neue"/>
                <a:cs typeface="Helvetica Neue"/>
              </a:defRPr>
            </a:pPr>
            <a:r>
              <a:rPr sz="1875" b="0">
                <a:solidFill>
                  <a:srgbClr val="142735"/>
                </a:solidFill>
                <a:latin typeface="Helvetica Neue"/>
                <a:ea typeface="Helvetica Neue"/>
                <a:cs typeface="Helvetica Neue"/>
              </a:rPr>
              <a:t>This separate speech model finds speakers.</a:t>
            </a:r>
          </a:p>
        </p:txBody>
      </p:sp>
      <p:sp>
        <p:nvSpPr>
          <p:cNvPr id="6" name="">
            <a:extLst xmlns:a="http://schemas.openxmlformats.org/drawingml/2006/main">
              <a:ext uri="{FF2B5EF4-FFF2-40B4-BE49-F238E27FC236}">
                <a16:creationId xmlns:a16="http://schemas.microsoft.com/office/drawing/2014/main" id="{3B6924CC-0EFD-4FCE-A08A-86CDC3F01ED5}"/>
              </a:ext>
            </a:extLst>
          </p:cNvPr>
          <p:cNvSpPr>
            <a:spLocks xmlns:a="http://schemas.openxmlformats.org/drawingml/2006/main" noGrp="1"/>
          </p:cNvSpPr>
          <p:nvPr/>
        </p:nvSpPr>
        <p:spPr>
          <a:xfrm xmlns:a="http://schemas.openxmlformats.org/drawingml/2006/main">
            <a:off x="6315075" y="1476375"/>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6CAD"/>
                </a:solidFill>
                <a:latin typeface="Helvetica Neue"/>
                <a:ea typeface="Helvetica Neue"/>
                <a:cs typeface="Helvetica Neue"/>
              </a:defRPr>
            </a:pPr>
            <a:r>
              <a:rPr sz="2175" b="1">
                <a:solidFill>
                  <a:srgbClr val="176CAD"/>
                </a:solidFill>
                <a:latin typeface="Helvetica Neue"/>
                <a:ea typeface="Helvetica Neue"/>
                <a:cs typeface="Helvetica Neue"/>
              </a:rPr>
              <a:t>LLM: Qwen through MLX</a:t>
            </a:r>
          </a:p>
        </p:txBody>
      </p:sp>
      <p:sp>
        <p:nvSpPr>
          <p:cNvPr id="7" name="">
            <a:extLst xmlns:a="http://schemas.openxmlformats.org/drawingml/2006/main">
              <a:ext uri="{FF2B5EF4-FFF2-40B4-BE49-F238E27FC236}">
                <a16:creationId xmlns:a16="http://schemas.microsoft.com/office/drawing/2014/main" id="{445601E1-B92D-4684-82BC-1F6E70F0037F}"/>
              </a:ext>
            </a:extLst>
          </p:cNvPr>
          <p:cNvSpPr>
            <a:spLocks xmlns:a="http://schemas.openxmlformats.org/drawingml/2006/main" noGrp="1"/>
          </p:cNvSpPr>
          <p:nvPr/>
        </p:nvSpPr>
        <p:spPr>
          <a:xfrm xmlns:a="http://schemas.openxmlformats.org/drawingml/2006/main">
            <a:off x="6315075" y="1971675"/>
            <a:ext cx="514350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735"/>
                </a:solidFill>
                <a:latin typeface="Helvetica Neue"/>
                <a:ea typeface="Helvetica Neue"/>
                <a:cs typeface="Helvetica Neue"/>
              </a:defRPr>
            </a:pPr>
            <a:r>
              <a:rPr sz="1875" b="0">
                <a:solidFill>
                  <a:srgbClr val="142735"/>
                </a:solidFill>
                <a:latin typeface="Helvetica Neue"/>
                <a:ea typeface="Helvetica Neue"/>
                <a:cs typeface="Helvetica Neue"/>
              </a:rPr>
              <a:t>Input: prepared transcript and source IDs</a:t>
            </a:r>
          </a:p>
          <a:p xmlns:a="http://schemas.openxmlformats.org/drawingml/2006/main">
            <a:pPr>
              <a:defRPr sz="1875" b="0">
                <a:solidFill>
                  <a:srgbClr val="142735"/>
                </a:solidFill>
                <a:latin typeface="Helvetica Neue"/>
                <a:ea typeface="Helvetica Neue"/>
                <a:cs typeface="Helvetica Neue"/>
              </a:defRPr>
            </a:pPr>
            <a:r>
              <a:rPr sz="1875" b="0">
                <a:solidFill>
                  <a:srgbClr val="142735"/>
                </a:solidFill>
                <a:latin typeface="Helvetica Neue"/>
                <a:ea typeface="Helvetica Neue"/>
                <a:cs typeface="Helvetica Neue"/>
              </a:rPr>
              <a:t>Exact prompt openings:</a:t>
            </a:r>
          </a:p>
          <a:p xmlns:a="http://schemas.openxmlformats.org/drawingml/2006/main">
            <a:r>
              <a:t/>
            </a:r>
          </a:p>
          <a:p xmlns:a="http://schemas.openxmlformats.org/drawingml/2006/main">
            <a:pPr>
              <a:defRPr sz="1875" b="0">
                <a:solidFill>
                  <a:srgbClr val="142735"/>
                </a:solidFill>
                <a:latin typeface="Helvetica Neue"/>
                <a:ea typeface="Helvetica Neue"/>
                <a:cs typeface="Helvetica Neue"/>
              </a:defRPr>
            </a:pPr>
            <a:r>
              <a:rPr sz="1875" b="0">
                <a:solidFill>
                  <a:srgbClr val="142735"/>
                </a:solidFill>
                <a:latin typeface="Helvetica Neue"/>
                <a:ea typeface="Helvetica Neue"/>
                <a:cs typeface="Helvetica Neue"/>
              </a:rPr>
              <a:t>“Identify distinct substantive meeting topics...”</a:t>
            </a:r>
          </a:p>
          <a:p xmlns:a="http://schemas.openxmlformats.org/drawingml/2006/main">
            <a:pPr>
              <a:defRPr sz="1875" b="0">
                <a:solidFill>
                  <a:srgbClr val="142735"/>
                </a:solidFill>
                <a:latin typeface="Helvetica Neue"/>
                <a:ea typeface="Helvetica Neue"/>
                <a:cs typeface="Helvetica Neue"/>
              </a:defRPr>
            </a:pPr>
            <a:r>
              <a:rPr sz="1875" b="0">
                <a:solidFill>
                  <a:srgbClr val="142735"/>
                </a:solidFill>
                <a:latin typeface="Helvetica Neue"/>
                <a:ea typeface="Helvetica Neue"/>
                <a:cs typeface="Helvetica Neue"/>
              </a:rPr>
              <a:t>“Assign EVERY utterance...”</a:t>
            </a:r>
          </a:p>
          <a:p xmlns:a="http://schemas.openxmlformats.org/drawingml/2006/main">
            <a:pPr>
              <a:defRPr sz="1875" b="0">
                <a:solidFill>
                  <a:srgbClr val="142735"/>
                </a:solidFill>
                <a:latin typeface="Helvetica Neue"/>
                <a:ea typeface="Helvetica Neue"/>
                <a:cs typeface="Helvetica Neue"/>
              </a:defRPr>
            </a:pPr>
            <a:r>
              <a:rPr sz="1875" b="0">
                <a:solidFill>
                  <a:srgbClr val="142735"/>
                </a:solidFill>
                <a:latin typeface="Helvetica Neue"/>
                <a:ea typeface="Helvetica Neue"/>
                <a:cs typeface="Helvetica Neue"/>
              </a:rPr>
              <a:t>“Summarize the topic...”</a:t>
            </a:r>
          </a:p>
          <a:p xmlns:a="http://schemas.openxmlformats.org/drawingml/2006/main">
            <a:pPr>
              <a:defRPr sz="1875" b="0">
                <a:solidFill>
                  <a:srgbClr val="142735"/>
                </a:solidFill>
                <a:latin typeface="Helvetica Neue"/>
                <a:ea typeface="Helvetica Neue"/>
                <a:cs typeface="Helvetica Neue"/>
              </a:defRPr>
            </a:pPr>
            <a:r>
              <a:rPr sz="1875" b="0">
                <a:solidFill>
                  <a:srgbClr val="142735"/>
                </a:solidFill>
                <a:latin typeface="Helvetica Neue"/>
                <a:ea typeface="Helvetica Neue"/>
                <a:cs typeface="Helvetica Neue"/>
              </a:rPr>
              <a:t>“Extract only explicit decisions...”</a:t>
            </a:r>
          </a:p>
        </p:txBody>
      </p:sp>
      <p:sp>
        <p:nvSpPr>
          <p:cNvPr id="8" name="">
            <a:extLst xmlns:a="http://schemas.openxmlformats.org/drawingml/2006/main">
              <a:ext uri="{FF2B5EF4-FFF2-40B4-BE49-F238E27FC236}">
                <a16:creationId xmlns:a16="http://schemas.microsoft.com/office/drawing/2014/main" id="{1B9A5577-7178-408A-AD6B-188E92B5F9A6}"/>
              </a:ext>
            </a:extLst>
          </p:cNvPr>
          <p:cNvSpPr>
            <a:spLocks xmlns:a="http://schemas.openxmlformats.org/drawingml/2006/main" noGrp="1"/>
          </p:cNvSpPr>
          <p:nvPr/>
        </p:nvSpPr>
        <p:spPr>
          <a:xfrm xmlns:a="http://schemas.openxmlformats.org/drawingml/2006/main">
            <a:off x="742950" y="526732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42735"/>
                </a:solidFill>
                <a:latin typeface="Helvetica Neue"/>
                <a:ea typeface="Helvetica Neue"/>
                <a:cs typeface="Helvetica Neue"/>
              </a:defRPr>
            </a:pPr>
            <a:r>
              <a:rPr sz="1950" b="1">
                <a:solidFill>
                  <a:srgbClr val="142735"/>
                </a:solidFill>
                <a:latin typeface="Helvetica Neue"/>
                <a:ea typeface="Helvetica Neue"/>
                <a:cs typeface="Helvetica Neue"/>
              </a:rPr>
              <a:t>Swift builds the reading turns and validates model JSON.</a:t>
            </a:r>
          </a:p>
          <a:p xmlns:a="http://schemas.openxmlformats.org/drawingml/2006/main">
            <a:pPr>
              <a:defRPr sz="1950" b="1">
                <a:solidFill>
                  <a:srgbClr val="142735"/>
                </a:solidFill>
                <a:latin typeface="Helvetica Neue"/>
                <a:ea typeface="Helvetica Neue"/>
                <a:cs typeface="Helvetica Neue"/>
              </a:defRPr>
            </a:pPr>
            <a:r>
              <a:rPr sz="1950" b="1">
                <a:solidFill>
                  <a:srgbClr val="142735"/>
                </a:solidFill>
                <a:latin typeface="Helvetica Neue"/>
                <a:ea typeface="Helvetica Neue"/>
                <a:cs typeface="Helvetica Neue"/>
              </a:rPr>
              <a:t>A person checks uncertain audio, speaker identity and the meaning of draft claims.</a:t>
            </a:r>
          </a:p>
        </p:txBody>
      </p:sp>
      <p:sp>
        <p:nvSpPr>
          <p:cNvPr id="9" name="">
            <a:extLst xmlns:a="http://schemas.openxmlformats.org/drawingml/2006/main">
              <a:ext uri="{FF2B5EF4-FFF2-40B4-BE49-F238E27FC236}">
                <a16:creationId xmlns:a16="http://schemas.microsoft.com/office/drawing/2014/main" id="{7F3E084B-6EC5-4AAB-A96E-DF3217CEC1DA}"/>
              </a:ext>
            </a:extLst>
          </p:cNvPr>
          <p:cNvSpPr>
            <a:spLocks xmlns:a="http://schemas.openxmlformats.org/drawingml/2006/main" noGrp="1"/>
          </p:cNvSpPr>
          <p:nvPr/>
        </p:nvSpPr>
        <p:spPr>
          <a:xfrm xmlns:a="http://schemas.openxmlformats.org/drawingml/2006/main">
            <a:off x="742950" y="62865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85C74"/>
                </a:solidFill>
                <a:latin typeface="Helvetica Neue"/>
                <a:ea typeface="Helvetica Neue"/>
                <a:cs typeface="Helvetica Neue"/>
              </a:defRPr>
            </a:pPr>
            <a:r>
              <a:rPr sz="1575" b="0">
                <a:solidFill>
                  <a:srgbClr val="485C74"/>
                </a:solidFill>
                <a:latin typeface="Helvetica Neue"/>
                <a:ea typeface="Helvetica Neue"/>
                <a:cs typeface="Helvetica Neue"/>
              </a:rPr>
              <a:t>Full prompts and interactions: Sprint 2 implementation record and captured model traces.</a:t>
            </a:r>
          </a:p>
        </p:txBody>
      </p:sp>
    </p:spTree>
    <p:extLst>
      <p:ext uri="{BB962C8B-B14F-4D97-AF65-F5344CB8AC3E}">
        <p14:creationId xmlns:p14="http://schemas.microsoft.com/office/powerpoint/2010/main" val="15651324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1B496E3-1448-490F-8D0B-E8B0D3F5F888}"/>
              </a:ext>
            </a:extLst>
          </p:cNvPr>
          <p:cNvSpPr>
            <a:spLocks xmlns:a="http://schemas.openxmlformats.org/drawingml/2006/main" noGrp="1"/>
          </p:cNvSpPr>
          <p:nvPr/>
        </p:nvSpPr>
        <p:spPr>
          <a:xfrm xmlns:a="http://schemas.openxmlformats.org/drawingml/2006/main">
            <a:off x="666750" y="428625"/>
            <a:ext cx="1085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536"/>
                </a:solidFill>
                <a:latin typeface="Helvetica Neue"/>
                <a:ea typeface="Helvetica Neue"/>
                <a:cs typeface="Helvetica Neue"/>
              </a:defRPr>
            </a:pPr>
            <a:r>
              <a:rPr sz="3150" b="1">
                <a:solidFill>
                  <a:srgbClr val="142536"/>
                </a:solidFill>
                <a:latin typeface="Helvetica Neue"/>
                <a:ea typeface="Helvetica Neue"/>
                <a:cs typeface="Helvetica Neue"/>
              </a:rPr>
              <a:t>The real meeting inputs</a:t>
            </a:r>
          </a:p>
        </p:txBody>
      </p:sp>
      <p:sp>
        <p:nvSpPr>
          <p:cNvPr id="2" name="">
            <a:extLst xmlns:a="http://schemas.openxmlformats.org/drawingml/2006/main">
              <a:ext uri="{FF2B5EF4-FFF2-40B4-BE49-F238E27FC236}">
                <a16:creationId xmlns:a16="http://schemas.microsoft.com/office/drawing/2014/main" id="{4B8B40A0-EA96-4C04-8F13-F1CC204BD5EF}"/>
              </a:ext>
            </a:extLst>
          </p:cNvPr>
          <p:cNvSpPr>
            <a:spLocks xmlns:a="http://schemas.openxmlformats.org/drawingml/2006/main" noGrp="1"/>
          </p:cNvSpPr>
          <p:nvPr/>
        </p:nvSpPr>
        <p:spPr>
          <a:xfrm xmlns:a="http://schemas.openxmlformats.org/drawingml/2006/main">
            <a:off x="790575" y="15525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1662A5"/>
                </a:solidFill>
                <a:latin typeface="Helvetica Neue"/>
                <a:ea typeface="Helvetica Neue"/>
                <a:cs typeface="Helvetica Neue"/>
              </a:defRPr>
            </a:pPr>
            <a:r>
              <a:rPr sz="2325" b="1">
                <a:solidFill>
                  <a:srgbClr val="1662A5"/>
                </a:solidFill>
                <a:latin typeface="Helvetica Neue"/>
                <a:ea typeface="Helvetica Neue"/>
                <a:cs typeface="Helvetica Neue"/>
              </a:rPr>
              <a:t>English: AMI ES2002a</a:t>
            </a:r>
          </a:p>
        </p:txBody>
      </p:sp>
      <p:sp>
        <p:nvSpPr>
          <p:cNvPr id="3" name="">
            <a:extLst xmlns:a="http://schemas.openxmlformats.org/drawingml/2006/main">
              <a:ext uri="{FF2B5EF4-FFF2-40B4-BE49-F238E27FC236}">
                <a16:creationId xmlns:a16="http://schemas.microsoft.com/office/drawing/2014/main" id="{54F268F6-2725-4068-AD33-3BF33A898382}"/>
              </a:ext>
            </a:extLst>
          </p:cNvPr>
          <p:cNvSpPr>
            <a:spLocks xmlns:a="http://schemas.openxmlformats.org/drawingml/2006/main" noGrp="1"/>
          </p:cNvSpPr>
          <p:nvPr/>
        </p:nvSpPr>
        <p:spPr>
          <a:xfrm xmlns:a="http://schemas.openxmlformats.org/drawingml/2006/main">
            <a:off x="790575" y="2114550"/>
            <a:ext cx="10382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42536"/>
                </a:solidFill>
                <a:latin typeface="Helvetica Neue"/>
                <a:ea typeface="Helvetica Neue"/>
                <a:cs typeface="Helvetica Neue"/>
              </a:defRPr>
            </a:pPr>
            <a:r>
              <a:rPr sz="2100" b="0">
                <a:solidFill>
                  <a:srgbClr val="142536"/>
                </a:solidFill>
                <a:latin typeface="Helvetica Neue"/>
                <a:ea typeface="Helvetica Neue"/>
                <a:cs typeface="Helvetica Neue"/>
              </a:rPr>
              <a:t>A multi-person design meeting. One participant wore the headset poorly, giving us a real weak-audio case.</a:t>
            </a:r>
          </a:p>
        </p:txBody>
      </p:sp>
      <p:sp>
        <p:nvSpPr>
          <p:cNvPr id="4" name="">
            <a:extLst xmlns:a="http://schemas.openxmlformats.org/drawingml/2006/main">
              <a:ext uri="{FF2B5EF4-FFF2-40B4-BE49-F238E27FC236}">
                <a16:creationId xmlns:a16="http://schemas.microsoft.com/office/drawing/2014/main" id="{12104901-F9B4-46EF-A601-76261155D483}"/>
              </a:ext>
            </a:extLst>
          </p:cNvPr>
          <p:cNvSpPr>
            <a:spLocks xmlns:a="http://schemas.openxmlformats.org/drawingml/2006/main" noGrp="1"/>
          </p:cNvSpPr>
          <p:nvPr/>
        </p:nvSpPr>
        <p:spPr>
          <a:xfrm xmlns:a="http://schemas.openxmlformats.org/drawingml/2006/main">
            <a:off x="790575" y="3552825"/>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1662A5"/>
                </a:solidFill>
                <a:latin typeface="Helvetica Neue"/>
                <a:ea typeface="Helvetica Neue"/>
                <a:cs typeface="Helvetica Neue"/>
              </a:defRPr>
            </a:pPr>
            <a:r>
              <a:rPr sz="2325" b="1">
                <a:solidFill>
                  <a:srgbClr val="1662A5"/>
                </a:solidFill>
                <a:latin typeface="Helvetica Neue"/>
                <a:ea typeface="Helvetica Neue"/>
                <a:cs typeface="Helvetica Neue"/>
              </a:rPr>
              <a:t>Polish: Sejm committee sitting 39</a:t>
            </a:r>
          </a:p>
        </p:txBody>
      </p:sp>
      <p:sp>
        <p:nvSpPr>
          <p:cNvPr id="5" name="">
            <a:extLst xmlns:a="http://schemas.openxmlformats.org/drawingml/2006/main">
              <a:ext uri="{FF2B5EF4-FFF2-40B4-BE49-F238E27FC236}">
                <a16:creationId xmlns:a16="http://schemas.microsoft.com/office/drawing/2014/main" id="{C90EE64F-B78B-48E6-BEF9-7C5BA8980BAA}"/>
              </a:ext>
            </a:extLst>
          </p:cNvPr>
          <p:cNvSpPr>
            <a:spLocks xmlns:a="http://schemas.openxmlformats.org/drawingml/2006/main" noGrp="1"/>
          </p:cNvSpPr>
          <p:nvPr/>
        </p:nvSpPr>
        <p:spPr>
          <a:xfrm xmlns:a="http://schemas.openxmlformats.org/drawingml/2006/main">
            <a:off x="790575" y="4114800"/>
            <a:ext cx="10382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42536"/>
                </a:solidFill>
                <a:latin typeface="Helvetica Neue"/>
                <a:ea typeface="Helvetica Neue"/>
                <a:cs typeface="Helvetica Neue"/>
              </a:defRPr>
            </a:pPr>
            <a:r>
              <a:rPr sz="2100" b="0">
                <a:solidFill>
                  <a:srgbClr val="142536"/>
                </a:solidFill>
                <a:latin typeface="Helvetica Neue"/>
                <a:ea typeface="Helvetica Neue"/>
                <a:cs typeface="Helvetica Neue"/>
              </a:rPr>
              <a:t>Ten minutes of a public budget discussion, with an official sitting PDF for checking the transcript and decision.</a:t>
            </a:r>
          </a:p>
        </p:txBody>
      </p:sp>
      <p:sp>
        <p:nvSpPr>
          <p:cNvPr id="6" name="">
            <a:extLst xmlns:a="http://schemas.openxmlformats.org/drawingml/2006/main">
              <a:ext uri="{FF2B5EF4-FFF2-40B4-BE49-F238E27FC236}">
                <a16:creationId xmlns:a16="http://schemas.microsoft.com/office/drawing/2014/main" id="{BB945DF8-4759-4B80-B985-33A5A520658B}"/>
              </a:ext>
            </a:extLst>
          </p:cNvPr>
          <p:cNvSpPr>
            <a:spLocks xmlns:a="http://schemas.openxmlformats.org/drawingml/2006/main" noGrp="1"/>
          </p:cNvSpPr>
          <p:nvPr/>
        </p:nvSpPr>
        <p:spPr>
          <a:xfrm xmlns:a="http://schemas.openxmlformats.org/drawingml/2006/main">
            <a:off x="742950" y="6000750"/>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496071"/>
                </a:solidFill>
                <a:latin typeface="Helvetica Neue"/>
                <a:ea typeface="Helvetica Neue"/>
                <a:cs typeface="Helvetica Neue"/>
              </a:defRPr>
            </a:pPr>
            <a:r>
              <a:rPr sz="1575" b="0">
                <a:solidFill>
                  <a:srgbClr val="496071"/>
                </a:solidFill>
                <a:latin typeface="Helvetica Neue"/>
                <a:ea typeface="Helvetica Neue"/>
                <a:cs typeface="Helvetica Neue"/>
              </a:rPr>
              <a:t>The operator starts from a fresh local store. Full audio sources and hashes are in the fixture records.</a:t>
            </a:r>
          </a:p>
        </p:txBody>
      </p:sp>
    </p:spTree>
    <p:extLst>
      <p:ext uri="{BB962C8B-B14F-4D97-AF65-F5344CB8AC3E}">
        <p14:creationId xmlns:p14="http://schemas.microsoft.com/office/powerpoint/2010/main" val="9245420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1AA7B59-2306-4E35-BCC9-D291BCB645E9}"/>
              </a:ext>
            </a:extLst>
          </p:cNvPr>
          <p:cNvSpPr>
            <a:spLocks xmlns:a="http://schemas.openxmlformats.org/drawingml/2006/main" noGrp="1"/>
          </p:cNvSpPr>
          <p:nvPr/>
        </p:nvSpPr>
        <p:spPr>
          <a:xfrm xmlns:a="http://schemas.openxmlformats.org/drawingml/2006/main">
            <a:off x="666750" y="428625"/>
            <a:ext cx="1085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536"/>
                </a:solidFill>
                <a:latin typeface="Helvetica Neue"/>
                <a:ea typeface="Helvetica Neue"/>
                <a:cs typeface="Helvetica Neue"/>
              </a:defRPr>
            </a:pPr>
            <a:r>
              <a:rPr sz="3150" b="1">
                <a:solidFill>
                  <a:srgbClr val="142536"/>
                </a:solidFill>
                <a:latin typeface="Helvetica Neue"/>
                <a:ea typeface="Helvetica Neue"/>
                <a:cs typeface="Helvetica Neue"/>
              </a:rPr>
              <a:t>Polish transcription: meeting content is visible</a:t>
            </a:r>
          </a:p>
        </p:txBody>
      </p:sp>
      <p:sp>
        <p:nvSpPr>
          <p:cNvPr id="2" name="">
            <a:extLst xmlns:a="http://schemas.openxmlformats.org/drawingml/2006/main">
              <a:ext uri="{FF2B5EF4-FFF2-40B4-BE49-F238E27FC236}">
                <a16:creationId xmlns:a16="http://schemas.microsoft.com/office/drawing/2014/main" id="{3446FDC9-29AA-464E-B230-96B9C37BB127}"/>
              </a:ext>
            </a:extLst>
          </p:cNvPr>
          <p:cNvSpPr>
            <a:spLocks xmlns:a="http://schemas.openxmlformats.org/drawingml/2006/main" noGrp="1"/>
          </p:cNvSpPr>
          <p:nvPr/>
        </p:nvSpPr>
        <p:spPr>
          <a:xfrm xmlns:a="http://schemas.openxmlformats.org/drawingml/2006/main">
            <a:off x="790575" y="14763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662A5"/>
                </a:solidFill>
                <a:latin typeface="Helvetica Neue"/>
                <a:ea typeface="Helvetica Neue"/>
                <a:cs typeface="Helvetica Neue"/>
              </a:defRPr>
            </a:pPr>
            <a:r>
              <a:rPr sz="1950" b="1">
                <a:solidFill>
                  <a:srgbClr val="1662A5"/>
                </a:solidFill>
                <a:latin typeface="Helvetica Neue"/>
                <a:ea typeface="Helvetica Neue"/>
                <a:cs typeface="Helvetica Neue"/>
              </a:rPr>
              <a:t>Saved transcript around 181–220 seconds</a:t>
            </a:r>
          </a:p>
        </p:txBody>
      </p:sp>
      <p:sp>
        <p:nvSpPr>
          <p:cNvPr id="3" name="">
            <a:extLst xmlns:a="http://schemas.openxmlformats.org/drawingml/2006/main">
              <a:ext uri="{FF2B5EF4-FFF2-40B4-BE49-F238E27FC236}">
                <a16:creationId xmlns:a16="http://schemas.microsoft.com/office/drawing/2014/main" id="{E438258D-171E-407E-82AC-A2B64E296F51}"/>
              </a:ext>
            </a:extLst>
          </p:cNvPr>
          <p:cNvSpPr>
            <a:spLocks xmlns:a="http://schemas.openxmlformats.org/drawingml/2006/main" noGrp="1"/>
          </p:cNvSpPr>
          <p:nvPr/>
        </p:nvSpPr>
        <p:spPr>
          <a:xfrm xmlns:a="http://schemas.openxmlformats.org/drawingml/2006/main">
            <a:off x="790575" y="2076450"/>
            <a:ext cx="10382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42536"/>
                </a:solidFill>
                <a:latin typeface="Helvetica Neue"/>
                <a:ea typeface="Helvetica Neue"/>
                <a:cs typeface="Helvetica Neue"/>
              </a:defRPr>
            </a:pPr>
            <a:r>
              <a:rPr sz="2325" b="0">
                <a:solidFill>
                  <a:srgbClr val="142536"/>
                </a:solidFill>
                <a:latin typeface="Helvetica Neue"/>
                <a:ea typeface="Helvetica Neue"/>
                <a:cs typeface="Helvetica Neue"/>
              </a:rPr>
              <a:t>“Otwieram posiedzenie Komisji Gospodarki Rozwoju, stwierdzam kworum.”</a:t>
            </a:r>
          </a:p>
        </p:txBody>
      </p:sp>
      <p:sp>
        <p:nvSpPr>
          <p:cNvPr id="4" name="">
            <a:extLst xmlns:a="http://schemas.openxmlformats.org/drawingml/2006/main">
              <a:ext uri="{FF2B5EF4-FFF2-40B4-BE49-F238E27FC236}">
                <a16:creationId xmlns:a16="http://schemas.microsoft.com/office/drawing/2014/main" id="{16FF4F50-F160-4EC9-A74B-85C3B2DF0FE3}"/>
              </a:ext>
            </a:extLst>
          </p:cNvPr>
          <p:cNvSpPr>
            <a:spLocks xmlns:a="http://schemas.openxmlformats.org/drawingml/2006/main" noGrp="1"/>
          </p:cNvSpPr>
          <p:nvPr/>
        </p:nvSpPr>
        <p:spPr>
          <a:xfrm xmlns:a="http://schemas.openxmlformats.org/drawingml/2006/main">
            <a:off x="790575" y="3152775"/>
            <a:ext cx="1038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42536"/>
                </a:solidFill>
                <a:latin typeface="Helvetica Neue"/>
                <a:ea typeface="Helvetica Neue"/>
                <a:cs typeface="Helvetica Neue"/>
              </a:defRPr>
            </a:pPr>
            <a:r>
              <a:rPr sz="2100" b="0">
                <a:solidFill>
                  <a:srgbClr val="142536"/>
                </a:solidFill>
                <a:latin typeface="Helvetica Neue"/>
                <a:ea typeface="Helvetica Neue"/>
                <a:cs typeface="Helvetica Neue"/>
              </a:rPr>
              <a:t>The record then follows the 2025 budget agenda and invites Ignacy Niemczycki to present.</a:t>
            </a:r>
          </a:p>
        </p:txBody>
      </p:sp>
      <p:sp>
        <p:nvSpPr>
          <p:cNvPr id="5" name="">
            <a:extLst xmlns:a="http://schemas.openxmlformats.org/drawingml/2006/main">
              <a:ext uri="{FF2B5EF4-FFF2-40B4-BE49-F238E27FC236}">
                <a16:creationId xmlns:a16="http://schemas.microsoft.com/office/drawing/2014/main" id="{C9EDFE02-951A-4CDA-A2D2-50815A686EDE}"/>
              </a:ext>
            </a:extLst>
          </p:cNvPr>
          <p:cNvSpPr>
            <a:spLocks xmlns:a="http://schemas.openxmlformats.org/drawingml/2006/main" noGrp="1"/>
          </p:cNvSpPr>
          <p:nvPr/>
        </p:nvSpPr>
        <p:spPr>
          <a:xfrm xmlns:a="http://schemas.openxmlformats.org/drawingml/2006/main">
            <a:off x="790575" y="4467225"/>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236952"/>
                </a:solidFill>
                <a:latin typeface="Helvetica Neue"/>
                <a:ea typeface="Helvetica Neue"/>
                <a:cs typeface="Helvetica Neue"/>
              </a:defRPr>
            </a:pPr>
            <a:r>
              <a:rPr sz="2100" b="1">
                <a:solidFill>
                  <a:srgbClr val="236952"/>
                </a:solidFill>
                <a:latin typeface="Helvetica Neue"/>
                <a:ea typeface="Helvetica Neue"/>
                <a:cs typeface="Helvetica Neue"/>
              </a:rPr>
              <a:t>PDF check</a:t>
            </a:r>
          </a:p>
        </p:txBody>
      </p:sp>
      <p:sp>
        <p:nvSpPr>
          <p:cNvPr id="6" name="">
            <a:extLst xmlns:a="http://schemas.openxmlformats.org/drawingml/2006/main">
              <a:ext uri="{FF2B5EF4-FFF2-40B4-BE49-F238E27FC236}">
                <a16:creationId xmlns:a16="http://schemas.microsoft.com/office/drawing/2014/main" id="{9AA5030F-C8C1-4D80-8D65-93E96E89608D}"/>
              </a:ext>
            </a:extLst>
          </p:cNvPr>
          <p:cNvSpPr>
            <a:spLocks xmlns:a="http://schemas.openxmlformats.org/drawingml/2006/main" noGrp="1"/>
          </p:cNvSpPr>
          <p:nvPr/>
        </p:nvSpPr>
        <p:spPr>
          <a:xfrm xmlns:a="http://schemas.openxmlformats.org/drawingml/2006/main">
            <a:off x="790575" y="4962525"/>
            <a:ext cx="10382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42536"/>
                </a:solidFill>
                <a:latin typeface="Helvetica Neue"/>
                <a:ea typeface="Helvetica Neue"/>
                <a:cs typeface="Helvetica Neue"/>
              </a:defRPr>
            </a:pPr>
            <a:r>
              <a:rPr sz="1950" b="0">
                <a:solidFill>
                  <a:srgbClr val="142536"/>
                </a:solidFill>
                <a:latin typeface="Helvetica Neue"/>
                <a:ea typeface="Helvetica Neue"/>
                <a:cs typeface="Helvetica Neue"/>
              </a:rPr>
              <a:t>The main turns and positive-opinion decision are recognizable. Names, acronyms and numerical units still need human correction.</a:t>
            </a:r>
          </a:p>
        </p:txBody>
      </p:sp>
      <p:sp>
        <p:nvSpPr>
          <p:cNvPr id="7" name="">
            <a:extLst xmlns:a="http://schemas.openxmlformats.org/drawingml/2006/main">
              <a:ext uri="{FF2B5EF4-FFF2-40B4-BE49-F238E27FC236}">
                <a16:creationId xmlns:a16="http://schemas.microsoft.com/office/drawing/2014/main" id="{D26E3481-E995-4B73-9A37-05F868616D10}"/>
              </a:ext>
            </a:extLst>
          </p:cNvPr>
          <p:cNvSpPr>
            <a:spLocks xmlns:a="http://schemas.openxmlformats.org/drawingml/2006/main" noGrp="1"/>
          </p:cNvSpPr>
          <p:nvPr/>
        </p:nvSpPr>
        <p:spPr>
          <a:xfrm xmlns:a="http://schemas.openxmlformats.org/drawingml/2006/main">
            <a:off x="742950" y="6000750"/>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496071"/>
                </a:solidFill>
                <a:latin typeface="Helvetica Neue"/>
                <a:ea typeface="Helvetica Neue"/>
                <a:cs typeface="Helvetica Neue"/>
              </a:defRPr>
            </a:pPr>
            <a:r>
              <a:rPr sz="1575" b="0">
                <a:solidFill>
                  <a:srgbClr val="496071"/>
                </a:solidFill>
                <a:latin typeface="Helvetica Neue"/>
                <a:ea typeface="Helvetica Neue"/>
                <a:cs typeface="Helvetica Neue"/>
              </a:rPr>
              <a:t>This is a usable review transcript, not an authoritative verbatim record.</a:t>
            </a:r>
          </a:p>
        </p:txBody>
      </p:sp>
    </p:spTree>
    <p:extLst>
      <p:ext uri="{BB962C8B-B14F-4D97-AF65-F5344CB8AC3E}">
        <p14:creationId xmlns:p14="http://schemas.microsoft.com/office/powerpoint/2010/main" val="37994520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BB63852-797E-4298-A870-4B5409C095C9}"/>
              </a:ext>
            </a:extLst>
          </p:cNvPr>
          <p:cNvSpPr>
            <a:spLocks xmlns:a="http://schemas.openxmlformats.org/drawingml/2006/main" noGrp="1"/>
          </p:cNvSpPr>
          <p:nvPr/>
        </p:nvSpPr>
        <p:spPr>
          <a:xfrm xmlns:a="http://schemas.openxmlformats.org/drawingml/2006/main">
            <a:off x="666750" y="428625"/>
            <a:ext cx="1085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536"/>
                </a:solidFill>
                <a:latin typeface="Helvetica Neue"/>
                <a:ea typeface="Helvetica Neue"/>
                <a:cs typeface="Helvetica Neue"/>
              </a:defRPr>
            </a:pPr>
            <a:r>
              <a:rPr sz="3150" b="1">
                <a:solidFill>
                  <a:srgbClr val="142536"/>
                </a:solidFill>
                <a:latin typeface="Helvetica Neue"/>
                <a:ea typeface="Helvetica Neue"/>
                <a:cs typeface="Helvetica Neue"/>
              </a:rPr>
              <a:t>Weak audio leads to a specific source range</a:t>
            </a:r>
          </a:p>
        </p:txBody>
      </p:sp>
      <p:sp>
        <p:nvSpPr>
          <p:cNvPr id="2" name="">
            <a:extLst xmlns:a="http://schemas.openxmlformats.org/drawingml/2006/main">
              <a:ext uri="{FF2B5EF4-FFF2-40B4-BE49-F238E27FC236}">
                <a16:creationId xmlns:a16="http://schemas.microsoft.com/office/drawing/2014/main" id="{4AABB58D-8707-404B-B889-D951E1BE5A34}"/>
              </a:ext>
            </a:extLst>
          </p:cNvPr>
          <p:cNvSpPr>
            <a:spLocks xmlns:a="http://schemas.openxmlformats.org/drawingml/2006/main" noGrp="1"/>
          </p:cNvSpPr>
          <p:nvPr/>
        </p:nvSpPr>
        <p:spPr>
          <a:xfrm xmlns:a="http://schemas.openxmlformats.org/drawingml/2006/main">
            <a:off x="790575" y="1466850"/>
            <a:ext cx="1038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662A5"/>
                </a:solidFill>
                <a:latin typeface="Helvetica Neue"/>
                <a:ea typeface="Helvetica Neue"/>
                <a:cs typeface="Helvetica Neue"/>
              </a:defRPr>
            </a:pPr>
            <a:r>
              <a:rPr sz="2025" b="1">
                <a:solidFill>
                  <a:srgbClr val="1662A5"/>
                </a:solidFill>
                <a:latin typeface="Helvetica Neue"/>
                <a:ea typeface="Helvetica Neue"/>
                <a:cs typeface="Helvetica Neue"/>
              </a:rPr>
              <a:t>Saved warning</a:t>
            </a:r>
          </a:p>
        </p:txBody>
      </p:sp>
      <p:sp>
        <p:nvSpPr>
          <p:cNvPr id="3" name="">
            <a:extLst xmlns:a="http://schemas.openxmlformats.org/drawingml/2006/main">
              <a:ext uri="{FF2B5EF4-FFF2-40B4-BE49-F238E27FC236}">
                <a16:creationId xmlns:a16="http://schemas.microsoft.com/office/drawing/2014/main" id="{1A91D9FC-B933-440E-8A02-9765E16B59F0}"/>
              </a:ext>
            </a:extLst>
          </p:cNvPr>
          <p:cNvSpPr>
            <a:spLocks xmlns:a="http://schemas.openxmlformats.org/drawingml/2006/main" noGrp="1"/>
          </p:cNvSpPr>
          <p:nvPr/>
        </p:nvSpPr>
        <p:spPr>
          <a:xfrm xmlns:a="http://schemas.openxmlformats.org/drawingml/2006/main">
            <a:off x="790575" y="20478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142536"/>
                </a:solidFill>
                <a:latin typeface="Helvetica Neue"/>
                <a:ea typeface="Helvetica Neue"/>
                <a:cs typeface="Helvetica Neue"/>
              </a:defRPr>
            </a:pPr>
            <a:r>
              <a:rPr sz="2550" b="1">
                <a:solidFill>
                  <a:srgbClr val="142536"/>
                </a:solidFill>
                <a:latin typeface="Helvetica Neue"/>
                <a:ea typeface="Helvetica Neue"/>
                <a:cs typeface="Helvetica Neue"/>
              </a:rPr>
              <a:t>Speaker cluster S3 · 19.32–20.36 seconds</a:t>
            </a:r>
          </a:p>
        </p:txBody>
      </p:sp>
      <p:sp>
        <p:nvSpPr>
          <p:cNvPr id="4" name="">
            <a:extLst xmlns:a="http://schemas.openxmlformats.org/drawingml/2006/main">
              <a:ext uri="{FF2B5EF4-FFF2-40B4-BE49-F238E27FC236}">
                <a16:creationId xmlns:a16="http://schemas.microsoft.com/office/drawing/2014/main" id="{D6D37B8E-6DF6-4BF6-8F8E-E2EC6CC6C247}"/>
              </a:ext>
            </a:extLst>
          </p:cNvPr>
          <p:cNvSpPr>
            <a:spLocks xmlns:a="http://schemas.openxmlformats.org/drawingml/2006/main" noGrp="1"/>
          </p:cNvSpPr>
          <p:nvPr/>
        </p:nvSpPr>
        <p:spPr>
          <a:xfrm xmlns:a="http://schemas.openxmlformats.org/drawingml/2006/main">
            <a:off x="790575" y="2752725"/>
            <a:ext cx="10382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42536"/>
                </a:solidFill>
                <a:latin typeface="Helvetica Neue"/>
                <a:ea typeface="Helvetica Neue"/>
                <a:cs typeface="Helvetica Neue"/>
              </a:defRPr>
            </a:pPr>
            <a:r>
              <a:rPr sz="2175" b="0">
                <a:solidFill>
                  <a:srgbClr val="142536"/>
                </a:solidFill>
                <a:latin typeface="Helvetica Neue"/>
                <a:ea typeface="Helvetica Neue"/>
                <a:cs typeface="Helvetica Neue"/>
              </a:rPr>
              <a:t>“Low speech level relative to other detected speakers; review source audio”</a:t>
            </a:r>
          </a:p>
        </p:txBody>
      </p:sp>
      <p:sp>
        <p:nvSpPr>
          <p:cNvPr id="5" name="">
            <a:extLst xmlns:a="http://schemas.openxmlformats.org/drawingml/2006/main">
              <a:ext uri="{FF2B5EF4-FFF2-40B4-BE49-F238E27FC236}">
                <a16:creationId xmlns:a16="http://schemas.microsoft.com/office/drawing/2014/main" id="{B5F80A3F-B00A-4B60-AA6B-76C227148A55}"/>
              </a:ext>
            </a:extLst>
          </p:cNvPr>
          <p:cNvSpPr>
            <a:spLocks xmlns:a="http://schemas.openxmlformats.org/drawingml/2006/main" noGrp="1"/>
          </p:cNvSpPr>
          <p:nvPr/>
        </p:nvSpPr>
        <p:spPr>
          <a:xfrm xmlns:a="http://schemas.openxmlformats.org/drawingml/2006/main">
            <a:off x="790575" y="4171950"/>
            <a:ext cx="1038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662A5"/>
                </a:solidFill>
                <a:latin typeface="Helvetica Neue"/>
                <a:ea typeface="Helvetica Neue"/>
                <a:cs typeface="Helvetica Neue"/>
              </a:defRPr>
            </a:pPr>
            <a:r>
              <a:rPr sz="2025" b="1">
                <a:solidFill>
                  <a:srgbClr val="1662A5"/>
                </a:solidFill>
                <a:latin typeface="Helvetica Neue"/>
                <a:ea typeface="Helvetica Neue"/>
                <a:cs typeface="Helvetica Neue"/>
              </a:rPr>
              <a:t>Nearby saved transcript</a:t>
            </a:r>
          </a:p>
        </p:txBody>
      </p:sp>
      <p:sp>
        <p:nvSpPr>
          <p:cNvPr id="6" name="">
            <a:extLst xmlns:a="http://schemas.openxmlformats.org/drawingml/2006/main">
              <a:ext uri="{FF2B5EF4-FFF2-40B4-BE49-F238E27FC236}">
                <a16:creationId xmlns:a16="http://schemas.microsoft.com/office/drawing/2014/main" id="{FB3237AB-1245-443A-B253-3E463535B152}"/>
              </a:ext>
            </a:extLst>
          </p:cNvPr>
          <p:cNvSpPr>
            <a:spLocks xmlns:a="http://schemas.openxmlformats.org/drawingml/2006/main" noGrp="1"/>
          </p:cNvSpPr>
          <p:nvPr/>
        </p:nvSpPr>
        <p:spPr>
          <a:xfrm xmlns:a="http://schemas.openxmlformats.org/drawingml/2006/main">
            <a:off x="790575" y="4695825"/>
            <a:ext cx="103822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42536"/>
                </a:solidFill>
                <a:latin typeface="Helvetica Neue"/>
                <a:ea typeface="Helvetica Neue"/>
                <a:cs typeface="Helvetica Neue"/>
              </a:defRPr>
            </a:pPr>
            <a:r>
              <a:rPr sz="2175" b="0">
                <a:solidFill>
                  <a:srgbClr val="142536"/>
                </a:solidFill>
                <a:latin typeface="Helvetica Neue"/>
                <a:ea typeface="Helvetica Neue"/>
                <a:cs typeface="Helvetica Neue"/>
              </a:rPr>
              <a:t>“…how do you make this thing work? Maybe then… sorry.”</a:t>
            </a:r>
          </a:p>
        </p:txBody>
      </p:sp>
      <p:sp>
        <p:nvSpPr>
          <p:cNvPr id="7" name="">
            <a:extLst xmlns:a="http://schemas.openxmlformats.org/drawingml/2006/main">
              <a:ext uri="{FF2B5EF4-FFF2-40B4-BE49-F238E27FC236}">
                <a16:creationId xmlns:a16="http://schemas.microsoft.com/office/drawing/2014/main" id="{79E30374-1452-474E-832E-DEDCB6726B72}"/>
              </a:ext>
            </a:extLst>
          </p:cNvPr>
          <p:cNvSpPr>
            <a:spLocks xmlns:a="http://schemas.openxmlformats.org/drawingml/2006/main" noGrp="1"/>
          </p:cNvSpPr>
          <p:nvPr/>
        </p:nvSpPr>
        <p:spPr>
          <a:xfrm xmlns:a="http://schemas.openxmlformats.org/drawingml/2006/main">
            <a:off x="742950" y="6000750"/>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A73535"/>
                </a:solidFill>
                <a:latin typeface="Helvetica Neue"/>
                <a:ea typeface="Helvetica Neue"/>
                <a:cs typeface="Helvetica Neue"/>
              </a:defRPr>
            </a:pPr>
            <a:r>
              <a:rPr sz="1575" b="0">
                <a:solidFill>
                  <a:srgbClr val="A73535"/>
                </a:solidFill>
                <a:latin typeface="Helvetica Neue"/>
                <a:ea typeface="Helvetica Neue"/>
                <a:cs typeface="Helvetica Neue"/>
              </a:rPr>
              <a:t>Review the source audio at this range. S3 merges two reference people, so it cannot identify the affected person.</a:t>
            </a:r>
          </a:p>
        </p:txBody>
      </p:sp>
    </p:spTree>
    <p:extLst>
      <p:ext uri="{BB962C8B-B14F-4D97-AF65-F5344CB8AC3E}">
        <p14:creationId xmlns:p14="http://schemas.microsoft.com/office/powerpoint/2010/main" val="15645387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C27CC40-EB9C-4733-96A8-D3DF5FDE671B}"/>
              </a:ext>
            </a:extLst>
          </p:cNvPr>
          <p:cNvSpPr>
            <a:spLocks xmlns:a="http://schemas.openxmlformats.org/drawingml/2006/main" noGrp="1"/>
          </p:cNvSpPr>
          <p:nvPr/>
        </p:nvSpPr>
        <p:spPr>
          <a:xfrm xmlns:a="http://schemas.openxmlformats.org/drawingml/2006/main">
            <a:off x="666750" y="45720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142735"/>
                </a:solidFill>
                <a:latin typeface="Helvetica Neue"/>
                <a:ea typeface="Helvetica Neue"/>
                <a:cs typeface="Helvetica Neue"/>
              </a:defRPr>
            </a:pPr>
            <a:r>
              <a:rPr sz="3000" b="1">
                <a:solidFill>
                  <a:srgbClr val="142735"/>
                </a:solidFill>
                <a:latin typeface="Helvetica Neue"/>
                <a:ea typeface="Helvetica Neue"/>
                <a:cs typeface="Helvetica Neue"/>
              </a:rPr>
              <a:t>Operator review: a real Polish source range</a:t>
            </a:r>
          </a:p>
        </p:txBody>
      </p:sp>
      <p:sp>
        <p:nvSpPr>
          <p:cNvPr id="2" name="">
            <a:extLst xmlns:a="http://schemas.openxmlformats.org/drawingml/2006/main">
              <a:ext uri="{FF2B5EF4-FFF2-40B4-BE49-F238E27FC236}">
                <a16:creationId xmlns:a16="http://schemas.microsoft.com/office/drawing/2014/main" id="{A240A51D-6FE3-423D-89BF-33FDDF442AF9}"/>
              </a:ext>
            </a:extLst>
          </p:cNvPr>
          <p:cNvSpPr>
            <a:spLocks xmlns:a="http://schemas.openxmlformats.org/drawingml/2006/main" noGrp="1"/>
          </p:cNvSpPr>
          <p:nvPr/>
        </p:nvSpPr>
        <p:spPr>
          <a:xfrm xmlns:a="http://schemas.openxmlformats.org/drawingml/2006/main">
            <a:off x="714375" y="1190625"/>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475569"/>
                </a:solidFill>
                <a:latin typeface="Helvetica Neue"/>
                <a:ea typeface="Helvetica Neue"/>
                <a:cs typeface="Helvetica Neue"/>
              </a:defRPr>
            </a:pPr>
            <a:r>
              <a:rPr sz="1650" b="0">
                <a:solidFill>
                  <a:srgbClr val="475569"/>
                </a:solidFill>
                <a:latin typeface="Helvetica Neue"/>
                <a:ea typeface="Helvetica Neue"/>
                <a:cs typeface="Helvetica Neue"/>
              </a:rPr>
              <a:t>Sejm record • 565.36–569.04 seconds</a:t>
            </a:r>
          </a:p>
        </p:txBody>
      </p:sp>
      <p:sp>
        <p:nvSpPr>
          <p:cNvPr id="3" name="">
            <a:extLst xmlns:a="http://schemas.openxmlformats.org/drawingml/2006/main">
              <a:ext uri="{FF2B5EF4-FFF2-40B4-BE49-F238E27FC236}">
                <a16:creationId xmlns:a16="http://schemas.microsoft.com/office/drawing/2014/main" id="{641F0985-9671-4396-98F7-9AE69FD9E1F0}"/>
              </a:ext>
            </a:extLst>
          </p:cNvPr>
          <p:cNvSpPr>
            <a:spLocks xmlns:a="http://schemas.openxmlformats.org/drawingml/2006/main" noGrp="1"/>
          </p:cNvSpPr>
          <p:nvPr/>
        </p:nvSpPr>
        <p:spPr>
          <a:xfrm xmlns:a="http://schemas.openxmlformats.org/drawingml/2006/main">
            <a:off x="714375" y="2047875"/>
            <a:ext cx="4953000" cy="2238375"/>
          </a:xfrm>
          <a:prstGeom xmlns:a="http://schemas.openxmlformats.org/drawingml/2006/main" prst="roundRect">
            <a:avLst>
              <a:gd name="adj" fmla="val 3404"/>
            </a:avLst>
          </a:prstGeom>
          <a:solidFill xmlns:a="http://schemas.openxmlformats.org/drawingml/2006/main">
            <a:srgbClr val="F1F5F9"/>
          </a:solidFill>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BFEBE233-8C19-4A23-9B21-3F5B312AF1B3}"/>
              </a:ext>
            </a:extLst>
          </p:cNvPr>
          <p:cNvSpPr>
            <a:spLocks xmlns:a="http://schemas.openxmlformats.org/drawingml/2006/main" noGrp="1"/>
          </p:cNvSpPr>
          <p:nvPr/>
        </p:nvSpPr>
        <p:spPr>
          <a:xfrm xmlns:a="http://schemas.openxmlformats.org/drawingml/2006/main">
            <a:off x="885825" y="2219325"/>
            <a:ext cx="4610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142735"/>
                </a:solidFill>
                <a:latin typeface="Helvetica Neue"/>
                <a:ea typeface="Helvetica Neue"/>
                <a:cs typeface="Helvetica Neue"/>
              </a:defRPr>
            </a:pPr>
            <a:r>
              <a:rPr sz="1725" b="1">
                <a:solidFill>
                  <a:srgbClr val="142735"/>
                </a:solidFill>
                <a:latin typeface="Helvetica Neue"/>
                <a:ea typeface="Helvetica Neue"/>
                <a:cs typeface="Helvetica Neue"/>
              </a:rPr>
              <a:t>Original saved ASR</a:t>
            </a:r>
          </a:p>
        </p:txBody>
      </p:sp>
      <p:sp>
        <p:nvSpPr>
          <p:cNvPr id="5" name="">
            <a:extLst xmlns:a="http://schemas.openxmlformats.org/drawingml/2006/main">
              <a:ext uri="{FF2B5EF4-FFF2-40B4-BE49-F238E27FC236}">
                <a16:creationId xmlns:a16="http://schemas.microsoft.com/office/drawing/2014/main" id="{2F27265A-08E8-4705-9E7D-B6D7838B97D4}"/>
              </a:ext>
            </a:extLst>
          </p:cNvPr>
          <p:cNvSpPr>
            <a:spLocks xmlns:a="http://schemas.openxmlformats.org/drawingml/2006/main" noGrp="1"/>
          </p:cNvSpPr>
          <p:nvPr/>
        </p:nvSpPr>
        <p:spPr>
          <a:xfrm xmlns:a="http://schemas.openxmlformats.org/drawingml/2006/main">
            <a:off x="885825" y="2790825"/>
            <a:ext cx="46101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segment_758–761 · Unassigned</a:t>
            </a:r>
          </a:p>
          <a:p xmlns:a="http://schemas.openxmlformats.org/drawingml/2006/main">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“przedstawienie tej tego budżetu”</a:t>
            </a:r>
          </a:p>
          <a:p xmlns:a="http://schemas.openxmlformats.org/drawingml/2006/main">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Original IDs, times and labels remain saved.</a:t>
            </a:r>
          </a:p>
        </p:txBody>
      </p:sp>
      <p:sp>
        <p:nvSpPr>
          <p:cNvPr id="6" name="">
            <a:extLst xmlns:a="http://schemas.openxmlformats.org/drawingml/2006/main">
              <a:ext uri="{FF2B5EF4-FFF2-40B4-BE49-F238E27FC236}">
                <a16:creationId xmlns:a16="http://schemas.microsoft.com/office/drawing/2014/main" id="{8E8F9522-2AC7-4A3A-9F57-B102D68BF5BA}"/>
              </a:ext>
            </a:extLst>
          </p:cNvPr>
          <p:cNvSpPr>
            <a:spLocks xmlns:a="http://schemas.openxmlformats.org/drawingml/2006/main" noGrp="1"/>
          </p:cNvSpPr>
          <p:nvPr/>
        </p:nvSpPr>
        <p:spPr>
          <a:xfrm xmlns:a="http://schemas.openxmlformats.org/drawingml/2006/main">
            <a:off x="5867400" y="2762250"/>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769AA"/>
                </a:solidFill>
                <a:latin typeface="Helvetica Neue"/>
                <a:ea typeface="Helvetica Neue"/>
                <a:cs typeface="Helvetica Neue"/>
              </a:defRPr>
            </a:pPr>
            <a:r>
              <a:rPr sz="3150" b="1">
                <a:solidFill>
                  <a:srgbClr val="1769AA"/>
                </a:solidFill>
                <a:latin typeface="Helvetica Neue"/>
                <a:ea typeface="Helvetica Neue"/>
                <a:cs typeface="Helvetica Neue"/>
              </a:rPr>
              <a:t>→</a:t>
            </a:r>
          </a:p>
        </p:txBody>
      </p:sp>
      <p:sp>
        <p:nvSpPr>
          <p:cNvPr id="7" name="">
            <a:extLst xmlns:a="http://schemas.openxmlformats.org/drawingml/2006/main">
              <a:ext uri="{FF2B5EF4-FFF2-40B4-BE49-F238E27FC236}">
                <a16:creationId xmlns:a16="http://schemas.microsoft.com/office/drawing/2014/main" id="{DA6DD64D-3AED-4F11-B653-223BEB4AF2CE}"/>
              </a:ext>
            </a:extLst>
          </p:cNvPr>
          <p:cNvSpPr>
            <a:spLocks xmlns:a="http://schemas.openxmlformats.org/drawingml/2006/main" noGrp="1"/>
          </p:cNvSpPr>
          <p:nvPr/>
        </p:nvSpPr>
        <p:spPr>
          <a:xfrm xmlns:a="http://schemas.openxmlformats.org/drawingml/2006/main">
            <a:off x="6524625" y="2047875"/>
            <a:ext cx="4953000" cy="2238375"/>
          </a:xfrm>
          <a:prstGeom xmlns:a="http://schemas.openxmlformats.org/drawingml/2006/main" prst="roundRect">
            <a:avLst>
              <a:gd name="adj" fmla="val 3404"/>
            </a:avLst>
          </a:prstGeom>
          <a:solidFill xmlns:a="http://schemas.openxmlformats.org/drawingml/2006/main">
            <a:srgbClr val="EFF6FF"/>
          </a:solidFill>
          <a:ln xmlns:a="http://schemas.openxmlformats.org/drawingml/2006/main" w="9525">
            <a:solidFill>
              <a:srgbClr val="CBD5E1"/>
            </a:solidFill>
          </a:ln>
        </p:spPr>
      </p:sp>
      <p:sp>
        <p:nvSpPr>
          <p:cNvPr id="8" name="">
            <a:extLst xmlns:a="http://schemas.openxmlformats.org/drawingml/2006/main">
              <a:ext uri="{FF2B5EF4-FFF2-40B4-BE49-F238E27FC236}">
                <a16:creationId xmlns:a16="http://schemas.microsoft.com/office/drawing/2014/main" id="{6A86D219-848C-4257-BC8D-23094AE59111}"/>
              </a:ext>
            </a:extLst>
          </p:cNvPr>
          <p:cNvSpPr>
            <a:spLocks xmlns:a="http://schemas.openxmlformats.org/drawingml/2006/main" noGrp="1"/>
          </p:cNvSpPr>
          <p:nvPr/>
        </p:nvSpPr>
        <p:spPr>
          <a:xfrm xmlns:a="http://schemas.openxmlformats.org/drawingml/2006/main">
            <a:off x="6696075" y="2219325"/>
            <a:ext cx="4610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142735"/>
                </a:solidFill>
                <a:latin typeface="Helvetica Neue"/>
                <a:ea typeface="Helvetica Neue"/>
                <a:cs typeface="Helvetica Neue"/>
              </a:defRPr>
            </a:pPr>
            <a:r>
              <a:rPr sz="1725" b="1">
                <a:solidFill>
                  <a:srgbClr val="142735"/>
                </a:solidFill>
                <a:latin typeface="Helvetica Neue"/>
                <a:ea typeface="Helvetica Neue"/>
                <a:cs typeface="Helvetica Neue"/>
              </a:rPr>
              <a:t>Reading-view proposal</a:t>
            </a:r>
          </a:p>
        </p:txBody>
      </p:sp>
      <p:sp>
        <p:nvSpPr>
          <p:cNvPr id="9" name="">
            <a:extLst xmlns:a="http://schemas.openxmlformats.org/drawingml/2006/main">
              <a:ext uri="{FF2B5EF4-FFF2-40B4-BE49-F238E27FC236}">
                <a16:creationId xmlns:a16="http://schemas.microsoft.com/office/drawing/2014/main" id="{22FFFFB4-7980-407A-91A3-345927398F46}"/>
              </a:ext>
            </a:extLst>
          </p:cNvPr>
          <p:cNvSpPr>
            <a:spLocks xmlns:a="http://schemas.openxmlformats.org/drawingml/2006/main" noGrp="1"/>
          </p:cNvSpPr>
          <p:nvPr/>
        </p:nvSpPr>
        <p:spPr>
          <a:xfrm xmlns:a="http://schemas.openxmlformats.org/drawingml/2006/main">
            <a:off x="6696075" y="2790825"/>
            <a:ext cx="46101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utt_30 · proposed S1 continuation</a:t>
            </a:r>
          </a:p>
          <a:p xmlns:a="http://schemas.openxmlformats.org/drawingml/2006/main">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Joined to the preceding chair turn</a:t>
            </a:r>
          </a:p>
          <a:p xmlns:a="http://schemas.openxmlformats.org/drawingml/2006/main">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16 joins proposed; 32 utterances formed.</a:t>
            </a:r>
          </a:p>
        </p:txBody>
      </p:sp>
      <p:sp>
        <p:nvSpPr>
          <p:cNvPr id="10" name="">
            <a:extLst xmlns:a="http://schemas.openxmlformats.org/drawingml/2006/main">
              <a:ext uri="{FF2B5EF4-FFF2-40B4-BE49-F238E27FC236}">
                <a16:creationId xmlns:a16="http://schemas.microsoft.com/office/drawing/2014/main" id="{15911C0D-7770-42AC-AE3F-E4589F0A90D7}"/>
              </a:ext>
            </a:extLst>
          </p:cNvPr>
          <p:cNvSpPr>
            <a:spLocks xmlns:a="http://schemas.openxmlformats.org/drawingml/2006/main" noGrp="1"/>
          </p:cNvSpPr>
          <p:nvPr/>
        </p:nvSpPr>
        <p:spPr>
          <a:xfrm xmlns:a="http://schemas.openxmlformats.org/drawingml/2006/main">
            <a:off x="714375" y="4810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142735"/>
                </a:solidFill>
                <a:latin typeface="Helvetica Neue"/>
                <a:ea typeface="Helvetica Neue"/>
                <a:cs typeface="Helvetica Neue"/>
              </a:defRPr>
            </a:pPr>
            <a:r>
              <a:rPr sz="1800" b="1">
                <a:solidFill>
                  <a:srgbClr val="142735"/>
                </a:solidFill>
                <a:latin typeface="Helvetica Neue"/>
                <a:ea typeface="Helvetica Neue"/>
                <a:cs typeface="Helvetica Neue"/>
              </a:rPr>
              <a:t>The join is based on timing and neighboring labels. Listen to both turns before accepting speaker continuity.</a:t>
            </a:r>
          </a:p>
        </p:txBody>
      </p:sp>
      <p:sp>
        <p:nvSpPr>
          <p:cNvPr id="11" name="">
            <a:extLst xmlns:a="http://schemas.openxmlformats.org/drawingml/2006/main">
              <a:ext uri="{FF2B5EF4-FFF2-40B4-BE49-F238E27FC236}">
                <a16:creationId xmlns:a16="http://schemas.microsoft.com/office/drawing/2014/main" id="{9F0CA640-A6C5-4841-94C7-55EC892DD75B}"/>
              </a:ext>
            </a:extLst>
          </p:cNvPr>
          <p:cNvSpPr>
            <a:spLocks xmlns:a="http://schemas.openxmlformats.org/drawingml/2006/main" noGrp="1"/>
          </p:cNvSpPr>
          <p:nvPr/>
        </p:nvSpPr>
        <p:spPr>
          <a:xfrm xmlns:a="http://schemas.openxmlformats.org/drawingml/2006/main">
            <a:off x="714375" y="60388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475569"/>
                </a:solidFill>
                <a:latin typeface="Helvetica Neue"/>
                <a:ea typeface="Helvetica Neue"/>
                <a:cs typeface="Helvetica Neue"/>
              </a:defRPr>
            </a:pPr>
            <a:r>
              <a:rPr sz="1200" b="0">
                <a:solidFill>
                  <a:srgbClr val="475569"/>
                </a:solidFill>
                <a:latin typeface="Helvetica Neue"/>
                <a:ea typeface="Helvetica Neue"/>
                <a:cs typeface="Helvetica Neue"/>
              </a:rPr>
              <a:t>Actual CLI output: tests/operator_cleanup_rehearsal_20261004.json. No audio-confirmed edit was saved.</a:t>
            </a:r>
          </a:p>
        </p:txBody>
      </p:sp>
    </p:spTree>
    <p:extLst>
      <p:ext uri="{BB962C8B-B14F-4D97-AF65-F5344CB8AC3E}">
        <p14:creationId xmlns:p14="http://schemas.microsoft.com/office/powerpoint/2010/main" val="637452037"/>
      </p:ext>
    </p:extLst>
  </p:cSld>
</p:sld>
</file>

<file path=ppt/slides/slide9.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p:grpSpPr>
      <p:sp>
        <p:nvSpPr>
          <p:cNvPr id="13" name="">
            <a:extLst>
              <a:ext uri="{FF2B5EF4-FFF2-40B4-BE49-F238E27FC236}">
                <ns2:creationId id="{812D9ADC-4857-4C62-9B3F-4552FB8BFD3D}"/>
              </a:ext>
            </a:extLst>
          </p:cNvPr>
          <p:cNvSpPr>
            <a:spLocks noGrp="1"/>
          </p:cNvSpPr>
          <p:nvPr/>
        </p:nvSpPr>
        <p:spPr>
          <a:xfrm>
            <a:off x="666750" y="457200"/>
            <a:ext cx="10858500" cy="619125"/>
          </a:xfrm>
          <a:prstGeom prst="rect">
            <a:avLst/>
          </a:prstGeom>
          <a:noFill/>
          <a:ln w="0">
            <a:noFill/>
          </a:ln>
        </p:spPr>
        <p:txBody>
          <a:bodyPr>
            <a:noAutofit/>
          </a:bodyPr>
          <a:lstStyle/>
          <a:p>
            <a:pPr>
              <a:buNone/>
              <a:defRPr sz="3000" b="1">
                <a:solidFill>
                  <a:srgbClr val="142735"/>
                </a:solidFill>
                <a:latin typeface="Helvetica Neue"/>
                <a:ea typeface="Helvetica Neue"/>
                <a:cs typeface="Helvetica Neue"/>
              </a:defRPr>
            </a:pPr>
            <a:r>
              <a:rPr sz="3000" b="1">
                <a:solidFill>
                  <a:srgbClr val="142735"/>
                </a:solidFill>
                <a:latin typeface="Helvetica Neue"/>
                <a:ea typeface="Helvetica Neue"/>
                <a:cs typeface="Helvetica Neue"/>
              </a:rPr>
              <a:t>Follow audio, select text, correct a phrase</a:t>
            </a:r>
          </a:p>
        </p:txBody>
      </p:sp>
      <p:sp>
        <p:nvSpPr>
          <p:cNvPr id="2" name="">
            <a:extLst>
              <a:ext uri="{FF2B5EF4-FFF2-40B4-BE49-F238E27FC236}">
                <ns2:creationId id="{5BBA90F0-40A8-46B1-95C8-CC6A9811DAA7}"/>
              </a:ext>
            </a:extLst>
          </p:cNvPr>
          <p:cNvSpPr>
            <a:spLocks noGrp="1"/>
          </p:cNvSpPr>
          <p:nvPr/>
        </p:nvSpPr>
        <p:spPr>
          <a:xfrm>
            <a:off x="714375" y="1619250"/>
            <a:ext cx="3286125" cy="2809875"/>
          </a:xfrm>
          <a:prstGeom prst="roundRect">
            <a:avLst>
              <a:gd name="adj" fmla="val 2712"/>
            </a:avLst>
          </a:prstGeom>
          <a:solidFill>
            <a:srgbClr val="F1F5F9"/>
          </a:solidFill>
          <a:ln w="9525">
            <a:solidFill>
              <a:srgbClr val="CBD5E1"/>
            </a:solidFill>
          </a:ln>
        </p:spPr>
      </p:sp>
      <p:sp>
        <p:nvSpPr>
          <p:cNvPr id="3" name="">
            <a:extLst>
              <a:ext uri="{FF2B5EF4-FFF2-40B4-BE49-F238E27FC236}">
                <ns2:creationId id="{0E373779-75B6-478A-AE79-19346E1D6F20}"/>
              </a:ext>
            </a:extLst>
          </p:cNvPr>
          <p:cNvSpPr>
            <a:spLocks noGrp="1"/>
          </p:cNvSpPr>
          <p:nvPr/>
        </p:nvSpPr>
        <p:spPr>
          <a:xfrm>
            <a:off x="885825" y="1790700"/>
            <a:ext cx="2943225" cy="400050"/>
          </a:xfrm>
          <a:prstGeom prst="rect">
            <a:avLst/>
          </a:prstGeom>
          <a:noFill/>
          <a:ln w="0">
            <a:noFill/>
          </a:ln>
        </p:spPr>
        <p:txBody>
          <a:bodyPr>
            <a:noAutofit/>
          </a:bodyPr>
          <a:lstStyle/>
          <a:p>
            <a:pPr>
              <a:buNone/>
              <a:defRPr sz="1725" b="1">
                <a:solidFill>
                  <a:srgbClr val="142735"/>
                </a:solidFill>
                <a:latin typeface="Helvetica Neue"/>
                <a:ea typeface="Helvetica Neue"/>
                <a:cs typeface="Helvetica Neue"/>
              </a:defRPr>
            </a:pPr>
            <a:r>
              <a:rPr sz="1725" b="1">
                <a:solidFill>
                  <a:srgbClr val="142735"/>
                </a:solidFill>
                <a:latin typeface="Helvetica Neue"/>
                <a:ea typeface="Helvetica Neue"/>
                <a:cs typeface="Helvetica Neue"/>
              </a:rPr>
              <a:t>1. Audio ↔ text</a:t>
            </a:r>
          </a:p>
        </p:txBody>
      </p:sp>
      <p:sp>
        <p:nvSpPr>
          <p:cNvPr id="4" name="">
            <a:extLst>
              <a:ext uri="{FF2B5EF4-FFF2-40B4-BE49-F238E27FC236}">
                <ns2:creationId id="{17B19ED1-209D-450D-A2C5-31658B681EB9}"/>
              </a:ext>
            </a:extLst>
          </p:cNvPr>
          <p:cNvSpPr>
            <a:spLocks noGrp="1"/>
          </p:cNvSpPr>
          <p:nvPr/>
        </p:nvSpPr>
        <p:spPr>
          <a:xfrm>
            <a:off x="885825" y="2362200"/>
            <a:ext cx="2943225" cy="1905000"/>
          </a:xfrm>
          <a:prstGeom prst="rect">
            <a:avLst/>
          </a:prstGeom>
          <a:noFill/>
          <a:ln w="0">
            <a:noFill/>
          </a:ln>
        </p:spPr>
        <p:txBody>
          <a:bodyPr>
            <a:noAutofit/>
          </a:bodyPr>
          <a:lstStyle/>
          <a:p>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Play: yellow text follows.</a:t>
            </a:r>
          </a:p>
          <a:p>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Drag: mark the timed text.</a:t>
            </a:r>
          </a:p>
          <a:p>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Silence: no highlighted text.</a:t>
            </a:r>
          </a:p>
          <a:p>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Select phrase: seek and pause.</a:t>
            </a:r>
          </a:p>
          <a:p>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Play resumes from there.</a:t>
            </a:r>
          </a:p>
        </p:txBody>
      </p:sp>
      <p:sp>
        <p:nvSpPr>
          <p:cNvPr id="5" name="">
            <a:extLst>
              <a:ext uri="{FF2B5EF4-FFF2-40B4-BE49-F238E27FC236}">
                <ns2:creationId id="{42BC24E5-3B52-4C63-9962-5ED605FA31A2}"/>
              </a:ext>
            </a:extLst>
          </p:cNvPr>
          <p:cNvSpPr>
            <a:spLocks noGrp="1"/>
          </p:cNvSpPr>
          <p:nvPr/>
        </p:nvSpPr>
        <p:spPr>
          <a:xfrm>
            <a:off x="4448175" y="1619250"/>
            <a:ext cx="3286125" cy="2809875"/>
          </a:xfrm>
          <a:prstGeom prst="roundRect">
            <a:avLst>
              <a:gd name="adj" fmla="val 2712"/>
            </a:avLst>
          </a:prstGeom>
          <a:solidFill>
            <a:srgbClr val="EFF6FF"/>
          </a:solidFill>
          <a:ln w="9525">
            <a:solidFill>
              <a:srgbClr val="CBD5E1"/>
            </a:solidFill>
          </a:ln>
        </p:spPr>
      </p:sp>
      <p:sp>
        <p:nvSpPr>
          <p:cNvPr id="6" name="">
            <a:extLst>
              <a:ext uri="{FF2B5EF4-FFF2-40B4-BE49-F238E27FC236}">
                <ns2:creationId id="{4E3B9CE8-7E6E-42DE-ACF8-7EE6C898AF92}"/>
              </a:ext>
            </a:extLst>
          </p:cNvPr>
          <p:cNvSpPr>
            <a:spLocks noGrp="1"/>
          </p:cNvSpPr>
          <p:nvPr/>
        </p:nvSpPr>
        <p:spPr>
          <a:xfrm>
            <a:off x="4619625" y="1790700"/>
            <a:ext cx="2943225" cy="400050"/>
          </a:xfrm>
          <a:prstGeom prst="rect">
            <a:avLst/>
          </a:prstGeom>
          <a:noFill/>
          <a:ln w="0">
            <a:noFill/>
          </a:ln>
        </p:spPr>
        <p:txBody>
          <a:bodyPr>
            <a:noAutofit/>
          </a:bodyPr>
          <a:lstStyle/>
          <a:p>
            <a:pPr>
              <a:buNone/>
              <a:defRPr sz="1725" b="1">
                <a:solidFill>
                  <a:srgbClr val="142735"/>
                </a:solidFill>
                <a:latin typeface="Helvetica Neue"/>
                <a:ea typeface="Helvetica Neue"/>
                <a:cs typeface="Helvetica Neue"/>
              </a:defRPr>
            </a:pPr>
            <a:r>
              <a:rPr sz="1725" b="1">
                <a:solidFill>
                  <a:srgbClr val="142735"/>
                </a:solidFill>
                <a:latin typeface="Helvetica Neue"/>
                <a:ea typeface="Helvetica Neue"/>
                <a:cs typeface="Helvetica Neue"/>
              </a:rPr>
              <a:t>2. Listen and save</a:t>
            </a:r>
          </a:p>
        </p:txBody>
      </p:sp>
      <p:sp>
        <p:nvSpPr>
          <p:cNvPr id="7" name="">
            <a:extLst>
              <a:ext uri="{FF2B5EF4-FFF2-40B4-BE49-F238E27FC236}">
                <ns2:creationId id="{480F2E3F-9AE9-4B28-B6AF-C6A1137C9FF4}"/>
              </a:ext>
            </a:extLst>
          </p:cNvPr>
          <p:cNvSpPr>
            <a:spLocks noGrp="1"/>
          </p:cNvSpPr>
          <p:nvPr/>
        </p:nvSpPr>
        <p:spPr>
          <a:xfrm>
            <a:off x="4619625" y="2362200"/>
            <a:ext cx="2943225" cy="1905000"/>
          </a:xfrm>
          <a:prstGeom prst="rect">
            <a:avLst/>
          </a:prstGeom>
          <a:noFill/>
          <a:ln w="0">
            <a:noFill/>
          </a:ln>
        </p:spPr>
        <p:txBody>
          <a:bodyPr>
            <a:noAutofit/>
          </a:bodyPr>
          <a:lstStyle/>
          <a:p>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Choose Correct selection.</a:t>
            </a:r>
          </a:p>
          <a:p>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Play with before/after context.</a:t>
            </a:r>
          </a:p>
          <a:p>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Edit; confirm listening; Save.</a:t>
            </a:r>
          </a:p>
          <a:p>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Surrounding words stay.</a:t>
            </a:r>
          </a:p>
          <a:p>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Old draft minutes clear.</a:t>
            </a:r>
          </a:p>
        </p:txBody>
      </p:sp>
      <p:sp>
        <p:nvSpPr>
          <p:cNvPr id="8" name="">
            <a:extLst>
              <a:ext uri="{FF2B5EF4-FFF2-40B4-BE49-F238E27FC236}">
                <ns2:creationId id="{DC632E1E-F549-4971-B0CB-BF7AF06A443E}"/>
              </a:ext>
            </a:extLst>
          </p:cNvPr>
          <p:cNvSpPr>
            <a:spLocks noGrp="1"/>
          </p:cNvSpPr>
          <p:nvPr/>
        </p:nvSpPr>
        <p:spPr>
          <a:xfrm>
            <a:off x="8181975" y="1619250"/>
            <a:ext cx="3286125" cy="2809875"/>
          </a:xfrm>
          <a:prstGeom prst="roundRect">
            <a:avLst>
              <a:gd name="adj" fmla="val 2712"/>
            </a:avLst>
          </a:prstGeom>
          <a:solidFill>
            <a:srgbClr val="FFF7ED"/>
          </a:solidFill>
          <a:ln w="9525">
            <a:solidFill>
              <a:srgbClr val="CBD5E1"/>
            </a:solidFill>
          </a:ln>
        </p:spPr>
      </p:sp>
      <p:sp>
        <p:nvSpPr>
          <p:cNvPr id="9" name="">
            <a:extLst>
              <a:ext uri="{FF2B5EF4-FFF2-40B4-BE49-F238E27FC236}">
                <ns2:creationId id="{C2B6BD40-ABEC-40BA-8AA9-609D8F65390B}"/>
              </a:ext>
            </a:extLst>
          </p:cNvPr>
          <p:cNvSpPr>
            <a:spLocks noGrp="1"/>
          </p:cNvSpPr>
          <p:nvPr/>
        </p:nvSpPr>
        <p:spPr>
          <a:xfrm>
            <a:off x="8353425" y="1790700"/>
            <a:ext cx="2943225" cy="400050"/>
          </a:xfrm>
          <a:prstGeom prst="rect">
            <a:avLst/>
          </a:prstGeom>
          <a:noFill/>
          <a:ln w="0">
            <a:noFill/>
          </a:ln>
        </p:spPr>
        <p:txBody>
          <a:bodyPr>
            <a:noAutofit/>
          </a:bodyPr>
          <a:lstStyle/>
          <a:p>
            <a:pPr>
              <a:buNone/>
              <a:defRPr sz="1725" b="1">
                <a:solidFill>
                  <a:srgbClr val="142735"/>
                </a:solidFill>
                <a:latin typeface="Helvetica Neue"/>
                <a:ea typeface="Helvetica Neue"/>
                <a:cs typeface="Helvetica Neue"/>
              </a:defRPr>
            </a:pPr>
            <a:r>
              <a:rPr sz="1725" b="1">
                <a:solidFill>
                  <a:srgbClr val="142735"/>
                </a:solidFill>
                <a:latin typeface="Helvetica Neue"/>
                <a:ea typeface="Helvetica Neue"/>
                <a:cs typeface="Helvetica Neue"/>
              </a:rPr>
              <a:t>3. Restore if needed</a:t>
            </a:r>
          </a:p>
        </p:txBody>
      </p:sp>
      <p:sp>
        <p:nvSpPr>
          <p:cNvPr id="10" name="">
            <a:extLst>
              <a:ext uri="{FF2B5EF4-FFF2-40B4-BE49-F238E27FC236}">
                <ns2:creationId id="{BDE92EAF-0BE8-4CB4-895C-EE34ADF5EDA7}"/>
              </a:ext>
            </a:extLst>
          </p:cNvPr>
          <p:cNvSpPr>
            <a:spLocks noGrp="1"/>
          </p:cNvSpPr>
          <p:nvPr/>
        </p:nvSpPr>
        <p:spPr>
          <a:xfrm>
            <a:off x="8353425" y="2362200"/>
            <a:ext cx="2943225" cy="1905000"/>
          </a:xfrm>
          <a:prstGeom prst="rect">
            <a:avLst/>
          </a:prstGeom>
          <a:noFill/>
          <a:ln w="0">
            <a:noFill/>
          </a:ln>
        </p:spPr>
        <p:txBody>
          <a:bodyPr>
            <a:noAutofit/>
          </a:bodyPr>
          <a:lstStyle/>
          <a:p>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Select the saved replacement.</a:t>
            </a:r>
          </a:p>
          <a:p>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Use Restore original.</a:t>
            </a:r>
          </a:p>
          <a:p>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Confirm after listening.</a:t>
            </a:r>
          </a:p>
          <a:p>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Source and history remain.</a:t>
            </a:r>
          </a:p>
        </p:txBody>
      </p:sp>
      <p:sp>
        <p:nvSpPr>
          <p:cNvPr id="11" name="">
            <a:extLst>
              <a:ext uri="{FF2B5EF4-FFF2-40B4-BE49-F238E27FC236}">
                <ns2:creationId id="{C88BBC04-3FC1-4A47-9472-D32B5E148531}"/>
              </a:ext>
            </a:extLst>
          </p:cNvPr>
          <p:cNvSpPr>
            <a:spLocks noGrp="1"/>
          </p:cNvSpPr>
          <p:nvPr/>
        </p:nvSpPr>
        <p:spPr>
          <a:xfrm>
            <a:off x="714375" y="4953000"/>
            <a:ext cx="10572750" cy="952500"/>
          </a:xfrm>
          <a:prstGeom prst="rect">
            <a:avLst/>
          </a:prstGeom>
          <a:noFill/>
          <a:ln w="0">
            <a:noFill/>
          </a:ln>
        </p:spPr>
        <p:txBody>
          <a:bodyPr>
            <a:noAutofit/>
          </a:bodyPr>
          <a:lstStyle/>
          <a:p>
            <a:pPr>
              <a:buNone/>
              <a:defRPr sz="1500" b="0">
                <a:solidFill>
                  <a:srgbClr val="142735"/>
                </a:solidFill>
                <a:latin typeface="Helvetica Neue"/>
                <a:ea typeface="Helvetica Neue"/>
                <a:cs typeface="Helvetica Neue"/>
              </a:defRPr>
            </a:pPr>
            <a:r>
              <a:rPr sz="1500" b="0">
                <a:solidFill>
                  <a:srgbClr val="142735"/>
                </a:solidFill>
                <a:latin typeface="Helvetica Neue"/>
                <a:ea typeface="Helvetica Neue"/>
                <a:cs typeface="Helvetica Neue"/>
              </a:rPr>
              <a:t>CLI for one source part after listening:</a:t>
            </a:r>
          </a:p>
          <a:p>
            <a:pPr>
              <a:buNone/>
              <a:defRPr sz="1500" b="0">
                <a:solidFill>
                  <a:srgbClr val="142735"/>
                </a:solidFill>
                <a:latin typeface="Helvetica Neue"/>
                <a:ea typeface="Helvetica Neue"/>
                <a:cs typeface="Helvetica Neue"/>
              </a:defRPr>
            </a:pPr>
            <a:r>
              <a:rPr sz="1500" b="0">
                <a:solidFill>
                  <a:srgbClr val="142735"/>
                </a:solidFill>
                <a:latin typeface="Helvetica Neue"/>
                <a:ea typeface="Helvetica Neue"/>
                <a:cs typeface="Helvetica Neue"/>
              </a:rPr>
              <a:t>swift run meeting-summarizer transcribe correct \</a:t>
            </a:r>
          </a:p>
          <a:p>
            <a:pPr>
              <a:buNone/>
              <a:defRPr sz="1500" b="0">
                <a:solidFill>
                  <a:srgbClr val="142735"/>
                </a:solidFill>
                <a:latin typeface="Helvetica Neue"/>
                <a:ea typeface="Helvetica Neue"/>
                <a:cs typeface="Helvetica Neue"/>
              </a:defRPr>
            </a:pPr>
            <a:r>
              <a:rPr sz="1500" b="0">
                <a:solidFill>
                  <a:srgbClr val="142735"/>
                </a:solidFill>
                <a:latin typeface="Helvetica Neue"/>
                <a:ea typeface="Helvetica Neue"/>
                <a:cs typeface="Helvetica Neue"/>
              </a:rPr>
              <a:t>  "$polish_id" "$segment_id" "$corrected_text" \</a:t>
            </a:r>
          </a:p>
          <a:p>
            <a:pPr>
              <a:buNone/>
              <a:defRPr sz="1500" b="0">
                <a:solidFill>
                  <a:srgbClr val="142735"/>
                </a:solidFill>
                <a:latin typeface="Helvetica Neue"/>
                <a:ea typeface="Helvetica Neue"/>
                <a:cs typeface="Helvetica Neue"/>
              </a:defRPr>
            </a:pPr>
            <a:r>
              <a:rPr sz="1500" b="0">
                <a:solidFill>
                  <a:srgbClr val="142735"/>
                </a:solidFill>
                <a:latin typeface="Helvetica Neue"/>
                <a:ea typeface="Helvetica Neue"/>
                <a:cs typeface="Helvetica Neue"/>
              </a:rPr>
              <a:t>  --audio-reviewed yes --store "$store_dir"</a:t>
            </a:r>
          </a:p>
        </p:txBody>
      </p:sp>
      <p:sp>
        <p:nvSpPr>
          <p:cNvPr id="12" name="">
            <a:extLst>
              <a:ext uri="{FF2B5EF4-FFF2-40B4-BE49-F238E27FC236}">
                <ns2:creationId id="{284D9990-0E7D-4D7C-B320-A876993966C6}"/>
              </a:ext>
            </a:extLst>
          </p:cNvPr>
          <p:cNvSpPr>
            <a:spLocks noGrp="1"/>
          </p:cNvSpPr>
          <p:nvPr/>
        </p:nvSpPr>
        <p:spPr>
          <a:xfrm>
            <a:off x="714375" y="6124575"/>
            <a:ext cx="10572750" cy="247650"/>
          </a:xfrm>
          <a:prstGeom prst="rect">
            <a:avLst/>
          </a:prstGeom>
          <a:noFill/>
          <a:ln w="0">
            <a:noFill/>
          </a:ln>
        </p:spPr>
        <p:txBody>
          <a:bodyPr>
            <a:noAutofit/>
          </a:bodyPr>
          <a:lstStyle/>
          <a:p>
            <a:pPr>
              <a:buNone/>
              <a:defRPr sz="1200" b="0">
                <a:solidFill>
                  <a:srgbClr val="475569"/>
                </a:solidFill>
                <a:latin typeface="Helvetica Neue"/>
                <a:ea typeface="Helvetica Neue"/>
                <a:cs typeface="Helvetica Neue"/>
              </a:defRPr>
            </a:pPr>
            <a:r>
              <a:rPr sz="1200" b="0">
                <a:solidFill>
                  <a:srgbClr val="475569"/>
                </a:solidFill>
                <a:latin typeface="Helvetica Neue"/>
                <a:ea typeface="Helvetica Neue"/>
                <a:cs typeface="Helvetica Neue"/>
              </a:rPr>
              <a:t>Corrected range: one shared time span. Native audio/highlight checks remain pending.</a:t>
            </a:r>
          </a:p>
        </p:txBody>
      </p:sp>
    </p:spTree>
    <p:extLst>
      <p:ext uri="{BB962C8B-B14F-4D97-AF65-F5344CB8AC3E}">
        <ns3:creationId val="106511866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D9539F2-10F5-4ACB-A640-89A63EA2422E}"/>
              </a:ext>
            </a:extLst>
          </p:cNvPr>
          <p:cNvSpPr>
            <a:spLocks xmlns:a="http://schemas.openxmlformats.org/drawingml/2006/main" noGrp="1"/>
          </p:cNvSpPr>
          <p:nvPr/>
        </p:nvSpPr>
        <p:spPr>
          <a:xfrm xmlns:a="http://schemas.openxmlformats.org/drawingml/2006/main">
            <a:off x="666750" y="428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5"/>
                </a:solidFill>
                <a:latin typeface="Helvetica Neue"/>
                <a:ea typeface="Helvetica Neue"/>
                <a:cs typeface="Helvetica Neue"/>
              </a:defRPr>
            </a:pPr>
            <a:r>
              <a:rPr sz="3000" b="1">
                <a:solidFill>
                  <a:srgbClr val="142735"/>
                </a:solidFill>
                <a:latin typeface="Helvetica Neue"/>
                <a:ea typeface="Helvetica Neue"/>
                <a:cs typeface="Helvetica Neue"/>
              </a:rPr>
              <a:t>Speaker naming: a complete Terminal command</a:t>
            </a:r>
          </a:p>
        </p:txBody>
      </p:sp>
      <p:sp>
        <p:nvSpPr>
          <p:cNvPr id="2" name="">
            <a:extLst xmlns:a="http://schemas.openxmlformats.org/drawingml/2006/main">
              <a:ext uri="{FF2B5EF4-FFF2-40B4-BE49-F238E27FC236}">
                <a16:creationId xmlns:a16="http://schemas.microsoft.com/office/drawing/2014/main" id="{6BD908BB-5707-4552-A5C7-8CF64D5E635C}"/>
              </a:ext>
            </a:extLst>
          </p:cNvPr>
          <p:cNvSpPr>
            <a:spLocks xmlns:a="http://schemas.openxmlformats.org/drawingml/2006/main" noGrp="1"/>
          </p:cNvSpPr>
          <p:nvPr/>
        </p:nvSpPr>
        <p:spPr>
          <a:xfrm xmlns:a="http://schemas.openxmlformats.org/drawingml/2006/main">
            <a:off x="742950" y="143827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735"/>
                </a:solidFill>
                <a:latin typeface="Helvetica Neue"/>
                <a:ea typeface="Helvetica Neue"/>
                <a:cs typeface="Helvetica Neue"/>
              </a:defRPr>
            </a:pPr>
            <a:r>
              <a:rPr sz="1950" b="0">
                <a:solidFill>
                  <a:srgbClr val="142735"/>
                </a:solidFill>
                <a:latin typeface="Helvetica Neue"/>
                <a:ea typeface="Helvetica Neue"/>
                <a:cs typeface="Helvetica Neue"/>
              </a:rPr>
              <a:t>For the currently open Polish meeting. Enter the name after listening to S2.</a:t>
            </a:r>
          </a:p>
        </p:txBody>
      </p:sp>
      <p:sp>
        <p:nvSpPr>
          <p:cNvPr id="3" name="">
            <a:extLst xmlns:a="http://schemas.openxmlformats.org/drawingml/2006/main">
              <a:ext uri="{FF2B5EF4-FFF2-40B4-BE49-F238E27FC236}">
                <a16:creationId xmlns:a16="http://schemas.microsoft.com/office/drawing/2014/main" id="{F8910BBF-1BE7-4CA5-9C6F-D9B96E13F354}"/>
              </a:ext>
            </a:extLst>
          </p:cNvPr>
          <p:cNvSpPr>
            <a:spLocks xmlns:a="http://schemas.openxmlformats.org/drawingml/2006/main" noGrp="1"/>
          </p:cNvSpPr>
          <p:nvPr/>
        </p:nvSpPr>
        <p:spPr>
          <a:xfrm xmlns:a="http://schemas.openxmlformats.org/drawingml/2006/main">
            <a:off x="742950" y="2114550"/>
            <a:ext cx="10668000" cy="2457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663B6"/>
                </a:solidFill>
                <a:latin typeface="Helvetica Neue"/>
                <a:ea typeface="Helvetica Neue"/>
                <a:cs typeface="Helvetica Neue"/>
              </a:defRPr>
            </a:pPr>
            <a:r>
              <a:rPr sz="1875" b="1">
                <a:solidFill>
                  <a:srgbClr val="0663B6"/>
                </a:solidFill>
                <a:latin typeface="Helvetica Neue"/>
                <a:ea typeface="Helvetica Neue"/>
                <a:cs typeface="Helvetica Neue"/>
              </a:rPr>
              <a:t>bash -c '</a:t>
            </a:r>
          </a:p>
          <a:p xmlns:a="http://schemas.openxmlformats.org/drawingml/2006/main">
            <a:pPr>
              <a:defRPr sz="1875" b="1">
                <a:solidFill>
                  <a:srgbClr val="0663B6"/>
                </a:solidFill>
                <a:latin typeface="Helvetica Neue"/>
                <a:ea typeface="Helvetica Neue"/>
                <a:cs typeface="Helvetica Neue"/>
              </a:defRPr>
            </a:pPr>
            <a:r>
              <a:rPr sz="1875" b="1">
                <a:solidFill>
                  <a:srgbClr val="0663B6"/>
                </a:solidFill>
                <a:latin typeface="Helvetica Neue"/>
                <a:ea typeface="Helvetica Neue"/>
                <a:cs typeface="Helvetica Neue"/>
              </a:rPr>
              <a:t>cd /Users/rstyczynski/projects/meeting_minutes</a:t>
            </a:r>
          </a:p>
          <a:p xmlns:a="http://schemas.openxmlformats.org/drawingml/2006/main">
            <a:pPr>
              <a:defRPr sz="1875" b="1">
                <a:solidFill>
                  <a:srgbClr val="0663B6"/>
                </a:solidFill>
                <a:latin typeface="Helvetica Neue"/>
                <a:ea typeface="Helvetica Neue"/>
                <a:cs typeface="Helvetica Neue"/>
              </a:defRPr>
            </a:pPr>
            <a:r>
              <a:rPr sz="1875" b="1">
                <a:solidFill>
                  <a:srgbClr val="0663B6"/>
                </a:solidFill>
                <a:latin typeface="Helvetica Neue"/>
                <a:ea typeface="Helvetica Neue"/>
                <a:cs typeface="Helvetica Neue"/>
              </a:rPr>
              <a:t>read -r -p "Name for S2: " speaker_name</a:t>
            </a:r>
          </a:p>
          <a:p xmlns:a="http://schemas.openxmlformats.org/drawingml/2006/main">
            <a:pPr>
              <a:defRPr sz="1875" b="1">
                <a:solidFill>
                  <a:srgbClr val="0663B6"/>
                </a:solidFill>
                <a:latin typeface="Helvetica Neue"/>
                <a:ea typeface="Helvetica Neue"/>
                <a:cs typeface="Helvetica Neue"/>
              </a:defRPr>
            </a:pPr>
            <a:r>
              <a:rPr sz="1875" b="1">
                <a:solidFill>
                  <a:srgbClr val="0663B6"/>
                </a:solidFill>
                <a:latin typeface="Helvetica Neue"/>
                <a:ea typeface="Helvetica Neue"/>
                <a:cs typeface="Helvetica Neue"/>
              </a:rPr>
              <a:t>swift run meeting-summarizer recognize name \</a:t>
            </a:r>
          </a:p>
          <a:p xmlns:a="http://schemas.openxmlformats.org/drawingml/2006/main">
            <a:pPr>
              <a:defRPr sz="1875" b="1">
                <a:solidFill>
                  <a:srgbClr val="0663B6"/>
                </a:solidFill>
                <a:latin typeface="Helvetica Neue"/>
                <a:ea typeface="Helvetica Neue"/>
                <a:cs typeface="Helvetica Neue"/>
              </a:defRPr>
            </a:pPr>
            <a:r>
              <a:rPr sz="1875" b="1">
                <a:solidFill>
                  <a:srgbClr val="0663B6"/>
                </a:solidFill>
                <a:latin typeface="Helvetica Neue"/>
                <a:ea typeface="Helvetica Neue"/>
                <a:cs typeface="Helvetica Neue"/>
              </a:rPr>
              <a:t>  5C00CCF3-A242-4FB0-845D-92C6D30D7633 S2 "$speaker_name" \</a:t>
            </a:r>
          </a:p>
          <a:p xmlns:a="http://schemas.openxmlformats.org/drawingml/2006/main">
            <a:pPr>
              <a:defRPr sz="1875" b="1">
                <a:solidFill>
                  <a:srgbClr val="0663B6"/>
                </a:solidFill>
                <a:latin typeface="Helvetica Neue"/>
                <a:ea typeface="Helvetica Neue"/>
                <a:cs typeface="Helvetica Neue"/>
              </a:defRPr>
            </a:pPr>
            <a:r>
              <a:rPr sz="1875" b="1">
                <a:solidFill>
                  <a:srgbClr val="0663B6"/>
                </a:solidFill>
                <a:latin typeface="Helvetica Neue"/>
                <a:ea typeface="Helvetica Neue"/>
                <a:cs typeface="Helvetica Neue"/>
              </a:rPr>
              <a:t>  --store /private/tmp/meeting-sprint2-po-demo.Ry3oFz</a:t>
            </a:r>
          </a:p>
          <a:p xmlns:a="http://schemas.openxmlformats.org/drawingml/2006/main">
            <a:pPr>
              <a:defRPr sz="1875" b="1">
                <a:solidFill>
                  <a:srgbClr val="0663B6"/>
                </a:solidFill>
                <a:latin typeface="Helvetica Neue"/>
                <a:ea typeface="Helvetica Neue"/>
                <a:cs typeface="Helvetica Neue"/>
              </a:defRPr>
            </a:pPr>
            <a:r>
              <a:rPr sz="1875" b="1">
                <a:solidFill>
                  <a:srgbClr val="0663B6"/>
                </a:solidFill>
                <a:latin typeface="Helvetica Neue"/>
                <a:ea typeface="Helvetica Neue"/>
                <a:cs typeface="Helvetica Neue"/>
              </a:rPr>
              <a:t>'</a:t>
            </a:r>
          </a:p>
        </p:txBody>
      </p:sp>
      <p:sp>
        <p:nvSpPr>
          <p:cNvPr id="4" name="">
            <a:extLst xmlns:a="http://schemas.openxmlformats.org/drawingml/2006/main">
              <a:ext uri="{FF2B5EF4-FFF2-40B4-BE49-F238E27FC236}">
                <a16:creationId xmlns:a16="http://schemas.microsoft.com/office/drawing/2014/main" id="{51085543-695D-4EF7-96C4-9937DB69C6D1}"/>
              </a:ext>
            </a:extLst>
          </p:cNvPr>
          <p:cNvSpPr>
            <a:spLocks xmlns:a="http://schemas.openxmlformats.org/drawingml/2006/main" noGrp="1"/>
          </p:cNvSpPr>
          <p:nvPr/>
        </p:nvSpPr>
        <p:spPr>
          <a:xfrm xmlns:a="http://schemas.openxmlformats.org/drawingml/2006/main">
            <a:off x="742950" y="47053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2735"/>
                </a:solidFill>
                <a:latin typeface="Helvetica Neue"/>
                <a:ea typeface="Helvetica Neue"/>
                <a:cs typeface="Helvetica Neue"/>
              </a:defRPr>
            </a:pPr>
            <a:r>
              <a:rPr sz="2100" b="1">
                <a:solidFill>
                  <a:srgbClr val="142735"/>
                </a:solidFill>
                <a:latin typeface="Helvetica Neue"/>
                <a:ea typeface="Helvetica Neue"/>
                <a:cs typeface="Helvetica Neue"/>
              </a:rPr>
              <a:t>The entered name is saved for every S2 utterance in this meeting.</a:t>
            </a:r>
          </a:p>
        </p:txBody>
      </p:sp>
      <p:sp>
        <p:nvSpPr>
          <p:cNvPr id="5" name="">
            <a:extLst xmlns:a="http://schemas.openxmlformats.org/drawingml/2006/main">
              <a:ext uri="{FF2B5EF4-FFF2-40B4-BE49-F238E27FC236}">
                <a16:creationId xmlns:a16="http://schemas.microsoft.com/office/drawing/2014/main" id="{3621194C-E47F-4DCD-97F0-52E1C9841F27}"/>
              </a:ext>
            </a:extLst>
          </p:cNvPr>
          <p:cNvSpPr>
            <a:spLocks xmlns:a="http://schemas.openxmlformats.org/drawingml/2006/main" noGrp="1"/>
          </p:cNvSpPr>
          <p:nvPr/>
        </p:nvSpPr>
        <p:spPr>
          <a:xfrm xmlns:a="http://schemas.openxmlformats.org/drawingml/2006/main">
            <a:off x="742950" y="538162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735"/>
                </a:solidFill>
                <a:latin typeface="Helvetica Neue"/>
                <a:ea typeface="Helvetica Neue"/>
                <a:cs typeface="Helvetica Neue"/>
              </a:defRPr>
            </a:pPr>
            <a:r>
              <a:rPr sz="1950" b="0">
                <a:solidFill>
                  <a:srgbClr val="142735"/>
                </a:solidFill>
                <a:latin typeface="Helvetica Neue"/>
                <a:ea typeface="Helvetica Neue"/>
                <a:cs typeface="Helvetica Neue"/>
              </a:rPr>
              <a:t>Close and reopen Meeting Review to load the saved name.</a:t>
            </a:r>
          </a:p>
        </p:txBody>
      </p:sp>
      <p:sp>
        <p:nvSpPr>
          <p:cNvPr id="6" name="">
            <a:extLst xmlns:a="http://schemas.openxmlformats.org/drawingml/2006/main">
              <a:ext uri="{FF2B5EF4-FFF2-40B4-BE49-F238E27FC236}">
                <a16:creationId xmlns:a16="http://schemas.microsoft.com/office/drawing/2014/main" id="{0786E542-7184-41E3-8072-451D1C01000E}"/>
              </a:ext>
            </a:extLst>
          </p:cNvPr>
          <p:cNvSpPr>
            <a:spLocks xmlns:a="http://schemas.openxmlformats.org/drawingml/2006/main" noGrp="1"/>
          </p:cNvSpPr>
          <p:nvPr/>
        </p:nvSpPr>
        <p:spPr>
          <a:xfrm xmlns:a="http://schemas.openxmlformats.org/drawingml/2006/main">
            <a:off x="742950" y="62103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8"/>
                </a:solidFill>
                <a:latin typeface="Helvetica Neue"/>
                <a:ea typeface="Helvetica Neue"/>
                <a:cs typeface="Helvetica Neue"/>
              </a:defRPr>
            </a:pPr>
            <a:r>
              <a:rPr sz="1200" b="0">
                <a:solidFill>
                  <a:srgbClr val="526878"/>
                </a:solidFill>
                <a:latin typeface="Helvetica Neue"/>
                <a:ea typeface="Helvetica Neue"/>
                <a:cs typeface="Helvetica Neue"/>
              </a:rPr>
              <a:t>PBI-011.2 / PBI-011.4 / FR-04. This concrete record is local to the current demo; a fresh run prints its own command.</a:t>
            </a:r>
          </a:p>
        </p:txBody>
      </p:sp>
    </p:spTree>
    <p:extLst>
      <p:ext uri="{BB962C8B-B14F-4D97-AF65-F5344CB8AC3E}">
        <p14:creationId xmlns:p14="http://schemas.microsoft.com/office/powerpoint/2010/main" val="115219089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F7C9914-5343-4A6B-A458-5C0D446E4F7B}"/>
              </a:ext>
            </a:extLst>
          </p:cNvPr>
          <p:cNvSpPr>
            <a:spLocks xmlns:a="http://schemas.openxmlformats.org/drawingml/2006/main" noGrp="1"/>
          </p:cNvSpPr>
          <p:nvPr/>
        </p:nvSpPr>
        <p:spPr>
          <a:xfrm xmlns:a="http://schemas.openxmlformats.org/drawingml/2006/main">
            <a:off x="666750" y="428625"/>
            <a:ext cx="1085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536"/>
                </a:solidFill>
                <a:latin typeface="Helvetica Neue"/>
                <a:ea typeface="Helvetica Neue"/>
                <a:cs typeface="Helvetica Neue"/>
              </a:defRPr>
            </a:pPr>
            <a:r>
              <a:rPr sz="3150" b="1">
                <a:solidFill>
                  <a:srgbClr val="142536"/>
                </a:solidFill>
                <a:latin typeface="Helvetica Neue"/>
                <a:ea typeface="Helvetica Neue"/>
                <a:cs typeface="Helvetica Neue"/>
              </a:rPr>
              <a:t>Why the first draft failed review</a:t>
            </a:r>
          </a:p>
        </p:txBody>
      </p:sp>
      <p:sp>
        <p:nvSpPr>
          <p:cNvPr id="2" name="">
            <a:extLst xmlns:a="http://schemas.openxmlformats.org/drawingml/2006/main">
              <a:ext uri="{FF2B5EF4-FFF2-40B4-BE49-F238E27FC236}">
                <a16:creationId xmlns:a16="http://schemas.microsoft.com/office/drawing/2014/main" id="{AA711FDF-DFDA-4B93-8E16-11E39D7A6E09}"/>
              </a:ext>
            </a:extLst>
          </p:cNvPr>
          <p:cNvSpPr>
            <a:spLocks xmlns:a="http://schemas.openxmlformats.org/drawingml/2006/main" noGrp="1"/>
          </p:cNvSpPr>
          <p:nvPr/>
        </p:nvSpPr>
        <p:spPr>
          <a:xfrm xmlns:a="http://schemas.openxmlformats.org/drawingml/2006/main">
            <a:off x="790575" y="1381125"/>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236952"/>
                </a:solidFill>
                <a:latin typeface="Helvetica Neue"/>
                <a:ea typeface="Helvetica Neue"/>
                <a:cs typeface="Helvetica Neue"/>
              </a:defRPr>
            </a:pPr>
            <a:r>
              <a:rPr sz="1800" b="1">
                <a:solidFill>
                  <a:srgbClr val="236952"/>
                </a:solidFill>
                <a:latin typeface="Helvetica Neue"/>
                <a:ea typeface="Helvetica Neue"/>
                <a:cs typeface="Helvetica Neue"/>
              </a:rPr>
              <a:t>SUPPORTED DECISION · around 540 seconds</a:t>
            </a:r>
          </a:p>
        </p:txBody>
      </p:sp>
      <p:sp>
        <p:nvSpPr>
          <p:cNvPr id="3" name="">
            <a:extLst xmlns:a="http://schemas.openxmlformats.org/drawingml/2006/main">
              <a:ext uri="{FF2B5EF4-FFF2-40B4-BE49-F238E27FC236}">
                <a16:creationId xmlns:a16="http://schemas.microsoft.com/office/drawing/2014/main" id="{C2774217-5A41-4848-9E00-2E1DA3883CAF}"/>
              </a:ext>
            </a:extLst>
          </p:cNvPr>
          <p:cNvSpPr>
            <a:spLocks xmlns:a="http://schemas.openxmlformats.org/drawingml/2006/main" noGrp="1"/>
          </p:cNvSpPr>
          <p:nvPr/>
        </p:nvSpPr>
        <p:spPr>
          <a:xfrm xmlns:a="http://schemas.openxmlformats.org/drawingml/2006/main">
            <a:off x="790575" y="1781175"/>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42536"/>
                </a:solidFill>
                <a:latin typeface="Helvetica Neue"/>
                <a:ea typeface="Helvetica Neue"/>
                <a:cs typeface="Helvetica Neue"/>
              </a:defRPr>
            </a:pPr>
            <a:r>
              <a:rPr sz="1875" b="0">
                <a:solidFill>
                  <a:srgbClr val="142536"/>
                </a:solidFill>
                <a:latin typeface="Helvetica Neue"/>
                <a:ea typeface="Helvetica Neue"/>
                <a:cs typeface="Helvetica Neue"/>
              </a:rPr>
              <a:t>Source: “komisja pozytywnie opiniuje projekt ustawy budżetowej...”</a:t>
            </a:r>
          </a:p>
        </p:txBody>
      </p:sp>
      <p:sp>
        <p:nvSpPr>
          <p:cNvPr id="4" name="">
            <a:extLst xmlns:a="http://schemas.openxmlformats.org/drawingml/2006/main">
              <a:ext uri="{FF2B5EF4-FFF2-40B4-BE49-F238E27FC236}">
                <a16:creationId xmlns:a16="http://schemas.microsoft.com/office/drawing/2014/main" id="{9E077C5A-D58D-4A56-B634-D5E968D994DE}"/>
              </a:ext>
            </a:extLst>
          </p:cNvPr>
          <p:cNvSpPr>
            <a:spLocks xmlns:a="http://schemas.openxmlformats.org/drawingml/2006/main" noGrp="1"/>
          </p:cNvSpPr>
          <p:nvPr/>
        </p:nvSpPr>
        <p:spPr>
          <a:xfrm xmlns:a="http://schemas.openxmlformats.org/drawingml/2006/main">
            <a:off x="790575" y="2238375"/>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42536"/>
                </a:solidFill>
                <a:latin typeface="Helvetica Neue"/>
                <a:ea typeface="Helvetica Neue"/>
                <a:cs typeface="Helvetica Neue"/>
              </a:defRPr>
            </a:pPr>
            <a:r>
              <a:rPr sz="1875" b="0">
                <a:solidFill>
                  <a:srgbClr val="142536"/>
                </a:solidFill>
                <a:latin typeface="Helvetica Neue"/>
                <a:ea typeface="Helvetica Neue"/>
                <a:cs typeface="Helvetica Neue"/>
              </a:rPr>
              <a:t>Draft: “Komisja ... pozytywnie opiniuje projekt ustawy budżetowej...”</a:t>
            </a:r>
          </a:p>
        </p:txBody>
      </p:sp>
      <p:sp>
        <p:nvSpPr>
          <p:cNvPr id="5" name="">
            <a:extLst xmlns:a="http://schemas.openxmlformats.org/drawingml/2006/main">
              <a:ext uri="{FF2B5EF4-FFF2-40B4-BE49-F238E27FC236}">
                <a16:creationId xmlns:a16="http://schemas.microsoft.com/office/drawing/2014/main" id="{133B4F53-1EFB-4EBC-93D9-D2D6CE8BE8DC}"/>
              </a:ext>
            </a:extLst>
          </p:cNvPr>
          <p:cNvSpPr>
            <a:spLocks xmlns:a="http://schemas.openxmlformats.org/drawingml/2006/main" noGrp="1"/>
          </p:cNvSpPr>
          <p:nvPr/>
        </p:nvSpPr>
        <p:spPr>
          <a:xfrm xmlns:a="http://schemas.openxmlformats.org/drawingml/2006/main">
            <a:off x="790575" y="2990850"/>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A73535"/>
                </a:solidFill>
                <a:latin typeface="Helvetica Neue"/>
                <a:ea typeface="Helvetica Neue"/>
                <a:cs typeface="Helvetica Neue"/>
              </a:defRPr>
            </a:pPr>
            <a:r>
              <a:rPr sz="1800" b="1">
                <a:solidFill>
                  <a:srgbClr val="A73535"/>
                </a:solidFill>
                <a:latin typeface="Helvetica Neue"/>
                <a:ea typeface="Helvetica Neue"/>
                <a:cs typeface="Helvetica Neue"/>
              </a:rPr>
              <a:t>REJECTED ACTION · around 560 seconds</a:t>
            </a:r>
          </a:p>
        </p:txBody>
      </p:sp>
      <p:sp>
        <p:nvSpPr>
          <p:cNvPr id="6" name="">
            <a:extLst xmlns:a="http://schemas.openxmlformats.org/drawingml/2006/main">
              <a:ext uri="{FF2B5EF4-FFF2-40B4-BE49-F238E27FC236}">
                <a16:creationId xmlns:a16="http://schemas.microsoft.com/office/drawing/2014/main" id="{2D106D6E-2689-41E6-9F72-4F51AC22749E}"/>
              </a:ext>
            </a:extLst>
          </p:cNvPr>
          <p:cNvSpPr>
            <a:spLocks xmlns:a="http://schemas.openxmlformats.org/drawingml/2006/main" noGrp="1"/>
          </p:cNvSpPr>
          <p:nvPr/>
        </p:nvSpPr>
        <p:spPr>
          <a:xfrm xmlns:a="http://schemas.openxmlformats.org/drawingml/2006/main">
            <a:off x="790575" y="339090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42536"/>
                </a:solidFill>
                <a:latin typeface="Helvetica Neue"/>
                <a:ea typeface="Helvetica Neue"/>
                <a:cs typeface="Helvetica Neue"/>
              </a:defRPr>
            </a:pPr>
            <a:r>
              <a:rPr sz="1875" b="0">
                <a:solidFill>
                  <a:srgbClr val="142536"/>
                </a:solidFill>
                <a:latin typeface="Helvetica Neue"/>
                <a:ea typeface="Helvetica Neue"/>
                <a:cs typeface="Helvetica Neue"/>
              </a:rPr>
              <a:t>Source: “Panią Prezes ... poproszę o przedstawienie ... budżetu.”</a:t>
            </a:r>
          </a:p>
        </p:txBody>
      </p:sp>
      <p:sp>
        <p:nvSpPr>
          <p:cNvPr id="7" name="">
            <a:extLst xmlns:a="http://schemas.openxmlformats.org/drawingml/2006/main">
              <a:ext uri="{FF2B5EF4-FFF2-40B4-BE49-F238E27FC236}">
                <a16:creationId xmlns:a16="http://schemas.microsoft.com/office/drawing/2014/main" id="{01D0016E-DBFE-441C-A1D1-FB804321F27B}"/>
              </a:ext>
            </a:extLst>
          </p:cNvPr>
          <p:cNvSpPr>
            <a:spLocks xmlns:a="http://schemas.openxmlformats.org/drawingml/2006/main" noGrp="1"/>
          </p:cNvSpPr>
          <p:nvPr/>
        </p:nvSpPr>
        <p:spPr>
          <a:xfrm xmlns:a="http://schemas.openxmlformats.org/drawingml/2006/main">
            <a:off x="790575" y="384810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42536"/>
                </a:solidFill>
                <a:latin typeface="Helvetica Neue"/>
                <a:ea typeface="Helvetica Neue"/>
                <a:cs typeface="Helvetica Neue"/>
              </a:defRPr>
            </a:pPr>
            <a:r>
              <a:rPr sz="1875" b="0">
                <a:solidFill>
                  <a:srgbClr val="142536"/>
                </a:solidFill>
                <a:latin typeface="Helvetica Neue"/>
                <a:ea typeface="Helvetica Neue"/>
                <a:cs typeface="Helvetica Neue"/>
              </a:rPr>
              <a:t>Draft: “Pani Ewa Zielińska ... zostaje poproszona o przedstawienie budżetu...”</a:t>
            </a:r>
          </a:p>
        </p:txBody>
      </p:sp>
      <p:sp>
        <p:nvSpPr>
          <p:cNvPr id="8" name="">
            <a:extLst xmlns:a="http://schemas.openxmlformats.org/drawingml/2006/main">
              <a:ext uri="{FF2B5EF4-FFF2-40B4-BE49-F238E27FC236}">
                <a16:creationId xmlns:a16="http://schemas.microsoft.com/office/drawing/2014/main" id="{109E6B68-F5DE-46C1-B9D1-A78C2F06B68D}"/>
              </a:ext>
            </a:extLst>
          </p:cNvPr>
          <p:cNvSpPr>
            <a:spLocks xmlns:a="http://schemas.openxmlformats.org/drawingml/2006/main" noGrp="1"/>
          </p:cNvSpPr>
          <p:nvPr/>
        </p:nvSpPr>
        <p:spPr>
          <a:xfrm xmlns:a="http://schemas.openxmlformats.org/drawingml/2006/main">
            <a:off x="790575" y="4619625"/>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A73535"/>
                </a:solidFill>
                <a:latin typeface="Helvetica Neue"/>
                <a:ea typeface="Helvetica Neue"/>
                <a:cs typeface="Helvetica Neue"/>
              </a:defRPr>
            </a:pPr>
            <a:r>
              <a:rPr sz="1800" b="1">
                <a:solidFill>
                  <a:srgbClr val="A73535"/>
                </a:solidFill>
                <a:latin typeface="Helvetica Neue"/>
                <a:ea typeface="Helvetica Neue"/>
                <a:cs typeface="Helvetica Neue"/>
              </a:rPr>
              <a:t>REJECTED QUESTION · around 380 seconds</a:t>
            </a:r>
          </a:p>
        </p:txBody>
      </p:sp>
      <p:sp>
        <p:nvSpPr>
          <p:cNvPr id="9" name="">
            <a:extLst xmlns:a="http://schemas.openxmlformats.org/drawingml/2006/main">
              <a:ext uri="{FF2B5EF4-FFF2-40B4-BE49-F238E27FC236}">
                <a16:creationId xmlns:a16="http://schemas.microsoft.com/office/drawing/2014/main" id="{07EDE692-9BBA-45C2-BDC5-4D538252AC82}"/>
              </a:ext>
            </a:extLst>
          </p:cNvPr>
          <p:cNvSpPr>
            <a:spLocks xmlns:a="http://schemas.openxmlformats.org/drawingml/2006/main" noGrp="1"/>
          </p:cNvSpPr>
          <p:nvPr/>
        </p:nvSpPr>
        <p:spPr>
          <a:xfrm xmlns:a="http://schemas.openxmlformats.org/drawingml/2006/main">
            <a:off x="790575" y="5019675"/>
            <a:ext cx="1038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42536"/>
                </a:solidFill>
                <a:latin typeface="Helvetica Neue"/>
                <a:ea typeface="Helvetica Neue"/>
                <a:cs typeface="Helvetica Neue"/>
              </a:defRPr>
            </a:pPr>
            <a:r>
              <a:rPr sz="1875" b="0">
                <a:solidFill>
                  <a:srgbClr val="142536"/>
                </a:solidFill>
                <a:latin typeface="Helvetica Neue"/>
                <a:ea typeface="Helvetica Neue"/>
                <a:cs typeface="Helvetica Neue"/>
              </a:rPr>
              <a:t>Source lists reserved funds; the draft asks whether they were reserved.</a:t>
            </a:r>
          </a:p>
        </p:txBody>
      </p:sp>
      <p:sp>
        <p:nvSpPr>
          <p:cNvPr id="10" name="">
            <a:extLst xmlns:a="http://schemas.openxmlformats.org/drawingml/2006/main">
              <a:ext uri="{FF2B5EF4-FFF2-40B4-BE49-F238E27FC236}">
                <a16:creationId xmlns:a16="http://schemas.microsoft.com/office/drawing/2014/main" id="{C9A613CB-1030-480A-B09F-50021EB5A9F1}"/>
              </a:ext>
            </a:extLst>
          </p:cNvPr>
          <p:cNvSpPr>
            <a:spLocks xmlns:a="http://schemas.openxmlformats.org/drawingml/2006/main" noGrp="1"/>
          </p:cNvSpPr>
          <p:nvPr/>
        </p:nvSpPr>
        <p:spPr>
          <a:xfrm xmlns:a="http://schemas.openxmlformats.org/drawingml/2006/main">
            <a:off x="742950" y="6000750"/>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A73535"/>
                </a:solidFill>
                <a:latin typeface="Helvetica Neue"/>
                <a:ea typeface="Helvetica Neue"/>
                <a:cs typeface="Helvetica Neue"/>
              </a:defRPr>
            </a:pPr>
            <a:r>
              <a:rPr sz="1575" b="0">
                <a:solidFill>
                  <a:srgbClr val="A73535"/>
                </a:solidFill>
                <a:latin typeface="Helvetica Neue"/>
                <a:ea typeface="Helvetica Neue"/>
                <a:cs typeface="Helvetica Neue"/>
              </a:rPr>
              <a:t>This is pre-gate evidence. The last two items are unsupported; the summary has no citation.</a:t>
            </a:r>
          </a:p>
        </p:txBody>
      </p:sp>
    </p:spTree>
    <p:extLst>
      <p:ext uri="{BB962C8B-B14F-4D97-AF65-F5344CB8AC3E}">
        <p14:creationId xmlns:p14="http://schemas.microsoft.com/office/powerpoint/2010/main" val="88416791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8D7B0B2-0ED3-48AE-A626-C32C9BA8F3BB}"/>
              </a:ext>
            </a:extLst>
          </p:cNvPr>
          <p:cNvSpPr>
            <a:spLocks xmlns:a="http://schemas.openxmlformats.org/drawingml/2006/main" noGrp="1"/>
          </p:cNvSpPr>
          <p:nvPr/>
        </p:nvSpPr>
        <p:spPr>
          <a:xfrm xmlns:a="http://schemas.openxmlformats.org/drawingml/2006/main">
            <a:off x="666750" y="428625"/>
            <a:ext cx="1085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536"/>
                </a:solidFill>
                <a:latin typeface="Helvetica Neue"/>
                <a:ea typeface="Helvetica Neue"/>
                <a:cs typeface="Helvetica Neue"/>
              </a:defRPr>
            </a:pPr>
            <a:r>
              <a:rPr sz="3150" b="1">
                <a:solidFill>
                  <a:srgbClr val="142536"/>
                </a:solidFill>
                <a:latin typeface="Helvetica Neue"/>
                <a:ea typeface="Helvetica Neue"/>
                <a:cs typeface="Helvetica Neue"/>
              </a:rPr>
              <a:t>Model output must pass a quality gate</a:t>
            </a:r>
          </a:p>
        </p:txBody>
      </p:sp>
      <p:sp>
        <p:nvSpPr>
          <p:cNvPr id="2" name="">
            <a:extLst xmlns:a="http://schemas.openxmlformats.org/drawingml/2006/main">
              <a:ext uri="{FF2B5EF4-FFF2-40B4-BE49-F238E27FC236}">
                <a16:creationId xmlns:a16="http://schemas.microsoft.com/office/drawing/2014/main" id="{07A8F8FB-4A62-4C98-963A-BC1C82F78D98}"/>
              </a:ext>
            </a:extLst>
          </p:cNvPr>
          <p:cNvSpPr>
            <a:spLocks xmlns:a="http://schemas.openxmlformats.org/drawingml/2006/main" noGrp="1"/>
          </p:cNvSpPr>
          <p:nvPr/>
        </p:nvSpPr>
        <p:spPr>
          <a:xfrm xmlns:a="http://schemas.openxmlformats.org/drawingml/2006/main">
            <a:off x="790575" y="1428750"/>
            <a:ext cx="10382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662A5"/>
                </a:solidFill>
                <a:latin typeface="Helvetica Neue"/>
                <a:ea typeface="Helvetica Neue"/>
                <a:cs typeface="Helvetica Neue"/>
              </a:defRPr>
            </a:pPr>
            <a:r>
              <a:rPr sz="2175" b="1">
                <a:solidFill>
                  <a:srgbClr val="1662A5"/>
                </a:solidFill>
                <a:latin typeface="Helvetica Neue"/>
                <a:ea typeface="Helvetica Neue"/>
                <a:cs typeface="Helvetica Neue"/>
              </a:rPr>
              <a:t>1. Check JSON shape, source IDs, quote and output size.</a:t>
            </a:r>
          </a:p>
        </p:txBody>
      </p:sp>
      <p:sp>
        <p:nvSpPr>
          <p:cNvPr id="3" name="">
            <a:extLst xmlns:a="http://schemas.openxmlformats.org/drawingml/2006/main">
              <a:ext uri="{FF2B5EF4-FFF2-40B4-BE49-F238E27FC236}">
                <a16:creationId xmlns:a16="http://schemas.microsoft.com/office/drawing/2014/main" id="{3813F2B2-906A-40B7-8277-E7935A13721F}"/>
              </a:ext>
            </a:extLst>
          </p:cNvPr>
          <p:cNvSpPr>
            <a:spLocks xmlns:a="http://schemas.openxmlformats.org/drawingml/2006/main" noGrp="1"/>
          </p:cNvSpPr>
          <p:nvPr/>
        </p:nvSpPr>
        <p:spPr>
          <a:xfrm xmlns:a="http://schemas.openxmlformats.org/drawingml/2006/main">
            <a:off x="790575" y="2447925"/>
            <a:ext cx="10382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662A5"/>
                </a:solidFill>
                <a:latin typeface="Helvetica Neue"/>
                <a:ea typeface="Helvetica Neue"/>
                <a:cs typeface="Helvetica Neue"/>
              </a:defRPr>
            </a:pPr>
            <a:r>
              <a:rPr sz="2175" b="1">
                <a:solidFill>
                  <a:srgbClr val="1662A5"/>
                </a:solidFill>
                <a:latin typeface="Helvetica Neue"/>
                <a:ea typeface="Helvetica Neue"/>
                <a:cs typeface="Helvetica Neue"/>
              </a:rPr>
              <a:t>2. Return a specific repair request to the model, at most twice.</a:t>
            </a:r>
          </a:p>
        </p:txBody>
      </p:sp>
      <p:sp>
        <p:nvSpPr>
          <p:cNvPr id="4" name="">
            <a:extLst xmlns:a="http://schemas.openxmlformats.org/drawingml/2006/main">
              <a:ext uri="{FF2B5EF4-FFF2-40B4-BE49-F238E27FC236}">
                <a16:creationId xmlns:a16="http://schemas.microsoft.com/office/drawing/2014/main" id="{B27718EF-F494-462E-A8CE-F630C734D5B9}"/>
              </a:ext>
            </a:extLst>
          </p:cNvPr>
          <p:cNvSpPr>
            <a:spLocks xmlns:a="http://schemas.openxmlformats.org/drawingml/2006/main" noGrp="1"/>
          </p:cNvSpPr>
          <p:nvPr/>
        </p:nvSpPr>
        <p:spPr>
          <a:xfrm xmlns:a="http://schemas.openxmlformats.org/drawingml/2006/main">
            <a:off x="790575" y="3514725"/>
            <a:ext cx="103822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A73535"/>
                </a:solidFill>
                <a:latin typeface="Helvetica Neue"/>
                <a:ea typeface="Helvetica Neue"/>
                <a:cs typeface="Helvetica Neue"/>
              </a:defRPr>
            </a:pPr>
            <a:r>
              <a:rPr sz="2175" b="1">
                <a:solidFill>
                  <a:srgbClr val="A73535"/>
                </a:solidFill>
                <a:latin typeface="Helvetica Neue"/>
                <a:ea typeface="Helvetica Neue"/>
                <a:cs typeface="Helvetica Neue"/>
              </a:rPr>
              <a:t>3. Withhold unsupported decisions, actions and questions before saving.</a:t>
            </a:r>
          </a:p>
        </p:txBody>
      </p:sp>
      <p:sp>
        <p:nvSpPr>
          <p:cNvPr id="5" name="">
            <a:extLst xmlns:a="http://schemas.openxmlformats.org/drawingml/2006/main">
              <a:ext uri="{FF2B5EF4-FFF2-40B4-BE49-F238E27FC236}">
                <a16:creationId xmlns:a16="http://schemas.microsoft.com/office/drawing/2014/main" id="{A7338EC1-29C6-4B32-BEE5-23D2E710F048}"/>
              </a:ext>
            </a:extLst>
          </p:cNvPr>
          <p:cNvSpPr>
            <a:spLocks xmlns:a="http://schemas.openxmlformats.org/drawingml/2006/main" noGrp="1"/>
          </p:cNvSpPr>
          <p:nvPr/>
        </p:nvSpPr>
        <p:spPr>
          <a:xfrm xmlns:a="http://schemas.openxmlformats.org/drawingml/2006/main">
            <a:off x="790575" y="4886325"/>
            <a:ext cx="103822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42536"/>
                </a:solidFill>
                <a:latin typeface="Helvetica Neue"/>
                <a:ea typeface="Helvetica Neue"/>
                <a:cs typeface="Helvetica Neue"/>
              </a:defRPr>
            </a:pPr>
            <a:r>
              <a:rPr sz="2025" b="0">
                <a:solidFill>
                  <a:srgbClr val="142536"/>
                </a:solidFill>
                <a:latin typeface="Helvetica Neue"/>
                <a:ea typeface="Helvetica Neue"/>
                <a:cs typeface="Helvetica Neue"/>
              </a:rPr>
              <a:t>Technical gates pass in the staged trial; source review still finds unsupported claims. The raw transcript remains intact.</a:t>
            </a:r>
          </a:p>
        </p:txBody>
      </p:sp>
      <p:sp>
        <p:nvSpPr>
          <p:cNvPr id="6" name="">
            <a:extLst xmlns:a="http://schemas.openxmlformats.org/drawingml/2006/main">
              <a:ext uri="{FF2B5EF4-FFF2-40B4-BE49-F238E27FC236}">
                <a16:creationId xmlns:a16="http://schemas.microsoft.com/office/drawing/2014/main" id="{A46C186B-9050-47D0-9D00-2C2650071744}"/>
              </a:ext>
            </a:extLst>
          </p:cNvPr>
          <p:cNvSpPr>
            <a:spLocks xmlns:a="http://schemas.openxmlformats.org/drawingml/2006/main" noGrp="1"/>
          </p:cNvSpPr>
          <p:nvPr/>
        </p:nvSpPr>
        <p:spPr>
          <a:xfrm xmlns:a="http://schemas.openxmlformats.org/drawingml/2006/main">
            <a:off x="742950" y="6000750"/>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A73535"/>
                </a:solidFill>
                <a:latin typeface="Helvetica Neue"/>
                <a:ea typeface="Helvetica Neue"/>
                <a:cs typeface="Helvetica Neue"/>
              </a:defRPr>
            </a:pPr>
            <a:r>
              <a:rPr sz="1575" b="0">
                <a:solidFill>
                  <a:srgbClr val="A73535"/>
                </a:solidFill>
                <a:latin typeface="Helvetica Neue"/>
                <a:ea typeface="Helvetica Neue"/>
                <a:cs typeface="Helvetica Neue"/>
              </a:rPr>
              <a:t>In the live demo, inspect the cited words and a failed response. A valid JSON shape does not prove factual accuracy.</a:t>
            </a:r>
          </a:p>
        </p:txBody>
      </p:sp>
    </p:spTree>
    <p:extLst>
      <p:ext uri="{BB962C8B-B14F-4D97-AF65-F5344CB8AC3E}">
        <p14:creationId xmlns:p14="http://schemas.microsoft.com/office/powerpoint/2010/main" val="75715826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71F5E37-2D13-4531-AFE0-3ADD923BE69D}"/>
              </a:ext>
            </a:extLst>
          </p:cNvPr>
          <p:cNvSpPr>
            <a:spLocks xmlns:a="http://schemas.openxmlformats.org/drawingml/2006/main" noGrp="1"/>
          </p:cNvSpPr>
          <p:nvPr/>
        </p:nvSpPr>
        <p:spPr>
          <a:xfrm xmlns:a="http://schemas.openxmlformats.org/drawingml/2006/main">
            <a:off x="666750" y="428625"/>
            <a:ext cx="1085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536"/>
                </a:solidFill>
                <a:latin typeface="Helvetica Neue"/>
                <a:ea typeface="Helvetica Neue"/>
                <a:cs typeface="Helvetica Neue"/>
              </a:defRPr>
            </a:pPr>
            <a:r>
              <a:rPr sz="3150" b="1">
                <a:solidFill>
                  <a:srgbClr val="142536"/>
                </a:solidFill>
                <a:latin typeface="Helvetica Neue"/>
                <a:ea typeface="Helvetica Neue"/>
                <a:cs typeface="Helvetica Neue"/>
              </a:rPr>
              <a:t>A longer English meeting exposes another failure</a:t>
            </a:r>
          </a:p>
        </p:txBody>
      </p:sp>
      <p:sp>
        <p:nvSpPr>
          <p:cNvPr id="2" name="">
            <a:extLst xmlns:a="http://schemas.openxmlformats.org/drawingml/2006/main">
              <a:ext uri="{FF2B5EF4-FFF2-40B4-BE49-F238E27FC236}">
                <a16:creationId xmlns:a16="http://schemas.microsoft.com/office/drawing/2014/main" id="{985624BB-CEB1-429A-8E2E-FB2A6A86C38F}"/>
              </a:ext>
            </a:extLst>
          </p:cNvPr>
          <p:cNvSpPr>
            <a:spLocks xmlns:a="http://schemas.openxmlformats.org/drawingml/2006/main" noGrp="1"/>
          </p:cNvSpPr>
          <p:nvPr/>
        </p:nvSpPr>
        <p:spPr>
          <a:xfrm xmlns:a="http://schemas.openxmlformats.org/drawingml/2006/main">
            <a:off x="790575" y="1504950"/>
            <a:ext cx="1038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1662A5"/>
                </a:solidFill>
                <a:latin typeface="Helvetica Neue"/>
                <a:ea typeface="Helvetica Neue"/>
                <a:cs typeface="Helvetica Neue"/>
              </a:defRPr>
            </a:pPr>
            <a:r>
              <a:rPr sz="2325" b="1">
                <a:solidFill>
                  <a:srgbClr val="1662A5"/>
                </a:solidFill>
                <a:latin typeface="Helvetica Neue"/>
                <a:ea typeface="Helvetica Neue"/>
                <a:cs typeface="Helvetica Neue"/>
              </a:rPr>
              <a:t>DOE advisory committee, first 30 minutes</a:t>
            </a:r>
          </a:p>
        </p:txBody>
      </p:sp>
      <p:sp>
        <p:nvSpPr>
          <p:cNvPr id="3" name="">
            <a:extLst xmlns:a="http://schemas.openxmlformats.org/drawingml/2006/main">
              <a:ext uri="{FF2B5EF4-FFF2-40B4-BE49-F238E27FC236}">
                <a16:creationId xmlns:a16="http://schemas.microsoft.com/office/drawing/2014/main" id="{EC880FBE-2D8D-48BF-B268-A41FFF691A88}"/>
              </a:ext>
            </a:extLst>
          </p:cNvPr>
          <p:cNvSpPr>
            <a:spLocks xmlns:a="http://schemas.openxmlformats.org/drawingml/2006/main" noGrp="1"/>
          </p:cNvSpPr>
          <p:nvPr/>
        </p:nvSpPr>
        <p:spPr>
          <a:xfrm xmlns:a="http://schemas.openxmlformats.org/drawingml/2006/main">
            <a:off x="790575" y="2238375"/>
            <a:ext cx="1038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42536"/>
                </a:solidFill>
                <a:latin typeface="Helvetica Neue"/>
                <a:ea typeface="Helvetica Neue"/>
                <a:cs typeface="Helvetica Neue"/>
              </a:defRPr>
            </a:pPr>
            <a:r>
              <a:rPr sz="2175" b="0">
                <a:solidFill>
                  <a:srgbClr val="142536"/>
                </a:solidFill>
                <a:latin typeface="Helvetica Neue"/>
                <a:ea typeface="Helvetica Neue"/>
                <a:cs typeface="Helvetica Neue"/>
              </a:rPr>
              <a:t>Transcription saved 4,216 timed segments. Speaker recognition assigned eight anonymous IDs.</a:t>
            </a:r>
          </a:p>
        </p:txBody>
      </p:sp>
      <p:sp>
        <p:nvSpPr>
          <p:cNvPr id="4" name="">
            <a:extLst xmlns:a="http://schemas.openxmlformats.org/drawingml/2006/main">
              <a:ext uri="{FF2B5EF4-FFF2-40B4-BE49-F238E27FC236}">
                <a16:creationId xmlns:a16="http://schemas.microsoft.com/office/drawing/2014/main" id="{FD173560-341D-4EB0-9453-D325AF5D4C9B}"/>
              </a:ext>
            </a:extLst>
          </p:cNvPr>
          <p:cNvSpPr>
            <a:spLocks xmlns:a="http://schemas.openxmlformats.org/drawingml/2006/main" noGrp="1"/>
          </p:cNvSpPr>
          <p:nvPr/>
        </p:nvSpPr>
        <p:spPr>
          <a:xfrm xmlns:a="http://schemas.openxmlformats.org/drawingml/2006/main">
            <a:off x="790575" y="368617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A73535"/>
                </a:solidFill>
                <a:latin typeface="Helvetica Neue"/>
                <a:ea typeface="Helvetica Neue"/>
                <a:cs typeface="Helvetica Neue"/>
              </a:defRPr>
            </a:pPr>
            <a:r>
              <a:rPr sz="2175" b="1">
                <a:solidFill>
                  <a:srgbClr val="A73535"/>
                </a:solidFill>
                <a:latin typeface="Helvetica Neue"/>
                <a:ea typeface="Helvetica Neue"/>
                <a:cs typeface="Helvetica Neue"/>
              </a:rPr>
              <a:t>Minutes model A: zero items saved</a:t>
            </a:r>
          </a:p>
        </p:txBody>
      </p:sp>
      <p:sp>
        <p:nvSpPr>
          <p:cNvPr id="5" name="">
            <a:extLst xmlns:a="http://schemas.openxmlformats.org/drawingml/2006/main">
              <a:ext uri="{FF2B5EF4-FFF2-40B4-BE49-F238E27FC236}">
                <a16:creationId xmlns:a16="http://schemas.microsoft.com/office/drawing/2014/main" id="{C555A88D-C1EF-4EEE-B7B4-B24834967A78}"/>
              </a:ext>
            </a:extLst>
          </p:cNvPr>
          <p:cNvSpPr>
            <a:spLocks xmlns:a="http://schemas.openxmlformats.org/drawingml/2006/main" noGrp="1"/>
          </p:cNvSpPr>
          <p:nvPr/>
        </p:nvSpPr>
        <p:spPr>
          <a:xfrm xmlns:a="http://schemas.openxmlformats.org/drawingml/2006/main">
            <a:off x="790575" y="42767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A73535"/>
                </a:solidFill>
                <a:latin typeface="Helvetica Neue"/>
                <a:ea typeface="Helvetica Neue"/>
                <a:cs typeface="Helvetica Neue"/>
              </a:defRPr>
            </a:pPr>
            <a:r>
              <a:rPr sz="2175" b="1">
                <a:solidFill>
                  <a:srgbClr val="A73535"/>
                </a:solidFill>
                <a:latin typeface="Helvetica Neue"/>
                <a:ea typeface="Helvetica Neue"/>
                <a:cs typeface="Helvetica Neue"/>
              </a:rPr>
              <a:t>Minutes model B: zero items saved</a:t>
            </a:r>
          </a:p>
        </p:txBody>
      </p:sp>
      <p:sp>
        <p:nvSpPr>
          <p:cNvPr id="6" name="">
            <a:extLst xmlns:a="http://schemas.openxmlformats.org/drawingml/2006/main">
              <a:ext uri="{FF2B5EF4-FFF2-40B4-BE49-F238E27FC236}">
                <a16:creationId xmlns:a16="http://schemas.microsoft.com/office/drawing/2014/main" id="{66DAB6CC-8044-4D72-8167-35592ED5CAB0}"/>
              </a:ext>
            </a:extLst>
          </p:cNvPr>
          <p:cNvSpPr>
            <a:spLocks xmlns:a="http://schemas.openxmlformats.org/drawingml/2006/main" noGrp="1"/>
          </p:cNvSpPr>
          <p:nvPr/>
        </p:nvSpPr>
        <p:spPr>
          <a:xfrm xmlns:a="http://schemas.openxmlformats.org/drawingml/2006/main">
            <a:off x="790575" y="5076825"/>
            <a:ext cx="10382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42536"/>
                </a:solidFill>
                <a:latin typeface="Helvetica Neue"/>
                <a:ea typeface="Helvetica Neue"/>
                <a:cs typeface="Helvetica Neue"/>
              </a:defRPr>
            </a:pPr>
            <a:r>
              <a:rPr sz="2025" b="0">
                <a:solidFill>
                  <a:srgbClr val="142536"/>
                </a:solidFill>
                <a:latin typeface="Helvetica Neue"/>
                <a:ea typeface="Helvetica Neue"/>
                <a:cs typeface="Helvetica Neue"/>
              </a:rPr>
              <a:t>Both runs failed while reading structured model output. This transcript has no validated long-meeting minutes.</a:t>
            </a:r>
          </a:p>
        </p:txBody>
      </p:sp>
      <p:sp>
        <p:nvSpPr>
          <p:cNvPr id="7" name="">
            <a:extLst xmlns:a="http://schemas.openxmlformats.org/drawingml/2006/main">
              <a:ext uri="{FF2B5EF4-FFF2-40B4-BE49-F238E27FC236}">
                <a16:creationId xmlns:a16="http://schemas.microsoft.com/office/drawing/2014/main" id="{A4E51BAF-00FC-485A-AD9B-3D5671FEC294}"/>
              </a:ext>
            </a:extLst>
          </p:cNvPr>
          <p:cNvSpPr>
            <a:spLocks xmlns:a="http://schemas.openxmlformats.org/drawingml/2006/main" noGrp="1"/>
          </p:cNvSpPr>
          <p:nvPr/>
        </p:nvSpPr>
        <p:spPr>
          <a:xfrm xmlns:a="http://schemas.openxmlformats.org/drawingml/2006/main">
            <a:off x="742950" y="6000750"/>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496071"/>
                </a:solidFill>
                <a:latin typeface="Helvetica Neue"/>
                <a:ea typeface="Helvetica Neue"/>
                <a:cs typeface="Helvetica Neue"/>
              </a:defRPr>
            </a:pPr>
            <a:r>
              <a:rPr sz="1575" b="0">
                <a:solidFill>
                  <a:srgbClr val="496071"/>
                </a:solidFill>
                <a:latin typeface="Helvetica Neue"/>
                <a:ea typeface="Helvetica Neue"/>
                <a:cs typeface="Helvetica Neue"/>
              </a:rPr>
              <a:t>Official DOE transcript is not time aligned. No whole-excerpt Word Error Rate is claimed.</a:t>
            </a:r>
          </a:p>
        </p:txBody>
      </p:sp>
    </p:spTree>
    <p:extLst>
      <p:ext uri="{BB962C8B-B14F-4D97-AF65-F5344CB8AC3E}">
        <p14:creationId xmlns:p14="http://schemas.microsoft.com/office/powerpoint/2010/main" val="160577330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7654B1F-DC5A-409B-8179-A0CA484A2073}"/>
              </a:ext>
            </a:extLst>
          </p:cNvPr>
          <p:cNvSpPr>
            <a:spLocks xmlns:a="http://schemas.openxmlformats.org/drawingml/2006/main" noGrp="1"/>
          </p:cNvSpPr>
          <p:nvPr/>
        </p:nvSpPr>
        <p:spPr>
          <a:xfrm xmlns:a="http://schemas.openxmlformats.org/drawingml/2006/main">
            <a:off x="666750" y="428625"/>
            <a:ext cx="1085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536"/>
                </a:solidFill>
                <a:latin typeface="Helvetica Neue"/>
                <a:ea typeface="Helvetica Neue"/>
                <a:cs typeface="Helvetica Neue"/>
              </a:defRPr>
            </a:pPr>
            <a:r>
              <a:rPr sz="3150" b="1">
                <a:solidFill>
                  <a:srgbClr val="142536"/>
                </a:solidFill>
                <a:latin typeface="Helvetica Neue"/>
                <a:ea typeface="Helvetica Neue"/>
                <a:cs typeface="Helvetica Neue"/>
              </a:rPr>
              <a:t>What a chair can accomplish now</a:t>
            </a:r>
          </a:p>
        </p:txBody>
      </p:sp>
      <p:sp>
        <p:nvSpPr>
          <p:cNvPr id="2" name="">
            <a:extLst xmlns:a="http://schemas.openxmlformats.org/drawingml/2006/main">
              <a:ext uri="{FF2B5EF4-FFF2-40B4-BE49-F238E27FC236}">
                <a16:creationId xmlns:a16="http://schemas.microsoft.com/office/drawing/2014/main" id="{65B1CA6D-FD65-4FC8-991E-EA81B9EB21FA}"/>
              </a:ext>
            </a:extLst>
          </p:cNvPr>
          <p:cNvSpPr>
            <a:spLocks xmlns:a="http://schemas.openxmlformats.org/drawingml/2006/main" noGrp="1"/>
          </p:cNvSpPr>
          <p:nvPr/>
        </p:nvSpPr>
        <p:spPr>
          <a:xfrm xmlns:a="http://schemas.openxmlformats.org/drawingml/2006/main">
            <a:off x="790575" y="1619250"/>
            <a:ext cx="10382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42536"/>
                </a:solidFill>
                <a:latin typeface="Helvetica Neue"/>
                <a:ea typeface="Helvetica Neue"/>
                <a:cs typeface="Helvetica Neue"/>
              </a:defRPr>
            </a:pPr>
            <a:r>
              <a:rPr sz="2250" b="1">
                <a:solidFill>
                  <a:srgbClr val="142536"/>
                </a:solidFill>
                <a:latin typeface="Helvetica Neue"/>
                <a:ea typeface="Helvetica Neue"/>
                <a:cs typeface="Helvetica Neue"/>
              </a:rPr>
              <a:t>Create and inspect a timed local transcript in English or Polish.</a:t>
            </a:r>
          </a:p>
        </p:txBody>
      </p:sp>
      <p:sp>
        <p:nvSpPr>
          <p:cNvPr id="3" name="">
            <a:extLst xmlns:a="http://schemas.openxmlformats.org/drawingml/2006/main">
              <a:ext uri="{FF2B5EF4-FFF2-40B4-BE49-F238E27FC236}">
                <a16:creationId xmlns:a16="http://schemas.microsoft.com/office/drawing/2014/main" id="{22CB1A72-09B3-4D98-BD5D-C5663C56FCF0}"/>
              </a:ext>
            </a:extLst>
          </p:cNvPr>
          <p:cNvSpPr>
            <a:spLocks xmlns:a="http://schemas.openxmlformats.org/drawingml/2006/main" noGrp="1"/>
          </p:cNvSpPr>
          <p:nvPr/>
        </p:nvSpPr>
        <p:spPr>
          <a:xfrm xmlns:a="http://schemas.openxmlformats.org/drawingml/2006/main">
            <a:off x="790575" y="2895600"/>
            <a:ext cx="103822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42536"/>
                </a:solidFill>
                <a:latin typeface="Helvetica Neue"/>
                <a:ea typeface="Helvetica Neue"/>
                <a:cs typeface="Helvetica Neue"/>
              </a:defRPr>
            </a:pPr>
            <a:r>
              <a:rPr sz="2250" b="1">
                <a:solidFill>
                  <a:srgbClr val="142536"/>
                </a:solidFill>
                <a:latin typeface="Helvetica Neue"/>
                <a:ea typeface="Helvetica Neue"/>
                <a:cs typeface="Helvetica Neue"/>
              </a:rPr>
              <a:t>Locate a weak-audio range and inspect anonymous speaker labels.</a:t>
            </a:r>
          </a:p>
        </p:txBody>
      </p:sp>
      <p:sp>
        <p:nvSpPr>
          <p:cNvPr id="4" name="">
            <a:extLst xmlns:a="http://schemas.openxmlformats.org/drawingml/2006/main">
              <a:ext uri="{FF2B5EF4-FFF2-40B4-BE49-F238E27FC236}">
                <a16:creationId xmlns:a16="http://schemas.microsoft.com/office/drawing/2014/main" id="{B8E8C230-9AF9-4F6C-8154-9FC355B9A0F1}"/>
              </a:ext>
            </a:extLst>
          </p:cNvPr>
          <p:cNvSpPr>
            <a:spLocks xmlns:a="http://schemas.openxmlformats.org/drawingml/2006/main" noGrp="1"/>
          </p:cNvSpPr>
          <p:nvPr/>
        </p:nvSpPr>
        <p:spPr>
          <a:xfrm xmlns:a="http://schemas.openxmlformats.org/drawingml/2006/main">
            <a:off x="790575" y="4181475"/>
            <a:ext cx="103822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42536"/>
                </a:solidFill>
                <a:latin typeface="Helvetica Neue"/>
                <a:ea typeface="Helvetica Neue"/>
                <a:cs typeface="Helvetica Neue"/>
              </a:defRPr>
            </a:pPr>
            <a:r>
              <a:rPr sz="2250" b="1">
                <a:solidFill>
                  <a:srgbClr val="142536"/>
                </a:solidFill>
                <a:latin typeface="Helvetica Neue"/>
                <a:ea typeface="Helvetica Neue"/>
                <a:cs typeface="Helvetica Neue"/>
              </a:rPr>
              <a:t>Manually correct a label or assign a name after verifying the voice.</a:t>
            </a:r>
          </a:p>
        </p:txBody>
      </p:sp>
      <p:sp>
        <p:nvSpPr>
          <p:cNvPr id="5" name="">
            <a:extLst xmlns:a="http://schemas.openxmlformats.org/drawingml/2006/main">
              <a:ext uri="{FF2B5EF4-FFF2-40B4-BE49-F238E27FC236}">
                <a16:creationId xmlns:a16="http://schemas.microsoft.com/office/drawing/2014/main" id="{52AB0993-6FBF-4FA4-87A9-A5A177B26BE9}"/>
              </a:ext>
            </a:extLst>
          </p:cNvPr>
          <p:cNvSpPr>
            <a:spLocks xmlns:a="http://schemas.openxmlformats.org/drawingml/2006/main" noGrp="1"/>
          </p:cNvSpPr>
          <p:nvPr/>
        </p:nvSpPr>
        <p:spPr>
          <a:xfrm xmlns:a="http://schemas.openxmlformats.org/drawingml/2006/main">
            <a:off x="742950" y="6000750"/>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A73535"/>
                </a:solidFill>
                <a:latin typeface="Helvetica Neue"/>
                <a:ea typeface="Helvetica Neue"/>
                <a:cs typeface="Helvetica Neue"/>
              </a:defRPr>
            </a:pPr>
            <a:r>
              <a:rPr sz="1575" b="0">
                <a:solidFill>
                  <a:srgbClr val="A73535"/>
                </a:solidFill>
                <a:latin typeface="Helvetica Neue"/>
                <a:ea typeface="Helvetica Neue"/>
                <a:cs typeface="Helvetica Neue"/>
              </a:rPr>
              <a:t>The minutes output must be checked against source audio and cannot be published from this prototype.</a:t>
            </a:r>
          </a:p>
        </p:txBody>
      </p:sp>
    </p:spTree>
    <p:extLst>
      <p:ext uri="{BB962C8B-B14F-4D97-AF65-F5344CB8AC3E}">
        <p14:creationId xmlns:p14="http://schemas.microsoft.com/office/powerpoint/2010/main" val="167299382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EB2480B-5933-4BE3-AD68-AE1DE8F1DF7B}"/>
              </a:ext>
            </a:extLst>
          </p:cNvPr>
          <p:cNvSpPr>
            <a:spLocks xmlns:a="http://schemas.openxmlformats.org/drawingml/2006/main" noGrp="1"/>
          </p:cNvSpPr>
          <p:nvPr/>
        </p:nvSpPr>
        <p:spPr>
          <a:xfrm xmlns:a="http://schemas.openxmlformats.org/drawingml/2006/main">
            <a:off x="666750" y="428625"/>
            <a:ext cx="1085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536"/>
                </a:solidFill>
                <a:latin typeface="Helvetica Neue"/>
                <a:ea typeface="Helvetica Neue"/>
                <a:cs typeface="Helvetica Neue"/>
              </a:defRPr>
            </a:pPr>
            <a:r>
              <a:rPr sz="3150" b="1">
                <a:solidFill>
                  <a:srgbClr val="142536"/>
                </a:solidFill>
                <a:latin typeface="Helvetica Neue"/>
                <a:ea typeface="Helvetica Neue"/>
                <a:cs typeface="Helvetica Neue"/>
              </a:rPr>
              <a:t>English AMI transcription comparison</a:t>
            </a:r>
          </a:p>
        </p:txBody>
      </p:sp>
      <p:sp>
        <p:nvSpPr>
          <p:cNvPr id="2" name="">
            <a:extLst xmlns:a="http://schemas.openxmlformats.org/drawingml/2006/main">
              <a:ext uri="{FF2B5EF4-FFF2-40B4-BE49-F238E27FC236}">
                <a16:creationId xmlns:a16="http://schemas.microsoft.com/office/drawing/2014/main" id="{70AE4FD5-9B48-480D-9926-3FA85A0E5E8A}"/>
              </a:ext>
            </a:extLst>
          </p:cNvPr>
          <p:cNvSpPr>
            <a:spLocks xmlns:a="http://schemas.openxmlformats.org/drawingml/2006/main" noGrp="1"/>
          </p:cNvSpPr>
          <p:nvPr/>
        </p:nvSpPr>
        <p:spPr>
          <a:xfrm xmlns:a="http://schemas.openxmlformats.org/drawingml/2006/main">
            <a:off x="790575" y="1333500"/>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42536"/>
                </a:solidFill>
                <a:latin typeface="Helvetica Neue"/>
                <a:ea typeface="Helvetica Neue"/>
                <a:cs typeface="Helvetica Neue"/>
              </a:defRPr>
            </a:pPr>
            <a:r>
              <a:rPr sz="1875" b="0">
                <a:solidFill>
                  <a:srgbClr val="142536"/>
                </a:solidFill>
                <a:latin typeface="Helvetica Neue"/>
                <a:ea typeface="Helvetica Neue"/>
                <a:cs typeface="Helvetica Neue"/>
              </a:rPr>
              <a:t>Whole-meeting word error rate, same headset audio</a:t>
            </a:r>
          </a:p>
        </p:txBody>
      </p:sp>
      <p:sp>
        <p:nvSpPr>
          <p:cNvPr id="3" name="">
            <a:extLst xmlns:a="http://schemas.openxmlformats.org/drawingml/2006/main">
              <a:ext uri="{FF2B5EF4-FFF2-40B4-BE49-F238E27FC236}">
                <a16:creationId xmlns:a16="http://schemas.microsoft.com/office/drawing/2014/main" id="{19FBB5B9-AA6D-40CA-B76D-F1020CD69303}"/>
              </a:ext>
            </a:extLst>
          </p:cNvPr>
          <p:cNvSpPr>
            <a:spLocks xmlns:a="http://schemas.openxmlformats.org/drawingml/2006/main" noGrp="1"/>
          </p:cNvSpPr>
          <p:nvPr/>
        </p:nvSpPr>
        <p:spPr>
          <a:xfrm xmlns:a="http://schemas.openxmlformats.org/drawingml/2006/main">
            <a:off x="790575" y="1885950"/>
            <a:ext cx="45243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662A5"/>
                </a:solidFill>
                <a:latin typeface="Helvetica Neue"/>
                <a:ea typeface="Helvetica Neue"/>
                <a:cs typeface="Helvetica Neue"/>
              </a:defRPr>
            </a:pPr>
            <a:r>
              <a:rPr sz="2025" b="1">
                <a:solidFill>
                  <a:srgbClr val="1662A5"/>
                </a:solidFill>
                <a:latin typeface="Helvetica Neue"/>
                <a:ea typeface="Helvetica Neue"/>
                <a:cs typeface="Helvetica Neue"/>
              </a:rPr>
              <a:t>FluidAudio 19.48%</a:t>
            </a:r>
          </a:p>
        </p:txBody>
      </p:sp>
      <p:sp>
        <p:nvSpPr>
          <p:cNvPr id="4" name="">
            <a:extLst xmlns:a="http://schemas.openxmlformats.org/drawingml/2006/main">
              <a:ext uri="{FF2B5EF4-FFF2-40B4-BE49-F238E27FC236}">
                <a16:creationId xmlns:a16="http://schemas.microsoft.com/office/drawing/2014/main" id="{946D2D9A-7C3E-4E20-87F6-59632AF0B444}"/>
              </a:ext>
            </a:extLst>
          </p:cNvPr>
          <p:cNvSpPr>
            <a:spLocks xmlns:a="http://schemas.openxmlformats.org/drawingml/2006/main" noGrp="1"/>
          </p:cNvSpPr>
          <p:nvPr/>
        </p:nvSpPr>
        <p:spPr>
          <a:xfrm xmlns:a="http://schemas.openxmlformats.org/drawingml/2006/main">
            <a:off x="6553200" y="1885950"/>
            <a:ext cx="45243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D36832"/>
                </a:solidFill>
                <a:latin typeface="Helvetica Neue"/>
                <a:ea typeface="Helvetica Neue"/>
                <a:cs typeface="Helvetica Neue"/>
              </a:defRPr>
            </a:pPr>
            <a:r>
              <a:rPr sz="2025" b="1">
                <a:solidFill>
                  <a:srgbClr val="D36832"/>
                </a:solidFill>
                <a:latin typeface="Helvetica Neue"/>
                <a:ea typeface="Helvetica Neue"/>
                <a:cs typeface="Helvetica Neue"/>
              </a:rPr>
              <a:t>Whisper 28.79%</a:t>
            </a:r>
          </a:p>
        </p:txBody>
      </p:sp>
      <p:sp>
        <p:nvSpPr>
          <p:cNvPr id="6" name="">
            <a:extLst xmlns:a="http://schemas.openxmlformats.org/drawingml/2006/main">
              <a:ext uri="{FF2B5EF4-FFF2-40B4-BE49-F238E27FC236}">
                <a16:creationId xmlns:a16="http://schemas.microsoft.com/office/drawing/2014/main" id="{C21E78C4-B7B7-4D6B-84DC-693E2140CD03}"/>
              </a:ext>
            </a:extLst>
          </p:cNvPr>
          <p:cNvSpPr>
            <a:spLocks xmlns:a="http://schemas.openxmlformats.org/drawingml/2006/main" noGrp="1"/>
          </p:cNvSpPr>
          <p:nvPr/>
        </p:nvSpPr>
        <p:spPr>
          <a:xfrm xmlns:a="http://schemas.openxmlformats.org/drawingml/2006/main">
            <a:off x="742950" y="6000750"/>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496071"/>
                </a:solidFill>
                <a:latin typeface="Helvetica Neue"/>
                <a:ea typeface="Helvetica Neue"/>
                <a:cs typeface="Helvetica Neue"/>
              </a:defRPr>
            </a:pPr>
            <a:r>
              <a:rPr sz="1575" b="0">
                <a:solidFill>
                  <a:srgbClr val="496071"/>
                </a:solidFill>
                <a:latin typeface="Helvetica Neue"/>
                <a:ea typeface="Helvetica Neue"/>
                <a:cs typeface="Helvetica Neue"/>
              </a:rPr>
              <a:t>Lower is better. Affected-speaker reference-linked errors: 27.78% versus 58.55%.</a:t>
            </a:r>
          </a:p>
        </p:txBody>
      </p:sp>
      <p:graphicFrame>
        <p:nvGraphicFramePr>
          <p:cNvPr id="14" name="Chart"/>
          <p:cNvGraphicFramePr/>
          <p:nvPr/>
        </p:nvGraphicFramePr>
        <p:xfrm>
          <a:off xmlns:a="http://schemas.openxmlformats.org/drawingml/2006/main" x="1476375" y="2505075"/>
          <a:ext xmlns:a="http://schemas.openxmlformats.org/drawingml/2006/main" cx="9144000" cy="2686050"/>
        </p:xfrm>
        <a:graphic xmlns:a="http://schemas.openxmlformats.org/drawingml/2006/main">
          <a:graphicData uri="http://schemas.openxmlformats.org/drawingml/2006/chart">
            <c:chart xmlns:r="http://schemas.openxmlformats.org/officeDocument/2006/relationships" xmlns:c="http://schemas.openxmlformats.org/drawingml/2006/chart" r:id="Re6c0a9bfe9e7463f"/>
          </a:graphicData>
        </a:graphic>
      </p:graphicFrame>
    </p:spTree>
    <p:extLst>
      <p:ext uri="{BB962C8B-B14F-4D97-AF65-F5344CB8AC3E}">
        <p14:creationId xmlns:p14="http://schemas.microsoft.com/office/powerpoint/2010/main" val="187094338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D906D5-4D3C-4724-9C4D-4F915F72D470}"/>
              </a:ext>
            </a:extLst>
          </p:cNvPr>
          <p:cNvSpPr>
            <a:spLocks xmlns:a="http://schemas.openxmlformats.org/drawingml/2006/main" noGrp="1"/>
          </p:cNvSpPr>
          <p:nvPr/>
        </p:nvSpPr>
        <p:spPr>
          <a:xfrm xmlns:a="http://schemas.openxmlformats.org/drawingml/2006/main">
            <a:off x="666750" y="428625"/>
            <a:ext cx="1085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536"/>
                </a:solidFill>
                <a:latin typeface="Helvetica Neue"/>
                <a:ea typeface="Helvetica Neue"/>
                <a:cs typeface="Helvetica Neue"/>
              </a:defRPr>
            </a:pPr>
            <a:r>
              <a:rPr sz="3150" b="1">
                <a:solidFill>
                  <a:srgbClr val="142536"/>
                </a:solidFill>
                <a:latin typeface="Helvetica Neue"/>
                <a:ea typeface="Helvetica Neue"/>
                <a:cs typeface="Helvetica Neue"/>
              </a:rPr>
              <a:t>English and Polish language check</a:t>
            </a:r>
          </a:p>
        </p:txBody>
      </p:sp>
      <p:sp>
        <p:nvSpPr>
          <p:cNvPr id="2" name="">
            <a:extLst xmlns:a="http://schemas.openxmlformats.org/drawingml/2006/main">
              <a:ext uri="{FF2B5EF4-FFF2-40B4-BE49-F238E27FC236}">
                <a16:creationId xmlns:a16="http://schemas.microsoft.com/office/drawing/2014/main" id="{6EAEE7F8-B5EE-42AE-BB18-173FB4B2EE81}"/>
              </a:ext>
            </a:extLst>
          </p:cNvPr>
          <p:cNvSpPr>
            <a:spLocks xmlns:a="http://schemas.openxmlformats.org/drawingml/2006/main" noGrp="1"/>
          </p:cNvSpPr>
          <p:nvPr/>
        </p:nvSpPr>
        <p:spPr>
          <a:xfrm xmlns:a="http://schemas.openxmlformats.org/drawingml/2006/main">
            <a:off x="790575" y="1333500"/>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42536"/>
                </a:solidFill>
                <a:latin typeface="Helvetica Neue"/>
                <a:ea typeface="Helvetica Neue"/>
                <a:cs typeface="Helvetica Neue"/>
              </a:defRPr>
            </a:pPr>
            <a:r>
              <a:rPr sz="1875" b="0">
                <a:solidFill>
                  <a:srgbClr val="142536"/>
                </a:solidFill>
                <a:latin typeface="Helvetica Neue"/>
                <a:ea typeface="Helvetica Neue"/>
                <a:cs typeface="Helvetica Neue"/>
              </a:rPr>
              <a:t>Word error rate on five read-speech clips per language</a:t>
            </a:r>
          </a:p>
        </p:txBody>
      </p:sp>
      <p:sp>
        <p:nvSpPr>
          <p:cNvPr id="3" name="">
            <a:extLst xmlns:a="http://schemas.openxmlformats.org/drawingml/2006/main">
              <a:ext uri="{FF2B5EF4-FFF2-40B4-BE49-F238E27FC236}">
                <a16:creationId xmlns:a16="http://schemas.microsoft.com/office/drawing/2014/main" id="{4FCB95B7-B807-41DB-AC44-53F4C12FC9D8}"/>
              </a:ext>
            </a:extLst>
          </p:cNvPr>
          <p:cNvSpPr>
            <a:spLocks xmlns:a="http://schemas.openxmlformats.org/drawingml/2006/main" noGrp="1"/>
          </p:cNvSpPr>
          <p:nvPr/>
        </p:nvSpPr>
        <p:spPr>
          <a:xfrm xmlns:a="http://schemas.openxmlformats.org/drawingml/2006/main">
            <a:off x="790575" y="1885950"/>
            <a:ext cx="45243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662A5"/>
                </a:solidFill>
                <a:latin typeface="Helvetica Neue"/>
                <a:ea typeface="Helvetica Neue"/>
                <a:cs typeface="Helvetica Neue"/>
              </a:defRPr>
            </a:pPr>
            <a:r>
              <a:rPr sz="2025" b="1">
                <a:solidFill>
                  <a:srgbClr val="1662A5"/>
                </a:solidFill>
                <a:latin typeface="Helvetica Neue"/>
                <a:ea typeface="Helvetica Neue"/>
                <a:cs typeface="Helvetica Neue"/>
              </a:rPr>
              <a:t>Parakeet v3</a:t>
            </a:r>
          </a:p>
        </p:txBody>
      </p:sp>
      <p:sp>
        <p:nvSpPr>
          <p:cNvPr id="4" name="">
            <a:extLst xmlns:a="http://schemas.openxmlformats.org/drawingml/2006/main">
              <a:ext uri="{FF2B5EF4-FFF2-40B4-BE49-F238E27FC236}">
                <a16:creationId xmlns:a16="http://schemas.microsoft.com/office/drawing/2014/main" id="{4A62A8E6-E3E9-40AB-8B5E-5BA939F8E266}"/>
              </a:ext>
            </a:extLst>
          </p:cNvPr>
          <p:cNvSpPr>
            <a:spLocks xmlns:a="http://schemas.openxmlformats.org/drawingml/2006/main" noGrp="1"/>
          </p:cNvSpPr>
          <p:nvPr/>
        </p:nvSpPr>
        <p:spPr>
          <a:xfrm xmlns:a="http://schemas.openxmlformats.org/drawingml/2006/main">
            <a:off x="6553200" y="1885950"/>
            <a:ext cx="45243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D36832"/>
                </a:solidFill>
                <a:latin typeface="Helvetica Neue"/>
                <a:ea typeface="Helvetica Neue"/>
                <a:cs typeface="Helvetica Neue"/>
              </a:defRPr>
            </a:pPr>
            <a:r>
              <a:rPr sz="2025" b="1">
                <a:solidFill>
                  <a:srgbClr val="D36832"/>
                </a:solidFill>
                <a:latin typeface="Helvetica Neue"/>
                <a:ea typeface="Helvetica Neue"/>
                <a:cs typeface="Helvetica Neue"/>
              </a:rPr>
              <a:t>Whisper base, CPU</a:t>
            </a:r>
          </a:p>
        </p:txBody>
      </p:sp>
      <p:sp>
        <p:nvSpPr>
          <p:cNvPr id="6" name="">
            <a:extLst xmlns:a="http://schemas.openxmlformats.org/drawingml/2006/main">
              <a:ext uri="{FF2B5EF4-FFF2-40B4-BE49-F238E27FC236}">
                <a16:creationId xmlns:a16="http://schemas.microsoft.com/office/drawing/2014/main" id="{A38D8513-3FE8-4016-AFF8-B560B3AAEBB3}"/>
              </a:ext>
            </a:extLst>
          </p:cNvPr>
          <p:cNvSpPr>
            <a:spLocks xmlns:a="http://schemas.openxmlformats.org/drawingml/2006/main" noGrp="1"/>
          </p:cNvSpPr>
          <p:nvPr/>
        </p:nvSpPr>
        <p:spPr>
          <a:xfrm xmlns:a="http://schemas.openxmlformats.org/drawingml/2006/main">
            <a:off x="742950" y="6000750"/>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496071"/>
                </a:solidFill>
                <a:latin typeface="Helvetica Neue"/>
                <a:ea typeface="Helvetica Neue"/>
                <a:cs typeface="Helvetica Neue"/>
              </a:defRPr>
            </a:pPr>
            <a:r>
              <a:rPr sz="1575" b="0">
                <a:solidFill>
                  <a:srgbClr val="496071"/>
                </a:solidFill>
                <a:latin typeface="Helvetica Neue"/>
                <a:ea typeface="Helvetica Neue"/>
                <a:cs typeface="Helvetica Neue"/>
              </a:rPr>
              <a:t>Read speech tests language feasibility. The Sejm PDF provides a separate qualitative meeting check.</a:t>
            </a:r>
          </a:p>
        </p:txBody>
      </p:sp>
      <p:sp>
        <p:nvSpPr>
          <p:cNvPr id="9" name="">
            <a:extLst xmlns:a="http://schemas.openxmlformats.org/drawingml/2006/main">
              <a:ext uri="{FF2B5EF4-FFF2-40B4-BE49-F238E27FC236}">
                <a16:creationId xmlns:a16="http://schemas.microsoft.com/office/drawing/2014/main" id="{2255EEDF-54A9-46B6-92BF-96423654C7DC}"/>
              </a:ext>
            </a:extLst>
          </p:cNvPr>
          <p:cNvSpPr>
            <a:spLocks xmlns:a="http://schemas.openxmlformats.org/drawingml/2006/main" noGrp="1"/>
          </p:cNvSpPr>
          <p:nvPr/>
        </p:nvSpPr>
        <p:spPr>
          <a:xfrm xmlns:a="http://schemas.openxmlformats.org/drawingml/2006/main">
            <a:off x="0" y="0"/>
            <a:ext cx="12192000" cy="24193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2BEFECE-923D-4C42-BC4E-A5B8A3E0B687}"/>
              </a:ext>
            </a:extLst>
          </p:cNvPr>
          <p:cNvSpPr>
            <a:spLocks xmlns:a="http://schemas.openxmlformats.org/drawingml/2006/main" noGrp="1"/>
          </p:cNvSpPr>
          <p:nvPr/>
        </p:nvSpPr>
        <p:spPr>
          <a:xfrm xmlns:a="http://schemas.openxmlformats.org/drawingml/2006/main">
            <a:off x="857250" y="44767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142735"/>
                </a:solidFill>
                <a:latin typeface="Helvetica Neue"/>
                <a:ea typeface="Helvetica Neue"/>
                <a:cs typeface="Helvetica Neue"/>
              </a:defRPr>
            </a:pPr>
            <a:r>
              <a:rPr sz="3000" b="1">
                <a:solidFill>
                  <a:srgbClr val="142735"/>
                </a:solidFill>
                <a:latin typeface="Helvetica Neue"/>
                <a:ea typeface="Helvetica Neue"/>
                <a:cs typeface="Helvetica Neue"/>
              </a:rPr>
              <a:t>English and Polish language check</a:t>
            </a:r>
          </a:p>
        </p:txBody>
      </p:sp>
      <p:sp>
        <p:nvSpPr>
          <p:cNvPr id="11" name="">
            <a:extLst xmlns:a="http://schemas.openxmlformats.org/drawingml/2006/main">
              <a:ext uri="{FF2B5EF4-FFF2-40B4-BE49-F238E27FC236}">
                <a16:creationId xmlns:a16="http://schemas.microsoft.com/office/drawing/2014/main" id="{7C44E2EE-123C-4E25-B378-E07677F76800}"/>
              </a:ext>
            </a:extLst>
          </p:cNvPr>
          <p:cNvSpPr>
            <a:spLocks xmlns:a="http://schemas.openxmlformats.org/drawingml/2006/main" noGrp="1"/>
          </p:cNvSpPr>
          <p:nvPr/>
        </p:nvSpPr>
        <p:spPr>
          <a:xfrm xmlns:a="http://schemas.openxmlformats.org/drawingml/2006/main">
            <a:off x="895350" y="1266825"/>
            <a:ext cx="1028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475569"/>
                </a:solidFill>
                <a:latin typeface="Helvetica Neue"/>
                <a:ea typeface="Helvetica Neue"/>
                <a:cs typeface="Helvetica Neue"/>
              </a:defRPr>
            </a:pPr>
            <a:r>
              <a:rPr sz="1725" b="0">
                <a:solidFill>
                  <a:srgbClr val="475569"/>
                </a:solidFill>
                <a:latin typeface="Helvetica Neue"/>
                <a:ea typeface="Helvetica Neue"/>
                <a:cs typeface="Helvetica Neue"/>
              </a:rPr>
              <a:t>Word error rate on five read-speech clips per language</a:t>
            </a:r>
          </a:p>
        </p:txBody>
      </p:sp>
      <p:sp>
        <p:nvSpPr>
          <p:cNvPr id="12" name="">
            <a:extLst xmlns:a="http://schemas.openxmlformats.org/drawingml/2006/main">
              <a:ext uri="{FF2B5EF4-FFF2-40B4-BE49-F238E27FC236}">
                <a16:creationId xmlns:a16="http://schemas.microsoft.com/office/drawing/2014/main" id="{4FD84F04-E40F-4B94-AC53-E9082DAB269A}"/>
              </a:ext>
            </a:extLst>
          </p:cNvPr>
          <p:cNvSpPr>
            <a:spLocks xmlns:a="http://schemas.openxmlformats.org/drawingml/2006/main" noGrp="1"/>
          </p:cNvSpPr>
          <p:nvPr/>
        </p:nvSpPr>
        <p:spPr>
          <a:xfrm xmlns:a="http://schemas.openxmlformats.org/drawingml/2006/main">
            <a:off x="952500" y="1962150"/>
            <a:ext cx="381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769AA"/>
                </a:solidFill>
                <a:latin typeface="Helvetica Neue"/>
                <a:ea typeface="Helvetica Neue"/>
                <a:cs typeface="Helvetica Neue"/>
              </a:defRPr>
            </a:pPr>
            <a:r>
              <a:rPr sz="1950" b="1">
                <a:solidFill>
                  <a:srgbClr val="1769AA"/>
                </a:solidFill>
                <a:latin typeface="Helvetica Neue"/>
                <a:ea typeface="Helvetica Neue"/>
                <a:cs typeface="Helvetica Neue"/>
              </a:rPr>
              <a:t>Parakeet v3</a:t>
            </a:r>
          </a:p>
        </p:txBody>
      </p:sp>
      <p:sp>
        <p:nvSpPr>
          <p:cNvPr id="13" name="">
            <a:extLst xmlns:a="http://schemas.openxmlformats.org/drawingml/2006/main">
              <a:ext uri="{FF2B5EF4-FFF2-40B4-BE49-F238E27FC236}">
                <a16:creationId xmlns:a16="http://schemas.microsoft.com/office/drawing/2014/main" id="{10BC35CC-F9F6-4978-BECD-F36B166824A4}"/>
              </a:ext>
            </a:extLst>
          </p:cNvPr>
          <p:cNvSpPr>
            <a:spLocks xmlns:a="http://schemas.openxmlformats.org/drawingml/2006/main" noGrp="1"/>
          </p:cNvSpPr>
          <p:nvPr/>
        </p:nvSpPr>
        <p:spPr>
          <a:xfrm xmlns:a="http://schemas.openxmlformats.org/drawingml/2006/main">
            <a:off x="6667500" y="1962150"/>
            <a:ext cx="428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D96B2B"/>
                </a:solidFill>
                <a:latin typeface="Helvetica Neue"/>
                <a:ea typeface="Helvetica Neue"/>
                <a:cs typeface="Helvetica Neue"/>
              </a:defRPr>
            </a:pPr>
            <a:r>
              <a:rPr sz="1950" b="1">
                <a:solidFill>
                  <a:srgbClr val="D96B2B"/>
                </a:solidFill>
                <a:latin typeface="Helvetica Neue"/>
                <a:ea typeface="Helvetica Neue"/>
                <a:cs typeface="Helvetica Neue"/>
              </a:rPr>
              <a:t>Whisper base, CPU</a:t>
            </a:r>
          </a:p>
        </p:txBody>
      </p:sp>
      <p:graphicFrame>
        <p:nvGraphicFramePr>
          <p:cNvPr id="25" name="Chart"/>
          <p:cNvGraphicFramePr/>
          <p:nvPr/>
        </p:nvGraphicFramePr>
        <p:xfrm>
          <a:off xmlns:a="http://schemas.openxmlformats.org/drawingml/2006/main" x="1476375" y="2438400"/>
          <a:ext xmlns:a="http://schemas.openxmlformats.org/drawingml/2006/main" cx="9144000" cy="2771775"/>
        </p:xfrm>
        <a:graphic xmlns:a="http://schemas.openxmlformats.org/drawingml/2006/main">
          <a:graphicData uri="http://schemas.openxmlformats.org/drawingml/2006/chart">
            <c:chart xmlns:r="http://schemas.openxmlformats.org/officeDocument/2006/relationships" xmlns:c="http://schemas.openxmlformats.org/drawingml/2006/chart" r:id="R1b3d92abb43c4a53"/>
          </a:graphicData>
        </a:graphic>
      </p:graphicFrame>
    </p:spTree>
    <p:extLst>
      <p:ext uri="{BB962C8B-B14F-4D97-AF65-F5344CB8AC3E}">
        <p14:creationId xmlns:p14="http://schemas.microsoft.com/office/powerpoint/2010/main" val="155166019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E8897CC-52BC-4209-B77A-358D6FEACA96}"/>
              </a:ext>
            </a:extLst>
          </p:cNvPr>
          <p:cNvSpPr>
            <a:spLocks xmlns:a="http://schemas.openxmlformats.org/drawingml/2006/main" noGrp="1"/>
          </p:cNvSpPr>
          <p:nvPr/>
        </p:nvSpPr>
        <p:spPr>
          <a:xfrm xmlns:a="http://schemas.openxmlformats.org/drawingml/2006/main">
            <a:off x="666750" y="4381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5"/>
                </a:solidFill>
                <a:latin typeface="Helvetica Neue"/>
                <a:ea typeface="Helvetica Neue"/>
                <a:cs typeface="Helvetica Neue"/>
              </a:defRPr>
            </a:pPr>
            <a:r>
              <a:rPr sz="3000" b="1">
                <a:solidFill>
                  <a:srgbClr val="142735"/>
                </a:solidFill>
                <a:latin typeface="Helvetica Neue"/>
                <a:ea typeface="Helvetica Neue"/>
                <a:cs typeface="Helvetica Neue"/>
              </a:rPr>
              <a:t>Reading turn controls: grouping and speakers</a:t>
            </a:r>
          </a:p>
        </p:txBody>
      </p:sp>
      <p:sp>
        <p:nvSpPr>
          <p:cNvPr id="2" name="">
            <a:extLst xmlns:a="http://schemas.openxmlformats.org/drawingml/2006/main">
              <a:ext uri="{FF2B5EF4-FFF2-40B4-BE49-F238E27FC236}">
                <a16:creationId xmlns:a16="http://schemas.microsoft.com/office/drawing/2014/main" id="{5AE7720A-05FF-4B92-87B6-EFBBBB5559E6}"/>
              </a:ext>
            </a:extLst>
          </p:cNvPr>
          <p:cNvSpPr>
            <a:spLocks xmlns:a="http://schemas.openxmlformats.org/drawingml/2006/main" noGrp="1"/>
          </p:cNvSpPr>
          <p:nvPr/>
        </p:nvSpPr>
        <p:spPr>
          <a:xfrm xmlns:a="http://schemas.openxmlformats.org/drawingml/2006/main">
            <a:off x="742950" y="143827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AD"/>
                </a:solidFill>
                <a:latin typeface="Helvetica Neue"/>
                <a:ea typeface="Helvetica Neue"/>
                <a:cs typeface="Helvetica Neue"/>
              </a:defRPr>
            </a:pPr>
            <a:r>
              <a:rPr sz="2025" b="1">
                <a:solidFill>
                  <a:srgbClr val="176CAD"/>
                </a:solidFill>
                <a:latin typeface="Helvetica Neue"/>
                <a:ea typeface="Helvetica Neue"/>
                <a:cs typeface="Helvetica Neue"/>
              </a:rPr>
              <a:t>grouping = speakerTurns</a:t>
            </a:r>
          </a:p>
        </p:txBody>
      </p:sp>
      <p:sp>
        <p:nvSpPr>
          <p:cNvPr id="3" name="">
            <a:extLst xmlns:a="http://schemas.openxmlformats.org/drawingml/2006/main">
              <a:ext uri="{FF2B5EF4-FFF2-40B4-BE49-F238E27FC236}">
                <a16:creationId xmlns:a16="http://schemas.microsoft.com/office/drawing/2014/main" id="{9ABC7119-E2A5-4018-9FB0-9CC00510947D}"/>
              </a:ext>
            </a:extLst>
          </p:cNvPr>
          <p:cNvSpPr>
            <a:spLocks xmlns:a="http://schemas.openxmlformats.org/drawingml/2006/main" noGrp="1"/>
          </p:cNvSpPr>
          <p:nvPr/>
        </p:nvSpPr>
        <p:spPr>
          <a:xfrm xmlns:a="http://schemas.openxmlformats.org/drawingml/2006/main">
            <a:off x="742950" y="18097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Joins consecutive parts with the same effective speaker. sourceParts keeps every part separate.</a:t>
            </a:r>
          </a:p>
        </p:txBody>
      </p:sp>
      <p:sp>
        <p:nvSpPr>
          <p:cNvPr id="4" name="">
            <a:extLst xmlns:a="http://schemas.openxmlformats.org/drawingml/2006/main">
              <a:ext uri="{FF2B5EF4-FFF2-40B4-BE49-F238E27FC236}">
                <a16:creationId xmlns:a16="http://schemas.microsoft.com/office/drawing/2014/main" id="{E9ADE1CE-9621-4502-9D7E-62CC60BD4179}"/>
              </a:ext>
            </a:extLst>
          </p:cNvPr>
          <p:cNvSpPr>
            <a:spLocks xmlns:a="http://schemas.openxmlformats.org/drawingml/2006/main" noGrp="1"/>
          </p:cNvSpPr>
          <p:nvPr/>
        </p:nvSpPr>
        <p:spPr>
          <a:xfrm xmlns:a="http://schemas.openxmlformats.org/drawingml/2006/main">
            <a:off x="742950" y="23622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AD"/>
                </a:solidFill>
                <a:latin typeface="Helvetica Neue"/>
                <a:ea typeface="Helvetica Neue"/>
                <a:cs typeface="Helvetica Neue"/>
              </a:defRPr>
            </a:pPr>
            <a:r>
              <a:rPr sz="2025" b="1">
                <a:solidFill>
                  <a:srgbClr val="176CAD"/>
                </a:solidFill>
                <a:latin typeface="Helvetica Neue"/>
                <a:ea typeface="Helvetica Neue"/>
                <a:cs typeface="Helvetica Neue"/>
              </a:rPr>
              <a:t>mergeUnassignedSegments = true</a:t>
            </a:r>
          </a:p>
        </p:txBody>
      </p:sp>
      <p:sp>
        <p:nvSpPr>
          <p:cNvPr id="5" name="">
            <a:extLst xmlns:a="http://schemas.openxmlformats.org/drawingml/2006/main">
              <a:ext uri="{FF2B5EF4-FFF2-40B4-BE49-F238E27FC236}">
                <a16:creationId xmlns:a16="http://schemas.microsoft.com/office/drawing/2014/main" id="{BE7D087B-747C-4FE3-96D4-5962F1CCED28}"/>
              </a:ext>
            </a:extLst>
          </p:cNvPr>
          <p:cNvSpPr>
            <a:spLocks xmlns:a="http://schemas.openxmlformats.org/drawingml/2006/main" noGrp="1"/>
          </p:cNvSpPr>
          <p:nvPr/>
        </p:nvSpPr>
        <p:spPr>
          <a:xfrm xmlns:a="http://schemas.openxmlformats.org/drawingml/2006/main">
            <a:off x="742950" y="27336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Groups consecutive parts that still have no speaker label.</a:t>
            </a:r>
          </a:p>
        </p:txBody>
      </p:sp>
      <p:sp>
        <p:nvSpPr>
          <p:cNvPr id="6" name="">
            <a:extLst xmlns:a="http://schemas.openxmlformats.org/drawingml/2006/main">
              <a:ext uri="{FF2B5EF4-FFF2-40B4-BE49-F238E27FC236}">
                <a16:creationId xmlns:a16="http://schemas.microsoft.com/office/drawing/2014/main" id="{6E54C081-3E55-48D4-A780-65A05D591821}"/>
              </a:ext>
            </a:extLst>
          </p:cNvPr>
          <p:cNvSpPr>
            <a:spLocks xmlns:a="http://schemas.openxmlformats.org/drawingml/2006/main" noGrp="1"/>
          </p:cNvSpPr>
          <p:nvPr/>
        </p:nvSpPr>
        <p:spPr>
          <a:xfrm xmlns:a="http://schemas.openxmlformats.org/drawingml/2006/main">
            <a:off x="742950" y="32861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AD"/>
                </a:solidFill>
                <a:latin typeface="Helvetica Neue"/>
                <a:ea typeface="Helvetica Neue"/>
                <a:cs typeface="Helvetica Neue"/>
              </a:defRPr>
            </a:pPr>
            <a:r>
              <a:rPr sz="2025" b="1">
                <a:solidFill>
                  <a:srgbClr val="176CAD"/>
                </a:solidFill>
                <a:latin typeface="Helvetica Neue"/>
                <a:ea typeface="Helvetica Neue"/>
                <a:cs typeface="Helvetica Neue"/>
              </a:rPr>
              <a:t>proposeNeighborSpeakers = true</a:t>
            </a:r>
          </a:p>
        </p:txBody>
      </p:sp>
      <p:sp>
        <p:nvSpPr>
          <p:cNvPr id="7" name="">
            <a:extLst xmlns:a="http://schemas.openxmlformats.org/drawingml/2006/main">
              <a:ext uri="{FF2B5EF4-FFF2-40B4-BE49-F238E27FC236}">
                <a16:creationId xmlns:a16="http://schemas.microsoft.com/office/drawing/2014/main" id="{B3B2CB75-5149-465E-9A88-CF25ACE41008}"/>
              </a:ext>
            </a:extLst>
          </p:cNvPr>
          <p:cNvSpPr>
            <a:spLocks xmlns:a="http://schemas.openxmlformats.org/drawingml/2006/main" noGrp="1"/>
          </p:cNvSpPr>
          <p:nvPr/>
        </p:nvSpPr>
        <p:spPr>
          <a:xfrm xmlns:a="http://schemas.openxmlformats.org/drawingml/2006/main">
            <a:off x="742950" y="36576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Records proposals for unassigned parts using the neighbors on both sides.</a:t>
            </a:r>
          </a:p>
        </p:txBody>
      </p:sp>
      <p:sp>
        <p:nvSpPr>
          <p:cNvPr id="8" name="">
            <a:extLst xmlns:a="http://schemas.openxmlformats.org/drawingml/2006/main">
              <a:ext uri="{FF2B5EF4-FFF2-40B4-BE49-F238E27FC236}">
                <a16:creationId xmlns:a16="http://schemas.microsoft.com/office/drawing/2014/main" id="{D1034B91-ADDB-4233-850B-1E4F13F85EE1}"/>
              </a:ext>
            </a:extLst>
          </p:cNvPr>
          <p:cNvSpPr>
            <a:spLocks xmlns:a="http://schemas.openxmlformats.org/drawingml/2006/main" noGrp="1"/>
          </p:cNvSpPr>
          <p:nvPr/>
        </p:nvSpPr>
        <p:spPr>
          <a:xfrm xmlns:a="http://schemas.openxmlformats.org/drawingml/2006/main">
            <a:off x="742950" y="42100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AD"/>
                </a:solidFill>
                <a:latin typeface="Helvetica Neue"/>
                <a:ea typeface="Helvetica Neue"/>
                <a:cs typeface="Helvetica Neue"/>
              </a:defRPr>
            </a:pPr>
            <a:r>
              <a:rPr sz="2025" b="1">
                <a:solidFill>
                  <a:srgbClr val="176CAD"/>
                </a:solidFill>
                <a:latin typeface="Helvetica Neue"/>
                <a:ea typeface="Helvetica Neue"/>
                <a:cs typeface="Helvetica Neue"/>
              </a:rPr>
              <a:t>preserveSpeakerChanges = true</a:t>
            </a:r>
          </a:p>
        </p:txBody>
      </p:sp>
      <p:sp>
        <p:nvSpPr>
          <p:cNvPr id="9" name="">
            <a:extLst xmlns:a="http://schemas.openxmlformats.org/drawingml/2006/main">
              <a:ext uri="{FF2B5EF4-FFF2-40B4-BE49-F238E27FC236}">
                <a16:creationId xmlns:a16="http://schemas.microsoft.com/office/drawing/2014/main" id="{5C39028A-35A4-40F2-AA2F-DCD0074B1767}"/>
              </a:ext>
            </a:extLst>
          </p:cNvPr>
          <p:cNvSpPr>
            <a:spLocks xmlns:a="http://schemas.openxmlformats.org/drawingml/2006/main" noGrp="1"/>
          </p:cNvSpPr>
          <p:nvPr/>
        </p:nvSpPr>
        <p:spPr>
          <a:xfrm xmlns:a="http://schemas.openxmlformats.org/drawingml/2006/main">
            <a:off x="742950" y="458152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Keeps a labeled S1 / S2 change as a boundary, including a one-word turn.</a:t>
            </a:r>
          </a:p>
        </p:txBody>
      </p:sp>
      <p:sp>
        <p:nvSpPr>
          <p:cNvPr id="10" name="">
            <a:extLst xmlns:a="http://schemas.openxmlformats.org/drawingml/2006/main">
              <a:ext uri="{FF2B5EF4-FFF2-40B4-BE49-F238E27FC236}">
                <a16:creationId xmlns:a16="http://schemas.microsoft.com/office/drawing/2014/main" id="{3CAB4255-D49A-40F2-B340-B1220ED9C6E6}"/>
              </a:ext>
            </a:extLst>
          </p:cNvPr>
          <p:cNvSpPr>
            <a:spLocks xmlns:a="http://schemas.openxmlformats.org/drawingml/2006/main" noGrp="1"/>
          </p:cNvSpPr>
          <p:nvPr/>
        </p:nvSpPr>
        <p:spPr>
          <a:xfrm xmlns:a="http://schemas.openxmlformats.org/drawingml/2006/main">
            <a:off x="742950" y="513397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AD"/>
                </a:solidFill>
                <a:latin typeface="Helvetica Neue"/>
                <a:ea typeface="Helvetica Neue"/>
                <a:cs typeface="Helvetica Neue"/>
              </a:defRPr>
            </a:pPr>
            <a:r>
              <a:rPr sz="2025" b="1">
                <a:solidFill>
                  <a:srgbClr val="176CAD"/>
                </a:solidFill>
                <a:latin typeface="Helvetica Neue"/>
                <a:ea typeface="Helvetica Neue"/>
                <a:cs typeface="Helvetica Neue"/>
              </a:rPr>
              <a:t>maximumCandidateWords = 1</a:t>
            </a:r>
          </a:p>
        </p:txBody>
      </p:sp>
      <p:sp>
        <p:nvSpPr>
          <p:cNvPr id="11" name="">
            <a:extLst xmlns:a="http://schemas.openxmlformats.org/drawingml/2006/main">
              <a:ext uri="{FF2B5EF4-FFF2-40B4-BE49-F238E27FC236}">
                <a16:creationId xmlns:a16="http://schemas.microsoft.com/office/drawing/2014/main" id="{4CB86DF8-17AB-4DEA-9D8E-5E7C70FCD691}"/>
              </a:ext>
            </a:extLst>
          </p:cNvPr>
          <p:cNvSpPr>
            <a:spLocks xmlns:a="http://schemas.openxmlformats.org/drawingml/2006/main" noGrp="1"/>
          </p:cNvSpPr>
          <p:nvPr/>
        </p:nvSpPr>
        <p:spPr>
          <a:xfrm xmlns:a="http://schemas.openxmlformats.org/drawingml/2006/main">
            <a:off x="742950" y="55054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Controls which brief-switch fragments qualify when that experiment is enabled.</a:t>
            </a:r>
          </a:p>
        </p:txBody>
      </p:sp>
      <p:sp>
        <p:nvSpPr>
          <p:cNvPr id="12" name="">
            <a:extLst xmlns:a="http://schemas.openxmlformats.org/drawingml/2006/main">
              <a:ext uri="{FF2B5EF4-FFF2-40B4-BE49-F238E27FC236}">
                <a16:creationId xmlns:a16="http://schemas.microsoft.com/office/drawing/2014/main" id="{68AEECA6-767B-4453-98A1-1A392E8C9E50}"/>
              </a:ext>
            </a:extLst>
          </p:cNvPr>
          <p:cNvSpPr>
            <a:spLocks xmlns:a="http://schemas.openxmlformats.org/drawingml/2006/main" noGrp="1"/>
          </p:cNvSpPr>
          <p:nvPr/>
        </p:nvSpPr>
        <p:spPr>
          <a:xfrm xmlns:a="http://schemas.openxmlformats.org/drawingml/2006/main">
            <a:off x="742950" y="63055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85C74"/>
                </a:solidFill>
                <a:latin typeface="Helvetica Neue"/>
                <a:ea typeface="Helvetica Neue"/>
                <a:cs typeface="Helvetica Neue"/>
              </a:defRPr>
            </a:pPr>
            <a:r>
              <a:rPr sz="1575" b="0">
                <a:solidFill>
                  <a:srgbClr val="485C74"/>
                </a:solidFill>
                <a:latin typeface="Helvetica Neue"/>
                <a:ea typeface="Helvetica Neue"/>
                <a:cs typeface="Helvetica Neue"/>
              </a:rPr>
              <a:t>All values are configurable in transcriptCleanup. Swift preserves the raw source parts.</a:t>
            </a:r>
          </a:p>
        </p:txBody>
      </p:sp>
    </p:spTree>
    <p:extLst>
      <p:ext uri="{BB962C8B-B14F-4D97-AF65-F5344CB8AC3E}">
        <p14:creationId xmlns:p14="http://schemas.microsoft.com/office/powerpoint/2010/main" val="470320738"/>
      </p:ext>
    </p:extLst>
  </p:cSld>
</p:sld>
</file>

<file path=ppt/slides/slide1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AFEE48B0-3E3A-4042-ACF0-F8E7560514A3}"/>
              </a:ext>
            </a:extLst>
          </p:cNvPr>
          <p:cNvSpPr>
            <a:spLocks noGrp="1"/>
          </p:cNvSpPr>
          <p:nvPr/>
        </p:nvSpPr>
        <p:spPr>
          <a:xfrm>
            <a:off x="666750" y="438150"/>
            <a:ext cx="10858500" cy="704850"/>
          </a:xfrm>
          <a:prstGeom prst="rect">
            <a:avLst/>
          </a:prstGeom>
          <a:noFill/>
          <a:ln w="0">
            <a:noFill/>
          </a:ln>
        </p:spPr>
        <p:txBody>
          <a:bodyPr>
            <a:noAutofit/>
          </a:bodyPr>
          <a:lstStyle/>
          <a:p>
            <a:pPr>
              <a:defRPr sz="3000" b="1">
                <a:solidFill>
                  <a:srgbClr val="142735"/>
                </a:solidFill>
                <a:latin typeface="Helvetica Neue"/>
                <a:ea typeface="Helvetica Neue"/>
                <a:cs typeface="Helvetica Neue"/>
              </a:defRPr>
            </a:pPr>
            <a:r>
              <a:rPr sz="3000" b="1">
                <a:solidFill>
                  <a:srgbClr val="142735"/>
                </a:solidFill>
                <a:latin typeface="Helvetica Neue"/>
                <a:ea typeface="Helvetica Neue"/>
                <a:cs typeface="Helvetica Neue"/>
              </a:rPr>
              <a:t>Reading turn controls: time thresholds</a:t>
            </a:r>
          </a:p>
        </p:txBody>
      </p:sp>
      <p:sp>
        <p:nvSpPr>
          <p:cNvPr id="2" name="">
            <a:extLst>
              <a:ext uri="{FF2B5EF4-FFF2-40B4-BE49-F238E27FC236}">
                <ns2:creationId id="{A0A818AE-1878-4ED7-B9D1-55DEF6DE4C71}"/>
              </a:ext>
            </a:extLst>
          </p:cNvPr>
          <p:cNvSpPr>
            <a:spLocks noGrp="1"/>
          </p:cNvSpPr>
          <p:nvPr/>
        </p:nvSpPr>
        <p:spPr>
          <a:xfrm>
            <a:off x="742950" y="1438275"/>
            <a:ext cx="10668000" cy="323850"/>
          </a:xfrm>
          <a:prstGeom prst="rect">
            <a:avLst/>
          </a:prstGeom>
          <a:noFill/>
          <a:ln w="0">
            <a:noFill/>
          </a:ln>
        </p:spPr>
        <p:txBody>
          <a:bodyPr>
            <a:noAutofit/>
          </a:bodyPr>
          <a:lstStyle/>
          <a:p>
            <a:pPr>
              <a:defRPr sz="2025" b="1">
                <a:solidFill>
                  <a:srgbClr val="176CAD"/>
                </a:solidFill>
                <a:latin typeface="Helvetica Neue"/>
                <a:ea typeface="Helvetica Neue"/>
                <a:cs typeface="Helvetica Neue"/>
              </a:defRPr>
            </a:pPr>
            <a:r>
              <a:rPr sz="2025" b="1">
                <a:solidFill>
                  <a:srgbClr val="176CAD"/>
                </a:solidFill>
                <a:latin typeface="Helvetica Neue"/>
                <a:ea typeface="Helvetica Neue"/>
                <a:cs typeface="Helvetica Neue"/>
              </a:rPr>
              <a:t>maximumNeighborGapSeconds = 1.5</a:t>
            </a:r>
          </a:p>
        </p:txBody>
      </p:sp>
      <p:sp>
        <p:nvSpPr>
          <p:cNvPr id="3" name="">
            <a:extLst>
              <a:ext uri="{FF2B5EF4-FFF2-40B4-BE49-F238E27FC236}">
                <ns2:creationId id="{3CAA5EA7-121B-47B7-A348-FD7920E59E94}"/>
              </a:ext>
            </a:extLst>
          </p:cNvPr>
          <p:cNvSpPr>
            <a:spLocks noGrp="1"/>
          </p:cNvSpPr>
          <p:nvPr/>
        </p:nvSpPr>
        <p:spPr>
          <a:xfrm>
            <a:off x="742950" y="1809750"/>
            <a:ext cx="10668000" cy="476250"/>
          </a:xfrm>
          <a:prstGeom prst="rect">
            <a:avLst/>
          </a:prstGeom>
          <a:noFill/>
          <a:ln w="0">
            <a:noFill/>
          </a:ln>
        </p:spPr>
        <p:txBody>
          <a:bodyPr>
            <a:noAutofit/>
          </a:bodyPr>
          <a:lstStyle/>
          <a:p>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Maximum gap for a neighbor assignment proposal. It does not split reading turns.</a:t>
            </a:r>
          </a:p>
        </p:txBody>
      </p:sp>
      <p:sp>
        <p:nvSpPr>
          <p:cNvPr id="4" name="">
            <a:extLst>
              <a:ext uri="{FF2B5EF4-FFF2-40B4-BE49-F238E27FC236}">
                <ns2:creationId id="{353D033B-B14F-40CA-AFFC-6EE21900750E}"/>
              </a:ext>
            </a:extLst>
          </p:cNvPr>
          <p:cNvSpPr>
            <a:spLocks noGrp="1"/>
          </p:cNvSpPr>
          <p:nvPr/>
        </p:nvSpPr>
        <p:spPr>
          <a:xfrm>
            <a:off x="742950" y="2362200"/>
            <a:ext cx="10668000" cy="323850"/>
          </a:xfrm>
          <a:prstGeom prst="rect">
            <a:avLst/>
          </a:prstGeom>
          <a:noFill/>
          <a:ln w="0">
            <a:noFill/>
          </a:ln>
        </p:spPr>
        <p:txBody>
          <a:bodyPr>
            <a:noAutofit/>
          </a:bodyPr>
          <a:lstStyle/>
          <a:p>
            <a:pPr>
              <a:defRPr sz="2025" b="1">
                <a:solidFill>
                  <a:srgbClr val="176CAD"/>
                </a:solidFill>
                <a:latin typeface="Helvetica Neue"/>
                <a:ea typeface="Helvetica Neue"/>
                <a:cs typeface="Helvetica Neue"/>
              </a:defRPr>
            </a:pPr>
            <a:r>
              <a:rPr sz="2025" b="1">
                <a:solidFill>
                  <a:srgbClr val="176CAD"/>
                </a:solidFill>
                <a:latin typeface="Helvetica Neue"/>
                <a:ea typeface="Helvetica Neue"/>
                <a:cs typeface="Helvetica Neue"/>
              </a:rPr>
              <a:t>maximumOverlapSeconds = 0.15</a:t>
            </a:r>
          </a:p>
        </p:txBody>
      </p:sp>
      <p:sp>
        <p:nvSpPr>
          <p:cNvPr id="5" name="">
            <a:extLst>
              <a:ext uri="{FF2B5EF4-FFF2-40B4-BE49-F238E27FC236}">
                <ns2:creationId id="{4FABCFF2-4A7D-42F2-B4EF-E1777552D5B3}"/>
              </a:ext>
            </a:extLst>
          </p:cNvPr>
          <p:cNvSpPr>
            <a:spLocks noGrp="1"/>
          </p:cNvSpPr>
          <p:nvPr/>
        </p:nvSpPr>
        <p:spPr>
          <a:xfrm>
            <a:off x="742950" y="2733675"/>
            <a:ext cx="10668000" cy="476250"/>
          </a:xfrm>
          <a:prstGeom prst="rect">
            <a:avLst/>
          </a:prstGeom>
          <a:noFill/>
          <a:ln w="0">
            <a:noFill/>
          </a:ln>
        </p:spPr>
        <p:txBody>
          <a:bodyPr>
            <a:noAutofit/>
          </a:bodyPr>
          <a:lstStyle/>
          <a:p>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Allows this much timestamp overlap when checking a neighboring part.</a:t>
            </a:r>
          </a:p>
        </p:txBody>
      </p:sp>
      <p:sp>
        <p:nvSpPr>
          <p:cNvPr id="6" name="">
            <a:extLst>
              <a:ext uri="{FF2B5EF4-FFF2-40B4-BE49-F238E27FC236}">
                <ns2:creationId id="{D5F3B13A-835F-4E48-8966-F02A4AA7D9ED}"/>
              </a:ext>
            </a:extLst>
          </p:cNvPr>
          <p:cNvSpPr>
            <a:spLocks noGrp="1"/>
          </p:cNvSpPr>
          <p:nvPr/>
        </p:nvSpPr>
        <p:spPr>
          <a:xfrm>
            <a:off x="742950" y="3286125"/>
            <a:ext cx="10668000" cy="323850"/>
          </a:xfrm>
          <a:prstGeom prst="rect">
            <a:avLst/>
          </a:prstGeom>
          <a:noFill/>
          <a:ln w="0">
            <a:noFill/>
          </a:ln>
        </p:spPr>
        <p:txBody>
          <a:bodyPr>
            <a:noAutofit/>
          </a:bodyPr>
          <a:lstStyle/>
          <a:p>
            <a:pPr>
              <a:defRPr sz="2025" b="1">
                <a:solidFill>
                  <a:srgbClr val="176CAD"/>
                </a:solidFill>
                <a:latin typeface="Helvetica Neue"/>
                <a:ea typeface="Helvetica Neue"/>
                <a:cs typeface="Helvetica Neue"/>
              </a:defRPr>
            </a:pPr>
            <a:r>
              <a:rPr sz="2025" b="1">
                <a:solidFill>
                  <a:srgbClr val="176CAD"/>
                </a:solidFill>
                <a:latin typeface="Helvetica Neue"/>
                <a:ea typeface="Helvetica Neue"/>
                <a:cs typeface="Helvetica Neue"/>
              </a:rPr>
              <a:t>maximumOneSidedGapSeconds = 0.5</a:t>
            </a:r>
          </a:p>
        </p:txBody>
      </p:sp>
      <p:sp>
        <p:nvSpPr>
          <p:cNvPr id="7" name="">
            <a:extLst>
              <a:ext uri="{FF2B5EF4-FFF2-40B4-BE49-F238E27FC236}">
                <ns2:creationId id="{EF731E26-2DE8-447A-BFF6-629021393AF0}"/>
              </a:ext>
            </a:extLst>
          </p:cNvPr>
          <p:cNvSpPr>
            <a:spLocks noGrp="1"/>
          </p:cNvSpPr>
          <p:nvPr/>
        </p:nvSpPr>
        <p:spPr>
          <a:xfrm>
            <a:off x="742950" y="3657600"/>
            <a:ext cx="10668000" cy="476250"/>
          </a:xfrm>
          <a:prstGeom prst="rect">
            <a:avLst/>
          </a:prstGeom>
          <a:noFill/>
          <a:ln w="0">
            <a:noFill/>
          </a:ln>
        </p:spPr>
        <p:txBody>
          <a:bodyPr>
            <a:noAutofit/>
          </a:bodyPr>
          <a:lstStyle/>
          <a:p>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Limits a join supported by just one neighbor. Both-side bridges use the neighbor limits.</a:t>
            </a:r>
          </a:p>
        </p:txBody>
      </p:sp>
      <p:sp>
        <p:nvSpPr>
          <p:cNvPr id="8" name="">
            <a:extLst>
              <a:ext uri="{FF2B5EF4-FFF2-40B4-BE49-F238E27FC236}">
                <ns2:creationId id="{A6CBB4DB-EA52-45F0-8B0E-B6B9D0C5013A}"/>
              </a:ext>
            </a:extLst>
          </p:cNvPr>
          <p:cNvSpPr>
            <a:spLocks noGrp="1"/>
          </p:cNvSpPr>
          <p:nvPr/>
        </p:nvSpPr>
        <p:spPr>
          <a:xfrm>
            <a:off x="742950" y="4210050"/>
            <a:ext cx="10668000" cy="323850"/>
          </a:xfrm>
          <a:prstGeom prst="rect">
            <a:avLst/>
          </a:prstGeom>
          <a:noFill/>
          <a:ln w="0">
            <a:noFill/>
          </a:ln>
        </p:spPr>
        <p:txBody>
          <a:bodyPr>
            <a:noAutofit/>
          </a:bodyPr>
          <a:lstStyle/>
          <a:p>
            <a:pPr>
              <a:defRPr sz="2025" b="1">
                <a:solidFill>
                  <a:srgbClr val="176CAD"/>
                </a:solidFill>
                <a:latin typeface="Helvetica Neue"/>
                <a:ea typeface="Helvetica Neue"/>
                <a:cs typeface="Helvetica Neue"/>
              </a:defRPr>
            </a:pPr>
            <a:r>
              <a:rPr sz="2025" b="1">
                <a:solidFill>
                  <a:srgbClr val="176CAD"/>
                </a:solidFill>
                <a:latin typeface="Helvetica Neue"/>
                <a:ea typeface="Helvetica Neue"/>
                <a:cs typeface="Helvetica Neue"/>
              </a:rPr>
              <a:t>maximumReadingBlockSeconds = null</a:t>
            </a:r>
          </a:p>
        </p:txBody>
      </p:sp>
      <p:sp>
        <p:nvSpPr>
          <p:cNvPr id="9" name="">
            <a:extLst>
              <a:ext uri="{FF2B5EF4-FFF2-40B4-BE49-F238E27FC236}">
                <ns2:creationId id="{F9C658D6-77C2-4F75-BAA5-5966BC72BB51}"/>
              </a:ext>
            </a:extLst>
          </p:cNvPr>
          <p:cNvSpPr>
            <a:spLocks noGrp="1"/>
          </p:cNvSpPr>
          <p:nvPr/>
        </p:nvSpPr>
        <p:spPr>
          <a:xfrm>
            <a:off x="742950" y="4581525"/>
            <a:ext cx="10668000" cy="476250"/>
          </a:xfrm>
          <a:prstGeom prst="rect">
            <a:avLst/>
          </a:prstGeom>
          <a:noFill/>
          <a:ln w="0">
            <a:noFill/>
          </a:ln>
        </p:spPr>
        <p:txBody>
          <a:bodyPr>
            <a:noAutofit/>
          </a:bodyPr>
          <a:lstStyle/>
          <a:p>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Disables the duration cap. The default has no 15-second split.</a:t>
            </a:r>
          </a:p>
        </p:txBody>
      </p:sp>
      <p:sp>
        <p:nvSpPr>
          <p:cNvPr id="10" name="">
            <a:extLst>
              <a:ext uri="{FF2B5EF4-FFF2-40B4-BE49-F238E27FC236}">
                <ns2:creationId id="{B6F23DB5-B16E-423D-AC48-41B1330510E2}"/>
              </a:ext>
            </a:extLst>
          </p:cNvPr>
          <p:cNvSpPr>
            <a:spLocks noGrp="1"/>
          </p:cNvSpPr>
          <p:nvPr/>
        </p:nvSpPr>
        <p:spPr>
          <a:xfrm>
            <a:off x="742950" y="5133975"/>
            <a:ext cx="10668000" cy="323850"/>
          </a:xfrm>
          <a:prstGeom prst="rect">
            <a:avLst/>
          </a:prstGeom>
          <a:noFill/>
          <a:ln w="0">
            <a:noFill/>
          </a:ln>
        </p:spPr>
        <p:txBody>
          <a:bodyPr>
            <a:noAutofit/>
          </a:bodyPr>
          <a:lstStyle/>
          <a:p>
            <a:pPr>
              <a:buNone/>
              <a:defRPr sz="2025" b="1">
                <a:solidFill>
                  <a:srgbClr val="176CAD"/>
                </a:solidFill>
                <a:latin typeface="Helvetica Neue"/>
                <a:ea typeface="Helvetica Neue"/>
                <a:cs typeface="Helvetica Neue"/>
              </a:defRPr>
            </a:pPr>
            <a:r>
              <a:rPr sz="2025" b="1">
                <a:solidFill>
                  <a:srgbClr val="176CAD"/>
                </a:solidFill>
                <a:latin typeface="Helvetica Neue"/>
                <a:ea typeface="Helvetica Neue"/>
                <a:cs typeface="Helvetica Neue"/>
              </a:rPr>
              <a:t>longSilenceBoundarySeconds = 10</a:t>
            </a:r>
          </a:p>
        </p:txBody>
      </p:sp>
      <p:sp>
        <p:nvSpPr>
          <p:cNvPr id="11" name="">
            <a:extLst>
              <a:ext uri="{FF2B5EF4-FFF2-40B4-BE49-F238E27FC236}">
                <ns2:creationId id="{DFCAB9E3-F28C-44F5-83DC-7A22C5054AD1}"/>
              </a:ext>
            </a:extLst>
          </p:cNvPr>
          <p:cNvSpPr>
            <a:spLocks noGrp="1"/>
          </p:cNvSpPr>
          <p:nvPr/>
        </p:nvSpPr>
        <p:spPr>
          <a:xfrm>
            <a:off x="742950" y="5505450"/>
            <a:ext cx="10668000" cy="476250"/>
          </a:xfrm>
          <a:prstGeom prst="rect">
            <a:avLst/>
          </a:prstGeom>
          <a:noFill/>
          <a:ln w="0">
            <a:noFill/>
          </a:ln>
        </p:spPr>
        <p:txBody>
          <a:bodyPr>
            <a:noAutofit/>
          </a:bodyPr>
          <a:lstStyle/>
          <a:p>
            <a:pPr>
              <a:buNone/>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Gap ≥ 10 s starts a new turn, even for S1 → S1.</a:t>
            </a:r>
          </a:p>
          <a:p>
            <a:pPr>
              <a:buNone/>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maximumReadingGapSeconds = null adds no stricter gap cut.</a:t>
            </a:r>
          </a:p>
        </p:txBody>
      </p:sp>
      <p:sp>
        <p:nvSpPr>
          <p:cNvPr id="12" name="">
            <a:extLst>
              <a:ext uri="{FF2B5EF4-FFF2-40B4-BE49-F238E27FC236}">
                <ns2:creationId id="{6CB7C364-1192-4B3C-846B-D5DB82C86424}"/>
              </a:ext>
            </a:extLst>
          </p:cNvPr>
          <p:cNvSpPr>
            <a:spLocks noGrp="1"/>
          </p:cNvSpPr>
          <p:nvPr/>
        </p:nvSpPr>
        <p:spPr>
          <a:xfrm>
            <a:off x="742950" y="6305550"/>
            <a:ext cx="10668000" cy="361950"/>
          </a:xfrm>
          <a:prstGeom prst="rect">
            <a:avLst/>
          </a:prstGeom>
          <a:noFill/>
          <a:ln w="0">
            <a:noFill/>
          </a:ln>
        </p:spPr>
        <p:txBody>
          <a:bodyPr>
            <a:noAutofit/>
          </a:bodyPr>
          <a:lstStyle/>
          <a:p>
            <a:pPr>
              <a:buNone/>
              <a:defRPr sz="1575" b="0">
                <a:solidFill>
                  <a:srgbClr val="485C74"/>
                </a:solidFill>
                <a:latin typeface="Helvetica Neue"/>
                <a:ea typeface="Helvetica Neue"/>
                <a:cs typeface="Helvetica Neue"/>
              </a:defRPr>
            </a:pPr>
            <a:r>
              <a:rPr sz="1575" b="0">
                <a:solidFill>
                  <a:srgbClr val="485C74"/>
                </a:solidFill>
                <a:latin typeface="Helvetica Neue"/>
                <a:ea typeface="Helvetica Neue"/>
                <a:cs typeface="Helvetica Neue"/>
              </a:rPr>
              <a:t>Sejm pause: 33.28 s. Same S1, new segment. Source words and corrections remain saved.</a:t>
            </a:r>
          </a:p>
        </p:txBody>
      </p:sp>
    </p:spTree>
    <p:extLst>
      <p:ext uri="{BB962C8B-B14F-4D97-AF65-F5344CB8AC3E}">
        <ns3:creationId val="511128086"/>
      </p:ext>
    </p:extLst>
  </p:cSld>
</p:sld>
</file>

<file path=ppt/slides/slide1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14510CF3-804E-4C93-9443-197239044E8D}"/>
              </a:ext>
            </a:extLst>
          </p:cNvPr>
          <p:cNvSpPr>
            <a:spLocks noGrp="1"/>
          </p:cNvSpPr>
          <p:nvPr/>
        </p:nvSpPr>
        <p:spPr>
          <a:xfrm>
            <a:off x="742950" y="447675"/>
            <a:ext cx="10668000" cy="742950"/>
          </a:xfrm>
          <a:prstGeom prst="rect">
            <a:avLst/>
          </a:prstGeom>
          <a:noFill/>
          <a:ln w="0">
            <a:noFill/>
          </a:ln>
        </p:spPr>
        <p:txBody>
          <a:bodyPr>
            <a:noAutofit/>
          </a:bodyPr>
          <a:lstStyle/>
          <a:p>
            <a:pPr>
              <a:defRPr sz="3000" b="1">
                <a:solidFill>
                  <a:srgbClr val="142735"/>
                </a:solidFill>
                <a:latin typeface="Helvetica Neue"/>
                <a:ea typeface="Helvetica Neue"/>
                <a:cs typeface="Helvetica Neue"/>
              </a:defRPr>
            </a:pPr>
            <a:r>
              <a:rPr sz="3000" b="1">
                <a:solidFill>
                  <a:srgbClr val="142735"/>
                </a:solidFill>
                <a:latin typeface="Helvetica Neue"/>
                <a:ea typeface="Helvetica Neue"/>
                <a:cs typeface="Helvetica Neue"/>
              </a:rPr>
              <a:t>Prototype findings supported by evidence</a:t>
            </a:r>
          </a:p>
        </p:txBody>
      </p:sp>
      <p:sp>
        <p:nvSpPr>
          <p:cNvPr id="2" name="">
            <a:extLst>
              <a:ext uri="{FF2B5EF4-FFF2-40B4-BE49-F238E27FC236}">
                <ns2:creationId id="{F4914359-965B-45BB-B5EE-F3EA3D812F42}"/>
              </a:ext>
            </a:extLst>
          </p:cNvPr>
          <p:cNvSpPr>
            <a:spLocks noGrp="1"/>
          </p:cNvSpPr>
          <p:nvPr/>
        </p:nvSpPr>
        <p:spPr>
          <a:xfrm>
            <a:off x="742950" y="1438275"/>
            <a:ext cx="10668000" cy="352425"/>
          </a:xfrm>
          <a:prstGeom prst="rect">
            <a:avLst/>
          </a:prstGeom>
          <a:noFill/>
          <a:ln w="0">
            <a:noFill/>
          </a:ln>
        </p:spPr>
        <p:txBody>
          <a:bodyPr>
            <a:noAutofit/>
          </a:bodyPr>
          <a:lstStyle/>
          <a:p>
            <a:pPr>
              <a:defRPr sz="2100" b="1">
                <a:solidFill>
                  <a:srgbClr val="176CAD"/>
                </a:solidFill>
                <a:latin typeface="Helvetica Neue"/>
                <a:ea typeface="Helvetica Neue"/>
                <a:cs typeface="Helvetica Neue"/>
              </a:defRPr>
            </a:pPr>
            <a:r>
              <a:rPr sz="2100" b="1">
                <a:solidFill>
                  <a:srgbClr val="176CAD"/>
                </a:solidFill>
                <a:latin typeface="Helvetica Neue"/>
                <a:ea typeface="Helvetica Neue"/>
                <a:cs typeface="Helvetica Neue"/>
              </a:rPr>
              <a:t>A local transcription and review workflow runs</a:t>
            </a:r>
          </a:p>
        </p:txBody>
      </p:sp>
      <p:sp>
        <p:nvSpPr>
          <p:cNvPr id="3" name="">
            <a:extLst>
              <a:ext uri="{FF2B5EF4-FFF2-40B4-BE49-F238E27FC236}">
                <ns2:creationId id="{92B03857-CEB4-451D-9E57-5F211BDBE82E}"/>
              </a:ext>
            </a:extLst>
          </p:cNvPr>
          <p:cNvSpPr>
            <a:spLocks noGrp="1"/>
          </p:cNvSpPr>
          <p:nvPr/>
        </p:nvSpPr>
        <p:spPr>
          <a:xfrm>
            <a:off x="742950" y="1819275"/>
            <a:ext cx="10668000" cy="581025"/>
          </a:xfrm>
          <a:prstGeom prst="rect">
            <a:avLst/>
          </a:prstGeom>
          <a:noFill/>
          <a:ln w="0">
            <a:noFill/>
          </a:ln>
        </p:spPr>
        <p:txBody>
          <a:bodyPr>
            <a:noAutofit/>
          </a:bodyPr>
          <a:lstStyle/>
          <a:p>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English and Polish transcription, anonymous speaker labels and manual naming share one saved record.</a:t>
            </a:r>
          </a:p>
        </p:txBody>
      </p:sp>
      <p:sp>
        <p:nvSpPr>
          <p:cNvPr id="4" name="">
            <a:extLst>
              <a:ext uri="{FF2B5EF4-FFF2-40B4-BE49-F238E27FC236}">
                <ns2:creationId id="{F95620A2-5D50-4CBB-99A1-051716BD51EE}"/>
              </a:ext>
            </a:extLst>
          </p:cNvPr>
          <p:cNvSpPr>
            <a:spLocks noGrp="1"/>
          </p:cNvSpPr>
          <p:nvPr/>
        </p:nvSpPr>
        <p:spPr>
          <a:xfrm>
            <a:off x="742950" y="2352675"/>
            <a:ext cx="10668000" cy="352425"/>
          </a:xfrm>
          <a:prstGeom prst="rect">
            <a:avLst/>
          </a:prstGeom>
          <a:noFill/>
          <a:ln w="0">
            <a:noFill/>
          </a:ln>
        </p:spPr>
        <p:txBody>
          <a:bodyPr>
            <a:noAutofit/>
          </a:bodyPr>
          <a:lstStyle/>
          <a:p>
            <a:pPr>
              <a:defRPr sz="2100" b="1">
                <a:solidFill>
                  <a:srgbClr val="176CAD"/>
                </a:solidFill>
                <a:latin typeface="Helvetica Neue"/>
                <a:ea typeface="Helvetica Neue"/>
                <a:cs typeface="Helvetica Neue"/>
              </a:defRPr>
            </a:pPr>
            <a:r>
              <a:rPr sz="2100" b="1">
                <a:solidFill>
                  <a:srgbClr val="176CAD"/>
                </a:solidFill>
                <a:latin typeface="Helvetica Neue"/>
                <a:ea typeface="Helvetica Neue"/>
                <a:cs typeface="Helvetica Neue"/>
              </a:rPr>
              <a:t>Benchmarks on the same audio distinguish ASR options</a:t>
            </a:r>
          </a:p>
        </p:txBody>
      </p:sp>
      <p:sp>
        <p:nvSpPr>
          <p:cNvPr id="5" name="">
            <a:extLst>
              <a:ext uri="{FF2B5EF4-FFF2-40B4-BE49-F238E27FC236}">
                <ns2:creationId id="{D28D3141-BE30-4006-9EEB-807DD1773166}"/>
              </a:ext>
            </a:extLst>
          </p:cNvPr>
          <p:cNvSpPr>
            <a:spLocks noGrp="1"/>
          </p:cNvSpPr>
          <p:nvPr/>
        </p:nvSpPr>
        <p:spPr>
          <a:xfrm>
            <a:off x="742950" y="2733675"/>
            <a:ext cx="10668000" cy="581025"/>
          </a:xfrm>
          <a:prstGeom prst="rect">
            <a:avLst/>
          </a:prstGeom>
          <a:noFill/>
          <a:ln w="0">
            <a:noFill/>
          </a:ln>
        </p:spPr>
        <p:txBody>
          <a:bodyPr>
            <a:noAutofit/>
          </a:bodyPr>
          <a:lstStyle/>
          <a:p>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AMI headset Word Error Rate: Parakeet v2 19.48%, Whisper base.en 28.79%. One meeting.</a:t>
            </a:r>
          </a:p>
        </p:txBody>
      </p:sp>
      <p:sp>
        <p:nvSpPr>
          <p:cNvPr id="6" name="">
            <a:extLst>
              <a:ext uri="{FF2B5EF4-FFF2-40B4-BE49-F238E27FC236}">
                <ns2:creationId id="{5A4E1BC3-FA8B-4E6F-8B09-1D239C01A34E}"/>
              </a:ext>
            </a:extLst>
          </p:cNvPr>
          <p:cNvSpPr>
            <a:spLocks noGrp="1"/>
          </p:cNvSpPr>
          <p:nvPr/>
        </p:nvSpPr>
        <p:spPr>
          <a:xfrm>
            <a:off x="742950" y="3267075"/>
            <a:ext cx="10668000" cy="352425"/>
          </a:xfrm>
          <a:prstGeom prst="rect">
            <a:avLst/>
          </a:prstGeom>
          <a:noFill/>
          <a:ln w="0">
            <a:noFill/>
          </a:ln>
        </p:spPr>
        <p:txBody>
          <a:bodyPr>
            <a:noAutofit/>
          </a:bodyPr>
          <a:lstStyle/>
          <a:p>
            <a:pPr>
              <a:defRPr sz="2100" b="1">
                <a:solidFill>
                  <a:srgbClr val="176CAD"/>
                </a:solidFill>
                <a:latin typeface="Helvetica Neue"/>
                <a:ea typeface="Helvetica Neue"/>
                <a:cs typeface="Helvetica Neue"/>
              </a:defRPr>
            </a:pPr>
            <a:r>
              <a:rPr sz="2100" b="1">
                <a:solidFill>
                  <a:srgbClr val="176CAD"/>
                </a:solidFill>
                <a:latin typeface="Helvetica Neue"/>
                <a:ea typeface="Helvetica Neue"/>
                <a:cs typeface="Helvetica Neue"/>
              </a:rPr>
              <a:t>Explicit reading rules remove artificial time cuts</a:t>
            </a:r>
          </a:p>
        </p:txBody>
      </p:sp>
      <p:sp>
        <p:nvSpPr>
          <p:cNvPr id="7" name="">
            <a:extLst>
              <a:ext uri="{FF2B5EF4-FFF2-40B4-BE49-F238E27FC236}">
                <ns2:creationId id="{8670551D-DA86-4EAE-85D4-1F139514BADF}"/>
              </a:ext>
            </a:extLst>
          </p:cNvPr>
          <p:cNvSpPr>
            <a:spLocks noGrp="1"/>
          </p:cNvSpPr>
          <p:nvPr/>
        </p:nvSpPr>
        <p:spPr>
          <a:xfrm>
            <a:off x="742950" y="3648075"/>
            <a:ext cx="10668000" cy="581025"/>
          </a:xfrm>
          <a:prstGeom prst="rect">
            <a:avLst/>
          </a:prstGeom>
          <a:noFill/>
          <a:ln w="0">
            <a:noFill/>
          </a:ln>
        </p:spPr>
        <p:txBody>
          <a:bodyPr>
            <a:noAutofit/>
          </a:bodyPr>
          <a:lstStyle/>
          <a:p>
            <a:pPr>
              <a:buNone/>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A 33.28-second Sejm pause now ends a turn despite the same S1 label. Raw sources and corrections stay saved.</a:t>
            </a:r>
          </a:p>
        </p:txBody>
      </p:sp>
      <p:sp>
        <p:nvSpPr>
          <p:cNvPr id="8" name="">
            <a:extLst>
              <a:ext uri="{FF2B5EF4-FFF2-40B4-BE49-F238E27FC236}">
                <ns2:creationId id="{5F61AE17-2FB6-4126-841E-BC72EBE0F916}"/>
              </a:ext>
            </a:extLst>
          </p:cNvPr>
          <p:cNvSpPr>
            <a:spLocks noGrp="1"/>
          </p:cNvSpPr>
          <p:nvPr/>
        </p:nvSpPr>
        <p:spPr>
          <a:xfrm>
            <a:off x="742950" y="4181475"/>
            <a:ext cx="10668000" cy="352425"/>
          </a:xfrm>
          <a:prstGeom prst="rect">
            <a:avLst/>
          </a:prstGeom>
          <a:noFill/>
          <a:ln w="0">
            <a:noFill/>
          </a:ln>
        </p:spPr>
        <p:txBody>
          <a:bodyPr>
            <a:noAutofit/>
          </a:bodyPr>
          <a:lstStyle/>
          <a:p>
            <a:pPr>
              <a:defRPr sz="2100" b="1">
                <a:solidFill>
                  <a:srgbClr val="176CAD"/>
                </a:solidFill>
                <a:latin typeface="Helvetica Neue"/>
                <a:ea typeface="Helvetica Neue"/>
                <a:cs typeface="Helvetica Neue"/>
              </a:defRPr>
            </a:pPr>
            <a:r>
              <a:rPr sz="2100" b="1">
                <a:solidFill>
                  <a:srgbClr val="176CAD"/>
                </a:solidFill>
                <a:latin typeface="Helvetica Neue"/>
                <a:ea typeface="Helvetica Neue"/>
                <a:cs typeface="Helvetica Neue"/>
              </a:rPr>
              <a:t>Source preservation makes failures inspectable</a:t>
            </a:r>
          </a:p>
        </p:txBody>
      </p:sp>
      <p:sp>
        <p:nvSpPr>
          <p:cNvPr id="9" name="">
            <a:extLst>
              <a:ext uri="{FF2B5EF4-FFF2-40B4-BE49-F238E27FC236}">
                <ns2:creationId id="{7754E09B-DE7D-4924-96D3-FB5E42F8CEF3}"/>
              </a:ext>
            </a:extLst>
          </p:cNvPr>
          <p:cNvSpPr>
            <a:spLocks noGrp="1"/>
          </p:cNvSpPr>
          <p:nvPr/>
        </p:nvSpPr>
        <p:spPr>
          <a:xfrm>
            <a:off x="742950" y="4562475"/>
            <a:ext cx="10668000" cy="581025"/>
          </a:xfrm>
          <a:prstGeom prst="rect">
            <a:avLst/>
          </a:prstGeom>
          <a:noFill/>
          <a:ln w="0">
            <a:noFill/>
          </a:ln>
        </p:spPr>
        <p:txBody>
          <a:bodyPr>
            <a:noAutofit/>
          </a:bodyPr>
          <a:lstStyle/>
          <a:p>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Operator corrections remain reversible. Technical response gates can reject a model draft while retaining the transcript.</a:t>
            </a:r>
          </a:p>
        </p:txBody>
      </p:sp>
      <p:sp>
        <p:nvSpPr>
          <p:cNvPr id="10" name="">
            <a:extLst>
              <a:ext uri="{FF2B5EF4-FFF2-40B4-BE49-F238E27FC236}">
                <ns2:creationId id="{C61EAF9C-A717-4174-9E65-C910678CAB06}"/>
              </a:ext>
            </a:extLst>
          </p:cNvPr>
          <p:cNvSpPr>
            <a:spLocks noGrp="1"/>
          </p:cNvSpPr>
          <p:nvPr/>
        </p:nvSpPr>
        <p:spPr>
          <a:xfrm>
            <a:off x="742950" y="5095875"/>
            <a:ext cx="10668000" cy="352425"/>
          </a:xfrm>
          <a:prstGeom prst="rect">
            <a:avLst/>
          </a:prstGeom>
          <a:noFill/>
          <a:ln w="0">
            <a:noFill/>
          </a:ln>
        </p:spPr>
        <p:txBody>
          <a:bodyPr>
            <a:noAutofit/>
          </a:bodyPr>
          <a:lstStyle/>
          <a:p>
            <a:pPr>
              <a:defRPr sz="2100" b="1">
                <a:solidFill>
                  <a:srgbClr val="176CAD"/>
                </a:solidFill>
                <a:latin typeface="Helvetica Neue"/>
                <a:ea typeface="Helvetica Neue"/>
                <a:cs typeface="Helvetica Neue"/>
              </a:defRPr>
            </a:pPr>
            <a:r>
              <a:rPr sz="2100" b="1">
                <a:solidFill>
                  <a:srgbClr val="176CAD"/>
                </a:solidFill>
                <a:latin typeface="Helvetica Neue"/>
                <a:ea typeface="Helvetica Neue"/>
                <a:cs typeface="Helvetica Neue"/>
              </a:rPr>
              <a:t>Minutes experiments need substantial local memory</a:t>
            </a:r>
          </a:p>
        </p:txBody>
      </p:sp>
      <p:sp>
        <p:nvSpPr>
          <p:cNvPr id="11" name="">
            <a:extLst>
              <a:ext uri="{FF2B5EF4-FFF2-40B4-BE49-F238E27FC236}">
                <ns2:creationId id="{81B40AF3-8D85-4879-B87C-0D0F5C224672}"/>
              </a:ext>
            </a:extLst>
          </p:cNvPr>
          <p:cNvSpPr>
            <a:spLocks noGrp="1"/>
          </p:cNvSpPr>
          <p:nvPr/>
        </p:nvSpPr>
        <p:spPr>
          <a:xfrm>
            <a:off x="742950" y="5476875"/>
            <a:ext cx="10668000" cy="581025"/>
          </a:xfrm>
          <a:prstGeom prst="rect">
            <a:avLst/>
          </a:prstGeom>
          <a:noFill/>
          <a:ln w="0">
            <a:noFill/>
          </a:ln>
        </p:spPr>
        <p:txBody>
          <a:bodyPr>
            <a:noAutofit/>
          </a:bodyPr>
          <a:lstStyle/>
          <a:p>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In single 30B runs, peak process memory was 16.01 GB for AMI and 17.34 GB for Sejm.</a:t>
            </a:r>
          </a:p>
        </p:txBody>
      </p:sp>
      <p:sp>
        <p:nvSpPr>
          <p:cNvPr id="12" name="">
            <a:extLst>
              <a:ext uri="{FF2B5EF4-FFF2-40B4-BE49-F238E27FC236}">
                <ns2:creationId id="{03F90AA5-33B8-41C0-B5DF-E444903515D9}"/>
              </a:ext>
            </a:extLst>
          </p:cNvPr>
          <p:cNvSpPr>
            <a:spLocks noGrp="1"/>
          </p:cNvSpPr>
          <p:nvPr/>
        </p:nvSpPr>
        <p:spPr>
          <a:xfrm>
            <a:off x="742950" y="6257925"/>
            <a:ext cx="10668000" cy="428625"/>
          </a:xfrm>
          <a:prstGeom prst="rect">
            <a:avLst/>
          </a:prstGeom>
          <a:noFill/>
          <a:ln w="0">
            <a:noFill/>
          </a:ln>
        </p:spPr>
        <p:txBody>
          <a:bodyPr>
            <a:noAutofit/>
          </a:bodyPr>
          <a:lstStyle/>
          <a:p>
            <a:pPr>
              <a:defRPr sz="1575" b="0">
                <a:solidFill>
                  <a:srgbClr val="485C74"/>
                </a:solidFill>
                <a:latin typeface="Helvetica Neue"/>
                <a:ea typeface="Helvetica Neue"/>
                <a:cs typeface="Helvetica Neue"/>
              </a:defRPr>
            </a:pPr>
            <a:r>
              <a:rPr sz="1575" b="0">
                <a:solidFill>
                  <a:srgbClr val="485C74"/>
                </a:solidFill>
                <a:latin typeface="Helvetica Neue"/>
                <a:ea typeface="Helvetica Neue"/>
                <a:cs typeface="Helvetica Neue"/>
              </a:rPr>
              <a:t>PBI-011 and PBI-018 provide an executable model and evidence for the architecture assessment.</a:t>
            </a:r>
          </a:p>
        </p:txBody>
      </p:sp>
    </p:spTree>
    <p:extLst>
      <p:ext uri="{BB962C8B-B14F-4D97-AF65-F5344CB8AC3E}">
        <ns3:creationId val="181156580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2187D88-C9AC-4594-B3A5-AC795530078B}"/>
              </a:ext>
            </a:extLst>
          </p:cNvPr>
          <p:cNvSpPr>
            <a:spLocks xmlns:a="http://schemas.openxmlformats.org/drawingml/2006/main" noGrp="1"/>
          </p:cNvSpPr>
          <p:nvPr/>
        </p:nvSpPr>
        <p:spPr>
          <a:xfrm xmlns:a="http://schemas.openxmlformats.org/drawingml/2006/main">
            <a:off x="742950" y="447675"/>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5"/>
                </a:solidFill>
                <a:latin typeface="Helvetica Neue"/>
                <a:ea typeface="Helvetica Neue"/>
                <a:cs typeface="Helvetica Neue"/>
              </a:defRPr>
            </a:pPr>
            <a:r>
              <a:rPr sz="3000" b="1">
                <a:solidFill>
                  <a:srgbClr val="142735"/>
                </a:solidFill>
                <a:latin typeface="Helvetica Neue"/>
                <a:ea typeface="Helvetica Neue"/>
                <a:cs typeface="Helvetica Neue"/>
              </a:rPr>
              <a:t>Quality limits exposed by the prototype</a:t>
            </a:r>
          </a:p>
        </p:txBody>
      </p:sp>
      <p:sp>
        <p:nvSpPr>
          <p:cNvPr id="2" name="">
            <a:extLst xmlns:a="http://schemas.openxmlformats.org/drawingml/2006/main">
              <a:ext uri="{FF2B5EF4-FFF2-40B4-BE49-F238E27FC236}">
                <a16:creationId xmlns:a16="http://schemas.microsoft.com/office/drawing/2014/main" id="{5B11F59E-62B5-4CCD-8089-A901568EED39}"/>
              </a:ext>
            </a:extLst>
          </p:cNvPr>
          <p:cNvSpPr>
            <a:spLocks xmlns:a="http://schemas.openxmlformats.org/drawingml/2006/main" noGrp="1"/>
          </p:cNvSpPr>
          <p:nvPr/>
        </p:nvSpPr>
        <p:spPr>
          <a:xfrm xmlns:a="http://schemas.openxmlformats.org/drawingml/2006/main">
            <a:off x="742950" y="1438275"/>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6CAD"/>
                </a:solidFill>
                <a:latin typeface="Helvetica Neue"/>
                <a:ea typeface="Helvetica Neue"/>
                <a:cs typeface="Helvetica Neue"/>
              </a:defRPr>
            </a:pPr>
            <a:r>
              <a:rPr sz="2100" b="1">
                <a:solidFill>
                  <a:srgbClr val="176CAD"/>
                </a:solidFill>
                <a:latin typeface="Helvetica Neue"/>
                <a:ea typeface="Helvetica Neue"/>
                <a:cs typeface="Helvetica Neue"/>
              </a:rPr>
              <a:t>Speaker separation and weak-audio detection remain imperfect</a:t>
            </a:r>
          </a:p>
        </p:txBody>
      </p:sp>
      <p:sp>
        <p:nvSpPr>
          <p:cNvPr id="3" name="">
            <a:extLst xmlns:a="http://schemas.openxmlformats.org/drawingml/2006/main">
              <a:ext uri="{FF2B5EF4-FFF2-40B4-BE49-F238E27FC236}">
                <a16:creationId xmlns:a16="http://schemas.microsoft.com/office/drawing/2014/main" id="{2D86FE7A-0559-4D28-A4DD-08CA4DF8601C}"/>
              </a:ext>
            </a:extLst>
          </p:cNvPr>
          <p:cNvSpPr>
            <a:spLocks xmlns:a="http://schemas.openxmlformats.org/drawingml/2006/main" noGrp="1"/>
          </p:cNvSpPr>
          <p:nvPr/>
        </p:nvSpPr>
        <p:spPr>
          <a:xfrm xmlns:a="http://schemas.openxmlformats.org/drawingml/2006/main">
            <a:off x="742950" y="18192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AMI: 4 reference speakers became 3 clusters. Warning ranges also included speech from another person.</a:t>
            </a:r>
          </a:p>
        </p:txBody>
      </p:sp>
      <p:sp>
        <p:nvSpPr>
          <p:cNvPr id="4" name="">
            <a:extLst xmlns:a="http://schemas.openxmlformats.org/drawingml/2006/main">
              <a:ext uri="{FF2B5EF4-FFF2-40B4-BE49-F238E27FC236}">
                <a16:creationId xmlns:a16="http://schemas.microsoft.com/office/drawing/2014/main" id="{9B10635F-8655-4D26-8BD4-8A9D74ED95EF}"/>
              </a:ext>
            </a:extLst>
          </p:cNvPr>
          <p:cNvSpPr>
            <a:spLocks xmlns:a="http://schemas.openxmlformats.org/drawingml/2006/main" noGrp="1"/>
          </p:cNvSpPr>
          <p:nvPr/>
        </p:nvSpPr>
        <p:spPr>
          <a:xfrm xmlns:a="http://schemas.openxmlformats.org/drawingml/2006/main">
            <a:off x="742950" y="2352675"/>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6CAD"/>
                </a:solidFill>
                <a:latin typeface="Helvetica Neue"/>
                <a:ea typeface="Helvetica Neue"/>
                <a:cs typeface="Helvetica Neue"/>
              </a:defRPr>
            </a:pPr>
            <a:r>
              <a:rPr sz="2100" b="1">
                <a:solidFill>
                  <a:srgbClr val="176CAD"/>
                </a:solidFill>
                <a:latin typeface="Helvetica Neue"/>
                <a:ea typeface="Helvetica Neue"/>
                <a:cs typeface="Helvetica Neue"/>
              </a:rPr>
              <a:t>The transcript still needs operator review</a:t>
            </a:r>
          </a:p>
        </p:txBody>
      </p:sp>
      <p:sp>
        <p:nvSpPr>
          <p:cNvPr id="5" name="">
            <a:extLst xmlns:a="http://schemas.openxmlformats.org/drawingml/2006/main">
              <a:ext uri="{FF2B5EF4-FFF2-40B4-BE49-F238E27FC236}">
                <a16:creationId xmlns:a16="http://schemas.microsoft.com/office/drawing/2014/main" id="{C08F7974-6091-4198-AC35-6977CF888097}"/>
              </a:ext>
            </a:extLst>
          </p:cNvPr>
          <p:cNvSpPr>
            <a:spLocks xmlns:a="http://schemas.openxmlformats.org/drawingml/2006/main" noGrp="1"/>
          </p:cNvSpPr>
          <p:nvPr/>
        </p:nvSpPr>
        <p:spPr>
          <a:xfrm xmlns:a="http://schemas.openxmlformats.org/drawingml/2006/main">
            <a:off x="742950" y="27336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Sejm source comparison found errors in names, acronyms and numerical units. Listening remains necessary.</a:t>
            </a:r>
          </a:p>
        </p:txBody>
      </p:sp>
      <p:sp>
        <p:nvSpPr>
          <p:cNvPr id="6" name="">
            <a:extLst xmlns:a="http://schemas.openxmlformats.org/drawingml/2006/main">
              <a:ext uri="{FF2B5EF4-FFF2-40B4-BE49-F238E27FC236}">
                <a16:creationId xmlns:a16="http://schemas.microsoft.com/office/drawing/2014/main" id="{06395D44-B667-4651-81B6-1BC6F1DB2603}"/>
              </a:ext>
            </a:extLst>
          </p:cNvPr>
          <p:cNvSpPr>
            <a:spLocks xmlns:a="http://schemas.openxmlformats.org/drawingml/2006/main" noGrp="1"/>
          </p:cNvSpPr>
          <p:nvPr/>
        </p:nvSpPr>
        <p:spPr>
          <a:xfrm xmlns:a="http://schemas.openxmlformats.org/drawingml/2006/main">
            <a:off x="742950" y="3267075"/>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6CAD"/>
                </a:solidFill>
                <a:latin typeface="Helvetica Neue"/>
                <a:ea typeface="Helvetica Neue"/>
                <a:cs typeface="Helvetica Neue"/>
              </a:defRPr>
            </a:pPr>
            <a:r>
              <a:rPr sz="2100" b="1">
                <a:solidFill>
                  <a:srgbClr val="176CAD"/>
                </a:solidFill>
                <a:latin typeface="Helvetica Neue"/>
                <a:ea typeface="Helvetica Neue"/>
                <a:cs typeface="Helvetica Neue"/>
              </a:rPr>
              <a:t>A larger LLM did not establish reliable minutes</a:t>
            </a:r>
          </a:p>
        </p:txBody>
      </p:sp>
      <p:sp>
        <p:nvSpPr>
          <p:cNvPr id="7" name="">
            <a:extLst xmlns:a="http://schemas.openxmlformats.org/drawingml/2006/main">
              <a:ext uri="{FF2B5EF4-FFF2-40B4-BE49-F238E27FC236}">
                <a16:creationId xmlns:a16="http://schemas.microsoft.com/office/drawing/2014/main" id="{0FB4BB42-F8D7-480D-B5AB-946BB9E664A2}"/>
              </a:ext>
            </a:extLst>
          </p:cNvPr>
          <p:cNvSpPr>
            <a:spLocks xmlns:a="http://schemas.openxmlformats.org/drawingml/2006/main" noGrp="1"/>
          </p:cNvSpPr>
          <p:nvPr/>
        </p:nvSpPr>
        <p:spPr>
          <a:xfrm xmlns:a="http://schemas.openxmlformats.org/drawingml/2006/main">
            <a:off x="742950" y="36480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Only 2/5 AMI and 2/4 Sejm topic summaries passed the citation audit. Fresh 30B demo calls both failed.</a:t>
            </a:r>
          </a:p>
        </p:txBody>
      </p:sp>
      <p:sp>
        <p:nvSpPr>
          <p:cNvPr id="8" name="">
            <a:extLst xmlns:a="http://schemas.openxmlformats.org/drawingml/2006/main">
              <a:ext uri="{FF2B5EF4-FFF2-40B4-BE49-F238E27FC236}">
                <a16:creationId xmlns:a16="http://schemas.microsoft.com/office/drawing/2014/main" id="{26873C46-7E28-4678-914C-A16A2E6B7DC3}"/>
              </a:ext>
            </a:extLst>
          </p:cNvPr>
          <p:cNvSpPr>
            <a:spLocks xmlns:a="http://schemas.openxmlformats.org/drawingml/2006/main" noGrp="1"/>
          </p:cNvSpPr>
          <p:nvPr/>
        </p:nvSpPr>
        <p:spPr>
          <a:xfrm xmlns:a="http://schemas.openxmlformats.org/drawingml/2006/main">
            <a:off x="742950" y="4181475"/>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6CAD"/>
                </a:solidFill>
                <a:latin typeface="Helvetica Neue"/>
                <a:ea typeface="Helvetica Neue"/>
                <a:cs typeface="Helvetica Neue"/>
              </a:defRPr>
            </a:pPr>
            <a:r>
              <a:rPr sz="2100" b="1">
                <a:solidFill>
                  <a:srgbClr val="176CAD"/>
                </a:solidFill>
                <a:latin typeface="Helvetica Neue"/>
                <a:ea typeface="Helvetica Neue"/>
                <a:cs typeface="Helvetica Neue"/>
              </a:rPr>
              <a:t>Coverage and valid JSON do not guarantee correct meaning</a:t>
            </a:r>
          </a:p>
        </p:txBody>
      </p:sp>
      <p:sp>
        <p:nvSpPr>
          <p:cNvPr id="9" name="">
            <a:extLst xmlns:a="http://schemas.openxmlformats.org/drawingml/2006/main">
              <a:ext uri="{FF2B5EF4-FFF2-40B4-BE49-F238E27FC236}">
                <a16:creationId xmlns:a16="http://schemas.microsoft.com/office/drawing/2014/main" id="{4D67BBAF-0B21-446F-9F19-8DA1C8AFA85F}"/>
              </a:ext>
            </a:extLst>
          </p:cNvPr>
          <p:cNvSpPr>
            <a:spLocks xmlns:a="http://schemas.openxmlformats.org/drawingml/2006/main" noGrp="1"/>
          </p:cNvSpPr>
          <p:nvPr/>
        </p:nvSpPr>
        <p:spPr>
          <a:xfrm xmlns:a="http://schemas.openxmlformats.org/drawingml/2006/main">
            <a:off x="742950" y="45624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A topic mixed room equipment with the designed remote. Semantic boundary checks remain unimplemented.</a:t>
            </a:r>
          </a:p>
        </p:txBody>
      </p:sp>
      <p:sp>
        <p:nvSpPr>
          <p:cNvPr id="10" name="">
            <a:extLst xmlns:a="http://schemas.openxmlformats.org/drawingml/2006/main">
              <a:ext uri="{FF2B5EF4-FFF2-40B4-BE49-F238E27FC236}">
                <a16:creationId xmlns:a16="http://schemas.microsoft.com/office/drawing/2014/main" id="{982FB282-9388-491B-93C1-D38DC49564B8}"/>
              </a:ext>
            </a:extLst>
          </p:cNvPr>
          <p:cNvSpPr>
            <a:spLocks xmlns:a="http://schemas.openxmlformats.org/drawingml/2006/main" noGrp="1"/>
          </p:cNvSpPr>
          <p:nvPr/>
        </p:nvSpPr>
        <p:spPr>
          <a:xfrm xmlns:a="http://schemas.openxmlformats.org/drawingml/2006/main">
            <a:off x="742950" y="5095875"/>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6CAD"/>
                </a:solidFill>
                <a:latin typeface="Helvetica Neue"/>
                <a:ea typeface="Helvetica Neue"/>
                <a:cs typeface="Helvetica Neue"/>
              </a:defRPr>
            </a:pPr>
            <a:r>
              <a:rPr sz="2100" b="1">
                <a:solidFill>
                  <a:srgbClr val="176CAD"/>
                </a:solidFill>
                <a:latin typeface="Helvetica Neue"/>
                <a:ea typeface="Helvetica Neue"/>
                <a:cs typeface="Helvetica Neue"/>
              </a:rPr>
              <a:t>Long meetings and playback need further validation</a:t>
            </a:r>
          </a:p>
        </p:txBody>
      </p:sp>
      <p:sp>
        <p:nvSpPr>
          <p:cNvPr id="11" name="">
            <a:extLst xmlns:a="http://schemas.openxmlformats.org/drawingml/2006/main">
              <a:ext uri="{FF2B5EF4-FFF2-40B4-BE49-F238E27FC236}">
                <a16:creationId xmlns:a16="http://schemas.microsoft.com/office/drawing/2014/main" id="{7645A7C1-87F3-4236-805D-036B735F4BC6}"/>
              </a:ext>
            </a:extLst>
          </p:cNvPr>
          <p:cNvSpPr>
            <a:spLocks xmlns:a="http://schemas.openxmlformats.org/drawingml/2006/main" noGrp="1"/>
          </p:cNvSpPr>
          <p:nvPr/>
        </p:nvSpPr>
        <p:spPr>
          <a:xfrm xmlns:a="http://schemas.openxmlformats.org/drawingml/2006/main">
            <a:off x="742950" y="54768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The 30-minute DOE minutes trial failed. The current multi-stage path caps input at 10 minutes. Manual playback is pending.</a:t>
            </a:r>
          </a:p>
        </p:txBody>
      </p:sp>
      <p:sp>
        <p:nvSpPr>
          <p:cNvPr id="12" name="">
            <a:extLst xmlns:a="http://schemas.openxmlformats.org/drawingml/2006/main">
              <a:ext uri="{FF2B5EF4-FFF2-40B4-BE49-F238E27FC236}">
                <a16:creationId xmlns:a16="http://schemas.microsoft.com/office/drawing/2014/main" id="{26BDED45-5BD4-4E9F-BD03-C3FAC236F234}"/>
              </a:ext>
            </a:extLst>
          </p:cNvPr>
          <p:cNvSpPr>
            <a:spLocks xmlns:a="http://schemas.openxmlformats.org/drawingml/2006/main" noGrp="1"/>
          </p:cNvSpPr>
          <p:nvPr/>
        </p:nvSpPr>
        <p:spPr>
          <a:xfrm xmlns:a="http://schemas.openxmlformats.org/drawingml/2006/main">
            <a:off x="742950" y="62579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85C74"/>
                </a:solidFill>
                <a:latin typeface="Helvetica Neue"/>
                <a:ea typeface="Helvetica Neue"/>
                <a:cs typeface="Helvetica Neue"/>
              </a:defRPr>
            </a:pPr>
            <a:r>
              <a:rPr sz="1575" b="0">
                <a:solidFill>
                  <a:srgbClr val="485C74"/>
                </a:solidFill>
                <a:latin typeface="Helvetica Neue"/>
                <a:ea typeface="Helvetica Neue"/>
                <a:cs typeface="Helvetica Neue"/>
              </a:rPr>
              <a:t>Technical passes establish reproducible controls. Dependable minutes still require content validation.</a:t>
            </a:r>
          </a:p>
        </p:txBody>
      </p:sp>
    </p:spTree>
    <p:extLst>
      <p:ext uri="{BB962C8B-B14F-4D97-AF65-F5344CB8AC3E}">
        <p14:creationId xmlns:p14="http://schemas.microsoft.com/office/powerpoint/2010/main" val="1856589526"/>
      </p:ext>
    </p:extLst>
  </p:cSld>
</p:sld>
</file>

<file path=ppt/slides/slide2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1" name="">
            <a:extLst>
              <a:ext uri="{FF2B5EF4-FFF2-40B4-BE49-F238E27FC236}">
                <ns2:creationId id="{3AB3DFBC-F0F6-47F1-8972-66D1E5A28583}"/>
              </a:ext>
            </a:extLst>
          </p:cNvPr>
          <p:cNvSpPr>
            <a:spLocks noGrp="1"/>
          </p:cNvSpPr>
          <p:nvPr/>
        </p:nvSpPr>
        <p:spPr>
          <a:xfrm>
            <a:off x="742950" y="447675"/>
            <a:ext cx="10668000" cy="742950"/>
          </a:xfrm>
          <a:prstGeom prst="rect">
            <a:avLst/>
          </a:prstGeom>
          <a:noFill/>
          <a:ln w="0">
            <a:noFill/>
          </a:ln>
        </p:spPr>
        <p:txBody>
          <a:bodyPr>
            <a:noAutofit/>
          </a:bodyPr>
          <a:lstStyle/>
          <a:p>
            <a:pPr>
              <a:defRPr sz="3000" b="1">
                <a:solidFill>
                  <a:srgbClr val="142735"/>
                </a:solidFill>
                <a:latin typeface="Helvetica Neue"/>
                <a:ea typeface="Helvetica Neue"/>
                <a:cs typeface="Helvetica Neue"/>
              </a:defRPr>
            </a:pPr>
            <a:r>
              <a:rPr sz="3000" b="1">
                <a:solidFill>
                  <a:srgbClr val="142735"/>
                </a:solidFill>
                <a:latin typeface="Helvetica Neue"/>
                <a:ea typeface="Helvetica Neue"/>
                <a:cs typeface="Helvetica Neue"/>
              </a:rPr>
              <a:t>Conclusions and next validation priorities</a:t>
            </a:r>
          </a:p>
        </p:txBody>
      </p:sp>
      <p:sp>
        <p:nvSpPr>
          <p:cNvPr id="2" name="">
            <a:extLst>
              <a:ext uri="{FF2B5EF4-FFF2-40B4-BE49-F238E27FC236}">
                <ns2:creationId id="{0BD9E482-447F-4CF4-8118-BD98DB5CDAC1}"/>
              </a:ext>
            </a:extLst>
          </p:cNvPr>
          <p:cNvSpPr>
            <a:spLocks noGrp="1"/>
          </p:cNvSpPr>
          <p:nvPr/>
        </p:nvSpPr>
        <p:spPr>
          <a:xfrm>
            <a:off x="742950" y="1438275"/>
            <a:ext cx="10668000" cy="352425"/>
          </a:xfrm>
          <a:prstGeom prst="rect">
            <a:avLst/>
          </a:prstGeom>
          <a:noFill/>
          <a:ln w="0">
            <a:noFill/>
          </a:ln>
        </p:spPr>
        <p:txBody>
          <a:bodyPr>
            <a:noAutofit/>
          </a:bodyPr>
          <a:lstStyle/>
          <a:p>
            <a:pPr>
              <a:defRPr sz="2100" b="1">
                <a:solidFill>
                  <a:srgbClr val="176CAD"/>
                </a:solidFill>
                <a:latin typeface="Helvetica Neue"/>
                <a:ea typeface="Helvetica Neue"/>
                <a:cs typeface="Helvetica Neue"/>
              </a:defRPr>
            </a:pPr>
            <a:r>
              <a:rPr sz="2100" b="1">
                <a:solidFill>
                  <a:srgbClr val="176CAD"/>
                </a:solidFill>
                <a:latin typeface="Helvetica Neue"/>
                <a:ea typeface="Helvetica Neue"/>
                <a:cs typeface="Helvetica Neue"/>
              </a:rPr>
              <a:t>Source review is an essential product step</a:t>
            </a:r>
          </a:p>
        </p:txBody>
      </p:sp>
      <p:sp>
        <p:nvSpPr>
          <p:cNvPr id="3" name="">
            <a:extLst>
              <a:ext uri="{FF2B5EF4-FFF2-40B4-BE49-F238E27FC236}">
                <ns2:creationId id="{141FF60C-3544-4CDA-87BD-F11D59DDFC09}"/>
              </a:ext>
            </a:extLst>
          </p:cNvPr>
          <p:cNvSpPr>
            <a:spLocks noGrp="1"/>
          </p:cNvSpPr>
          <p:nvPr/>
        </p:nvSpPr>
        <p:spPr>
          <a:xfrm>
            <a:off x="742950" y="1819275"/>
            <a:ext cx="10668000" cy="581025"/>
          </a:xfrm>
          <a:prstGeom prst="rect">
            <a:avLst/>
          </a:prstGeom>
          <a:noFill/>
          <a:ln w="0">
            <a:noFill/>
          </a:ln>
        </p:spPr>
        <p:txBody>
          <a:bodyPr>
            <a:noAutofit/>
          </a:bodyPr>
          <a:lstStyle/>
          <a:p>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Validate operator listening, speaker correction and reversible text correction before depending on generated minutes.</a:t>
            </a:r>
          </a:p>
        </p:txBody>
      </p:sp>
      <p:sp>
        <p:nvSpPr>
          <p:cNvPr id="4" name="">
            <a:extLst>
              <a:ext uri="{FF2B5EF4-FFF2-40B4-BE49-F238E27FC236}">
                <ns2:creationId id="{E64609AC-F849-49DF-A342-0CCD6F1B07C8}"/>
              </a:ext>
            </a:extLst>
          </p:cNvPr>
          <p:cNvSpPr>
            <a:spLocks noGrp="1"/>
          </p:cNvSpPr>
          <p:nvPr/>
        </p:nvSpPr>
        <p:spPr>
          <a:xfrm>
            <a:off x="742950" y="2533650"/>
            <a:ext cx="10668000" cy="352425"/>
          </a:xfrm>
          <a:prstGeom prst="rect">
            <a:avLst/>
          </a:prstGeom>
          <a:noFill/>
          <a:ln w="0">
            <a:noFill/>
          </a:ln>
        </p:spPr>
        <p:txBody>
          <a:bodyPr>
            <a:noAutofit/>
          </a:bodyPr>
          <a:lstStyle/>
          <a:p>
            <a:pPr>
              <a:defRPr sz="2100" b="1">
                <a:solidFill>
                  <a:srgbClr val="176CAD"/>
                </a:solidFill>
                <a:latin typeface="Helvetica Neue"/>
                <a:ea typeface="Helvetica Neue"/>
                <a:cs typeface="Helvetica Neue"/>
              </a:defRPr>
            </a:pPr>
            <a:r>
              <a:rPr sz="2100" b="1">
                <a:solidFill>
                  <a:srgbClr val="176CAD"/>
                </a:solidFill>
                <a:latin typeface="Helvetica Neue"/>
                <a:ea typeface="Helvetica Neue"/>
                <a:cs typeface="Helvetica Neue"/>
              </a:rPr>
              <a:t>Minutes need references for meaning as well as structure</a:t>
            </a:r>
          </a:p>
        </p:txBody>
      </p:sp>
      <p:sp>
        <p:nvSpPr>
          <p:cNvPr id="5" name="">
            <a:extLst>
              <a:ext uri="{FF2B5EF4-FFF2-40B4-BE49-F238E27FC236}">
                <ns2:creationId id="{A6E9CE8A-691D-469C-B1EA-8A80EF61326E}"/>
              </a:ext>
            </a:extLst>
          </p:cNvPr>
          <p:cNvSpPr>
            <a:spLocks noGrp="1"/>
          </p:cNvSpPr>
          <p:nvPr/>
        </p:nvSpPr>
        <p:spPr>
          <a:xfrm>
            <a:off x="742950" y="2914650"/>
            <a:ext cx="10668000" cy="581025"/>
          </a:xfrm>
          <a:prstGeom prst="rect">
            <a:avLst/>
          </a:prstGeom>
          <a:noFill/>
          <a:ln w="0">
            <a:noFill/>
          </a:ln>
        </p:spPr>
        <p:txBody>
          <a:bodyPr>
            <a:noAutofit/>
          </a:bodyPr>
          <a:lstStyle/>
          <a:p>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Build reviewed topic and decision/task annotations. Measure claim support and extraction precision/recall.</a:t>
            </a:r>
          </a:p>
        </p:txBody>
      </p:sp>
      <p:sp>
        <p:nvSpPr>
          <p:cNvPr id="6" name="">
            <a:extLst>
              <a:ext uri="{FF2B5EF4-FFF2-40B4-BE49-F238E27FC236}">
                <ns2:creationId id="{CA3F09F6-B96E-4342-B315-2558B71B26A3}"/>
              </a:ext>
            </a:extLst>
          </p:cNvPr>
          <p:cNvSpPr>
            <a:spLocks noGrp="1"/>
          </p:cNvSpPr>
          <p:nvPr/>
        </p:nvSpPr>
        <p:spPr>
          <a:xfrm>
            <a:off x="742950" y="3629025"/>
            <a:ext cx="10668000" cy="352425"/>
          </a:xfrm>
          <a:prstGeom prst="rect">
            <a:avLst/>
          </a:prstGeom>
          <a:noFill/>
          <a:ln w="0">
            <a:noFill/>
          </a:ln>
        </p:spPr>
        <p:txBody>
          <a:bodyPr>
            <a:noAutofit/>
          </a:bodyPr>
          <a:lstStyle/>
          <a:p>
            <a:pPr>
              <a:defRPr sz="2100" b="1">
                <a:solidFill>
                  <a:srgbClr val="176CAD"/>
                </a:solidFill>
                <a:latin typeface="Helvetica Neue"/>
                <a:ea typeface="Helvetica Neue"/>
                <a:cs typeface="Helvetica Neue"/>
              </a:defRPr>
            </a:pPr>
            <a:r>
              <a:rPr sz="2100" b="1">
                <a:solidFill>
                  <a:srgbClr val="176CAD"/>
                </a:solidFill>
                <a:latin typeface="Helvetica Neue"/>
                <a:ea typeface="Helvetica Neue"/>
                <a:cs typeface="Helvetica Neue"/>
              </a:rPr>
              <a:t>Boundary rules need text and voice evidence</a:t>
            </a:r>
          </a:p>
        </p:txBody>
      </p:sp>
      <p:sp>
        <p:nvSpPr>
          <p:cNvPr id="7" name="">
            <a:extLst>
              <a:ext uri="{FF2B5EF4-FFF2-40B4-BE49-F238E27FC236}">
                <ns2:creationId id="{72FA42DB-C3B2-4B74-B7FC-F5E70CE0FE3E}"/>
              </a:ext>
            </a:extLst>
          </p:cNvPr>
          <p:cNvSpPr>
            <a:spLocks noGrp="1"/>
          </p:cNvSpPr>
          <p:nvPr/>
        </p:nvSpPr>
        <p:spPr>
          <a:xfrm>
            <a:off x="742950" y="4010025"/>
            <a:ext cx="10668000" cy="581025"/>
          </a:xfrm>
          <a:prstGeom prst="rect">
            <a:avLst/>
          </a:prstGeom>
          <a:noFill/>
          <a:ln w="0">
            <a:noFill/>
          </a:ln>
        </p:spPr>
        <p:txBody>
          <a:bodyPr>
            <a:noAutofit/>
          </a:bodyPr>
          <a:lstStyle/>
          <a:p>
            <a:pPr>
              <a:buNone/>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Long silence ends a turn; short pauses can join. Validate semantic continuity and ambiguous voice joins next.</a:t>
            </a:r>
          </a:p>
        </p:txBody>
      </p:sp>
      <p:sp>
        <p:nvSpPr>
          <p:cNvPr id="8" name="">
            <a:extLst>
              <a:ext uri="{FF2B5EF4-FFF2-40B4-BE49-F238E27FC236}">
                <ns2:creationId id="{1786DD50-2954-4CFA-8861-259EB79A2EBD}"/>
              </a:ext>
            </a:extLst>
          </p:cNvPr>
          <p:cNvSpPr>
            <a:spLocks noGrp="1"/>
          </p:cNvSpPr>
          <p:nvPr/>
        </p:nvSpPr>
        <p:spPr>
          <a:xfrm>
            <a:off x="742950" y="4724400"/>
            <a:ext cx="10668000" cy="352425"/>
          </a:xfrm>
          <a:prstGeom prst="rect">
            <a:avLst/>
          </a:prstGeom>
          <a:noFill/>
          <a:ln w="0">
            <a:noFill/>
          </a:ln>
        </p:spPr>
        <p:txBody>
          <a:bodyPr>
            <a:noAutofit/>
          </a:bodyPr>
          <a:lstStyle/>
          <a:p>
            <a:pPr>
              <a:defRPr sz="2100" b="1">
                <a:solidFill>
                  <a:srgbClr val="176CAD"/>
                </a:solidFill>
                <a:latin typeface="Helvetica Neue"/>
                <a:ea typeface="Helvetica Neue"/>
                <a:cs typeface="Helvetica Neue"/>
              </a:defRPr>
            </a:pPr>
            <a:r>
              <a:rPr sz="2100" b="1">
                <a:solidFill>
                  <a:srgbClr val="176CAD"/>
                </a:solidFill>
                <a:latin typeface="Helvetica Neue"/>
                <a:ea typeface="Helvetica Neue"/>
                <a:cs typeface="Helvetica Neue"/>
              </a:rPr>
              <a:t>Model and architecture choices need comparative validation</a:t>
            </a:r>
          </a:p>
        </p:txBody>
      </p:sp>
      <p:sp>
        <p:nvSpPr>
          <p:cNvPr id="9" name="">
            <a:extLst>
              <a:ext uri="{FF2B5EF4-FFF2-40B4-BE49-F238E27FC236}">
                <ns2:creationId id="{4E9191C7-92D3-4F86-86D1-7E81FA05BFD7}"/>
              </a:ext>
            </a:extLst>
          </p:cNvPr>
          <p:cNvSpPr>
            <a:spLocks noGrp="1"/>
          </p:cNvSpPr>
          <p:nvPr/>
        </p:nvSpPr>
        <p:spPr>
          <a:xfrm>
            <a:off x="742950" y="5105400"/>
            <a:ext cx="10668000" cy="581025"/>
          </a:xfrm>
          <a:prstGeom prst="rect">
            <a:avLst/>
          </a:prstGeom>
          <a:noFill/>
          <a:ln w="0">
            <a:noFill/>
          </a:ln>
        </p:spPr>
        <p:txBody>
          <a:bodyPr>
            <a:noAutofit/>
          </a:bodyPr>
          <a:lstStyle/>
          <a:p>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Assess processing longer recordings in chunks and resource use on the same meetings before choosing a model configuration.</a:t>
            </a:r>
          </a:p>
        </p:txBody>
      </p:sp>
      <p:sp>
        <p:nvSpPr>
          <p:cNvPr id="10" name="">
            <a:extLst>
              <a:ext uri="{FF2B5EF4-FFF2-40B4-BE49-F238E27FC236}">
                <ns2:creationId id="{02536637-D589-4215-B902-8E3123DEA745}"/>
              </a:ext>
            </a:extLst>
          </p:cNvPr>
          <p:cNvSpPr>
            <a:spLocks noGrp="1"/>
          </p:cNvSpPr>
          <p:nvPr/>
        </p:nvSpPr>
        <p:spPr>
          <a:xfrm>
            <a:off x="742950" y="6257925"/>
            <a:ext cx="10668000" cy="428625"/>
          </a:xfrm>
          <a:prstGeom prst="rect">
            <a:avLst/>
          </a:prstGeom>
          <a:noFill/>
          <a:ln w="0">
            <a:noFill/>
          </a:ln>
        </p:spPr>
        <p:txBody>
          <a:bodyPr>
            <a:noAutofit/>
          </a:bodyPr>
          <a:lstStyle/>
          <a:p>
            <a:pPr>
              <a:defRPr sz="1575" b="0">
                <a:solidFill>
                  <a:srgbClr val="485C74"/>
                </a:solidFill>
                <a:latin typeface="Helvetica Neue"/>
                <a:ea typeface="Helvetica Neue"/>
                <a:cs typeface="Helvetica Neue"/>
              </a:defRPr>
            </a:pPr>
            <a:r>
              <a:rPr sz="1575" b="0">
                <a:solidFill>
                  <a:srgbClr val="485C74"/>
                </a:solidFill>
                <a:latin typeface="Helvetica Neue"/>
                <a:ea typeface="Helvetica Neue"/>
                <a:cs typeface="Helvetica Neue"/>
              </a:rPr>
              <a:t>The prototype supplies useful evidence. Reliable minutes remain unvalidated. Product Owner review is pending.</a:t>
            </a:r>
          </a:p>
        </p:txBody>
      </p:sp>
    </p:spTree>
    <p:extLst>
      <p:ext uri="{BB962C8B-B14F-4D97-AF65-F5344CB8AC3E}">
        <ns3:creationId val="6425695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2026-10-04T16:12:50.1550000Z</dcterms:created>
  <dcterms:modified xsi:type="dcterms:W3CDTF">2026-10-04T16:12:50.1550000Z</dcterms:modified>
</coreProperties>
</file>