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2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f6f4f94e8d435b" /><Relationship Type="http://schemas.openxmlformats.org/officeDocument/2006/relationships/extended-properties" Target="/docProps/app.xml" Id="Raf53a87208764bf6" /><Relationship Type="http://schemas.openxmlformats.org/officeDocument/2006/relationships/officeDocument" Target="/ppt/presentation.xml" Id="Rbf920047376849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a4666c299e4f23"/>
  </p:sldMasterIdLst>
  <p:notesMasterIdLst>
    <p:notesMasterId xmlns:r="http://schemas.openxmlformats.org/officeDocument/2006/relationships" r:id="R323aab3f14cb4356"/>
  </p:notesMasterIdLst>
  <p:sldIdLst>
    <p:sldId xmlns:r="http://schemas.openxmlformats.org/officeDocument/2006/relationships" id="256" r:id="R657a8350e44a4c37"/>
    <p:sldId xmlns:r="http://schemas.openxmlformats.org/officeDocument/2006/relationships" id="257" r:id="R9df7e4f3101d446f"/>
    <p:sldId xmlns:r="http://schemas.openxmlformats.org/officeDocument/2006/relationships" id="258" r:id="R044c6e0f0c274822"/>
    <p:sldId xmlns:r="http://schemas.openxmlformats.org/officeDocument/2006/relationships" id="259" r:id="Rbd5f75281e724347"/>
    <p:sldId xmlns:r="http://schemas.openxmlformats.org/officeDocument/2006/relationships" id="260" r:id="R5b0851b105414232"/>
    <p:sldId xmlns:r="http://schemas.openxmlformats.org/officeDocument/2006/relationships" id="261" r:id="R671aa5fe3ad9403f"/>
    <p:sldId xmlns:r="http://schemas.openxmlformats.org/officeDocument/2006/relationships" id="262" r:id="R6275443d475145c2"/>
    <p:sldId xmlns:r="http://schemas.openxmlformats.org/officeDocument/2006/relationships" id="263" r:id="Rdd93646735754e3f"/>
    <p:sldId xmlns:r="http://schemas.openxmlformats.org/officeDocument/2006/relationships" id="264" r:id="R9e5677ad20584c88"/>
    <p:sldId xmlns:r="http://schemas.openxmlformats.org/officeDocument/2006/relationships" id="265" r:id="Rf1f8b294d5474739"/>
    <p:sldId xmlns:r="http://schemas.openxmlformats.org/officeDocument/2006/relationships" id="266" r:id="R277b5f98f2814200"/>
    <p:sldId xmlns:r="http://schemas.openxmlformats.org/officeDocument/2006/relationships" id="267" r:id="R80758e506e0542f9"/>
    <p:sldId xmlns:r="http://schemas.openxmlformats.org/officeDocument/2006/relationships" id="268" r:id="R4375f14996dd484e"/>
    <p:sldId xmlns:r="http://schemas.openxmlformats.org/officeDocument/2006/relationships" id="269" r:id="R42cfa9dff479427a"/>
    <p:sldId xmlns:r="http://schemas.openxmlformats.org/officeDocument/2006/relationships" id="270" r:id="R2ed96456c7ba4f6c"/>
    <p:sldId xmlns:r="http://schemas.openxmlformats.org/officeDocument/2006/relationships" id="271" r:id="Rd0c98080576e4ec6"/>
    <p:sldId xmlns:r="http://schemas.openxmlformats.org/officeDocument/2006/relationships" id="272" r:id="R876bc5e75bbd414a"/>
    <p:sldId xmlns:r="http://schemas.openxmlformats.org/officeDocument/2006/relationships" id="273" r:id="R7f88e5eaaf0941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37179abfaa4a59" /><Relationship Type="http://schemas.openxmlformats.org/officeDocument/2006/relationships/slideMaster" Target="/ppt/slideMasters/slideMaster1.xml" Id="R35a4666c299e4f23" /><Relationship Type="http://schemas.openxmlformats.org/officeDocument/2006/relationships/notesMaster" Target="/ppt/notesMasters/notesMaster1.xml" Id="R323aab3f14cb4356" /><Relationship Type="http://schemas.openxmlformats.org/officeDocument/2006/relationships/presProps" Target="/ppt/presProps.xml" Id="R65db40590a5a4a3d" /><Relationship Type="http://schemas.openxmlformats.org/officeDocument/2006/relationships/tableStyles" Target="/ppt/tableStyles.xml" Id="Raa5ef05fe7ae423c" /><Relationship Type="http://schemas.openxmlformats.org/officeDocument/2006/relationships/slide" Target="/ppt/slides/slide1.xml" Id="R657a8350e44a4c37" /><Relationship Type="http://schemas.openxmlformats.org/officeDocument/2006/relationships/slide" Target="/ppt/slides/slide2.xml" Id="R9df7e4f3101d446f" /><Relationship Type="http://schemas.openxmlformats.org/officeDocument/2006/relationships/slide" Target="/ppt/slides/slide3.xml" Id="R044c6e0f0c274822" /><Relationship Type="http://schemas.openxmlformats.org/officeDocument/2006/relationships/slide" Target="/ppt/slides/slide4.xml" Id="Rbd5f75281e724347" /><Relationship Type="http://schemas.openxmlformats.org/officeDocument/2006/relationships/slide" Target="/ppt/slides/slide5.xml" Id="R5b0851b105414232" /><Relationship Type="http://schemas.openxmlformats.org/officeDocument/2006/relationships/slide" Target="/ppt/slides/slide6.xml" Id="R671aa5fe3ad9403f" /><Relationship Type="http://schemas.openxmlformats.org/officeDocument/2006/relationships/slide" Target="/ppt/slides/slide7.xml" Id="R6275443d475145c2" /><Relationship Type="http://schemas.openxmlformats.org/officeDocument/2006/relationships/slide" Target="/ppt/slides/slide8.xml" Id="Rdd93646735754e3f" /><Relationship Type="http://schemas.openxmlformats.org/officeDocument/2006/relationships/slide" Target="/ppt/slides/slide9.xml" Id="R9e5677ad20584c88" /><Relationship Type="http://schemas.openxmlformats.org/officeDocument/2006/relationships/slide" Target="/ppt/slides/slide10.xml" Id="Rf1f8b294d5474739" /><Relationship Type="http://schemas.openxmlformats.org/officeDocument/2006/relationships/slide" Target="/ppt/slides/slide11.xml" Id="R277b5f98f2814200" /><Relationship Type="http://schemas.openxmlformats.org/officeDocument/2006/relationships/slide" Target="/ppt/slides/slide12.xml" Id="R80758e506e0542f9" /><Relationship Type="http://schemas.openxmlformats.org/officeDocument/2006/relationships/slide" Target="/ppt/slides/slide13.xml" Id="R4375f14996dd484e" /><Relationship Type="http://schemas.openxmlformats.org/officeDocument/2006/relationships/slide" Target="/ppt/slides/slide14.xml" Id="R42cfa9dff479427a" /><Relationship Type="http://schemas.openxmlformats.org/officeDocument/2006/relationships/slide" Target="/ppt/slides/slide15.xml" Id="R2ed96456c7ba4f6c" /><Relationship Type="http://schemas.openxmlformats.org/officeDocument/2006/relationships/slide" Target="/ppt/slides/slide16.xml" Id="Rd0c98080576e4ec6" /><Relationship Type="http://schemas.openxmlformats.org/officeDocument/2006/relationships/slide" Target="/ppt/slides/slide17.xml" Id="R876bc5e75bbd414a" /><Relationship Type="http://schemas.openxmlformats.org/officeDocument/2006/relationships/slide" Target="/ppt/slides/slide18.xml" Id="R7f88e5eaaf0941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14d10ca0ca4f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10fbc1764a41ef" /><Relationship Type="http://schemas.openxmlformats.org/officeDocument/2006/relationships/notesMaster" Target="/ppt/notesMasters/notesMaster1.xml" Id="R155f9406388a4d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f878d7fc7b4694" /><Relationship Type="http://schemas.openxmlformats.org/officeDocument/2006/relationships/notesMaster" Target="/ppt/notesMasters/notesMaster1.xml" Id="R041907efba1d4b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e00844552c443d" /><Relationship Type="http://schemas.openxmlformats.org/officeDocument/2006/relationships/notesMaster" Target="/ppt/notesMasters/notesMaster1.xml" Id="R80a0be33789e4b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8777edf0754e41" /><Relationship Type="http://schemas.openxmlformats.org/officeDocument/2006/relationships/notesMaster" Target="/ppt/notesMasters/notesMaster1.xml" Id="R58ac092f62b541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b254a5ac1f41f1" /><Relationship Type="http://schemas.openxmlformats.org/officeDocument/2006/relationships/notesMaster" Target="/ppt/notesMasters/notesMaster1.xml" Id="Rcd78f48e9e514b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d783206a6e4f7f" /><Relationship Type="http://schemas.openxmlformats.org/officeDocument/2006/relationships/notesMaster" Target="/ppt/notesMasters/notesMaster1.xml" Id="R2dab07a2c91847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f21a1b2a1a413c" /><Relationship Type="http://schemas.openxmlformats.org/officeDocument/2006/relationships/notesMaster" Target="/ppt/notesMasters/notesMaster1.xml" Id="Rdda48c7af64442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53418acb9c4bf3" /><Relationship Type="http://schemas.openxmlformats.org/officeDocument/2006/relationships/notesMaster" Target="/ppt/notesMasters/notesMaster1.xml" Id="R4cb3280d6cd44f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e9f85196284087" /><Relationship Type="http://schemas.openxmlformats.org/officeDocument/2006/relationships/notesMaster" Target="/ppt/notesMasters/notesMaster1.xml" Id="Rb3e7354a403e44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88f54a164544d3" /><Relationship Type="http://schemas.openxmlformats.org/officeDocument/2006/relationships/notesMaster" Target="/ppt/notesMasters/notesMaster1.xml" Id="Rbb69082cd2a7489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1d2670d66694786" /><Relationship Type="http://schemas.openxmlformats.org/officeDocument/2006/relationships/notesMaster" Target="/ppt/notesMasters/notesMaster1.xml" Id="R08423b199b2b4f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18b9359e4b4405e" /><Relationship Type="http://schemas.openxmlformats.org/officeDocument/2006/relationships/notesMaster" Target="/ppt/notesMasters/notesMaster1.xml" Id="R4fd272838e764c7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f20bedfe44e47ac" /><Relationship Type="http://schemas.openxmlformats.org/officeDocument/2006/relationships/notesMaster" Target="/ppt/notesMasters/notesMaster1.xml" Id="Rc61420663a48400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ac229f3f018491c" /><Relationship Type="http://schemas.openxmlformats.org/officeDocument/2006/relationships/notesMaster" Target="/ppt/notesMasters/notesMaster1.xml" Id="Rbdcdcae44647484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f16294ca0034b17" /><Relationship Type="http://schemas.openxmlformats.org/officeDocument/2006/relationships/notesMaster" Target="/ppt/notesMasters/notesMaster1.xml" Id="Re0a655147a1041f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70cf2184b784ef1" /><Relationship Type="http://schemas.openxmlformats.org/officeDocument/2006/relationships/notesMaster" Target="/ppt/notesMasters/notesMaster1.xml" Id="Re11b5db9ea4348e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d066f66fd524ed9" /><Relationship Type="http://schemas.openxmlformats.org/officeDocument/2006/relationships/notesMaster" Target="/ppt/notesMasters/notesMaster1.xml" Id="Rb56abb742f8541c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3b36b7a7af84a3f" /><Relationship Type="http://schemas.openxmlformats.org/officeDocument/2006/relationships/notesMaster" Target="/ppt/notesMasters/notesMaster1.xml" Id="R2e70783979ea41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PLAN.md Sprint 2 and BACKLOG.md PBI-011/PBI-018. This is an architectural prototype and evidence handover, with open minutes defects.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PLAN.md Sprint 2; progress/sprint_2/sprint_2_design.md; progress/sprint_2/sprint_2_product_owner_presentation.md.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source: docs/architecture.md and docs/architecture_overview.drawio. This is the Sprint 2 executable prototype; generated minutes remain review drafts.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prompt templates: progress/sprint_2/sprint_2_implementation.md, Model prompt ledger and response gate. ASR and diarization receive configuration and language hints, not free-text prompts. Staged model responses and repairs: progress/sprint_2/tests/multistage_20261004/.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progress/sprint_2/ami_es2002a_fixture.md; polish_sejm_meeting_fixture.md; doe_itiac_day2_fixture.md. Files and models were staged on the Sprint 2 Mac outside Git. Exact preflight and commands: progress/sprint_2/user_manual.md.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fresh real-model record 5DC83D71-D1B0-4568-A66D-70F3B9A71D46 in /private/tmp/meeting-sprint2-po-rehearsal.wFIPLx, 801 timed segments with Parakeet v3. Official comparison: progress/sprint_2/tests/polish_sejm_pdf_transcription_review_20261002.md. The ASR wording varies between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fresh real-model AMI record 43CE873A-603C-473F-9B23-A785A0689456, /private/tmp/meeting-sprint2-po-rehearsal.wFIPLx. Fluid saved 16 warnings. The app has an earlier manual seek check; bounded replay after a later change still needs manual verification. Benchmark: progress/sprint_2/ami_asr_benchmark.md.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progress/sprint_2/tests/operator_review_rehearsal_20261004.md and operator_cleanup_rehearsal_20261004.json. The reading view is a proposal, not an audio-verified speaker correction.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positive before/after/restore case is a controlled unit test, not a real-audio correction. Native UI automation could not attach to the launched review player. Do not assert that the developer heard or verified this audio.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fresh AMI record 43CE873A-603C-473F-9B23-A785A0689456 and Polish record 5DC83D71-D1B0-4568-A66D-70F3B9A71D46. CLI name operation is in progress/sprint_2/user_manual.md. Only the Sejm opening and return turns have published speaker context; whole-cluster identity was not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fresh Polish record 5DC83D71-D1B0-4568-A66D-70F3B9A71D46, four pre-gate local-model review items after swift run. PDF: Sejm sitting 39. The source ranges are in the saved JSON and sprint_2_tests.md.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docs/srs.md NFR-06; progress/sprint_2/sprint_2_design.md approved recovery amendment; experiments/MinutesAdapter/Tests/MeetingMLXMinutesTests/ResponseValidationTests.swift. Real-model Sejm checks have not yet produced a dependable new summary.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progress/sprint_2/doe_itiac_day2_fixture.md and tests/doe_itiac_day2_run_20261002.json. The DOE advisory committee source provides an official speaker-labeled transcript and long recording. The first 30 minutes were used 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progress/sprint_2/user_manual.md; sprint_2_handover.md; sprint_2_bugs.md. The review app can seek to selected ranges; its latest bounded playback change still needs manual replay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progress/sprint_2/ami_asr_benchmark.md. Whole-meeting word error rate on the same AMI ES2002a headset mix; FluidAudio/Parakeet v2 19.48%, whisper.cpp/Whisper base.en 28.79%. Affected-speaker reference-linked errors use a separate measure.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progress/sprint_2/ami_asr_benchmark.md FR-11. Five referenced FLEURS read-speech clips per language on each model. Whisper base used CPU because Metal initialization failed on this Mac. This is not a Polish meeting 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progress/sprint_2/ami_asr_benchmark.md, sprint_2_bugs.md, sprint_2_handover.md. These findings are inputs to Sprint 3 PBI-012, not a final architecture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PLAN.md Sprint 2 and Sprint 3; progress/sprint_2/sprint_2_handover.md; sprint_2_product_owner_presentation.md. Product Owner live review and decision are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2a9b2d64a741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5e414bfe6b4bf6" /><Relationship Type="http://schemas.openxmlformats.org/officeDocument/2006/relationships/slideLayout" Target="/ppt/slideLayouts/slideLayout1.xml" Id="Rf0998dc512db4b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998dc512db4b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f1610dcec45fd" /><Relationship Type="http://schemas.openxmlformats.org/officeDocument/2006/relationships/notesSlide" Target="/ppt/notesSlides/notesSlide1.xml" Id="R083bf0135f0143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4546458b746c5" /><Relationship Type="http://schemas.openxmlformats.org/officeDocument/2006/relationships/notesSlide" Target="/ppt/notesSlides/notesSlide2.xml" Id="Rf809d240e3e24c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59da8aa6b475e" /><Relationship Type="http://schemas.openxmlformats.org/officeDocument/2006/relationships/notesSlide" Target="/ppt/notesSlides/notesSlide3.xml" Id="Rd047b5f613b24e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1125e3bd9463b" /><Relationship Type="http://schemas.openxmlformats.org/officeDocument/2006/relationships/notesSlide" Target="/ppt/notesSlides/notesSlide4.xml" Id="R54bb34a6a5d14e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a73b53ddc47d8" /><Relationship Type="http://schemas.openxmlformats.org/officeDocument/2006/relationships/notesSlide" Target="/ppt/notesSlides/notesSlide5.xml" Id="R2a52845adaf643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cf85445074b42" /><Relationship Type="http://schemas.openxmlformats.org/officeDocument/2006/relationships/notesSlide" Target="/ppt/notesSlides/notesSlide6.xml" Id="R9a97be5830634e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9a1c636b54984" /><Relationship Type="http://schemas.openxmlformats.org/officeDocument/2006/relationships/notesSlide" Target="/ppt/notesSlides/notesSlide7.xml" Id="R02150d968e1841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15fdf291c47b0" /><Relationship Type="http://schemas.openxmlformats.org/officeDocument/2006/relationships/notesSlide" Target="/ppt/notesSlides/notesSlide8.xml" Id="Rbb23a351c5c946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3acfa7e07400c" /><Relationship Type="http://schemas.openxmlformats.org/officeDocument/2006/relationships/notesSlide" Target="/ppt/notesSlides/notesSlide9.xml" Id="R38122d42b0e742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8c87fb5404d8f" /><Relationship Type="http://schemas.openxmlformats.org/officeDocument/2006/relationships/notesSlide" Target="/ppt/notesSlides/notesSlide10.xml" Id="R5c6296a8b58443f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6c3391828414a" /><Relationship Type="http://schemas.openxmlformats.org/officeDocument/2006/relationships/notesSlide" Target="/ppt/notesSlides/notesSlide11.xml" Id="R5956978a0fa8416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1b3cddf6046e6" /><Relationship Type="http://schemas.openxmlformats.org/officeDocument/2006/relationships/notesSlide" Target="/ppt/notesSlides/notesSlide12.xml" Id="Rcfeff697527a4af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6637753cf434e" /><Relationship Type="http://schemas.openxmlformats.org/officeDocument/2006/relationships/notesSlide" Target="/ppt/notesSlides/notesSlide13.xml" Id="Rceb753dc7183430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17143abdd45ec" /><Relationship Type="http://schemas.openxmlformats.org/officeDocument/2006/relationships/notesSlide" Target="/ppt/notesSlides/notesSlide14.xml" Id="Rc87f76fba897433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594dc8e5b4859" /><Relationship Type="http://schemas.openxmlformats.org/officeDocument/2006/relationships/chart" Target="/ppt/slides/charts/chart1.xml" Id="R7d6fb14eed07464c" /><Relationship Type="http://schemas.openxmlformats.org/officeDocument/2006/relationships/notesSlide" Target="/ppt/notesSlides/notesSlide15.xml" Id="Rbcd7f0337f3d41a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4139f995643fc" /><Relationship Type="http://schemas.openxmlformats.org/officeDocument/2006/relationships/chart" Target="/ppt/slides/charts/chart2.xml" Id="Rbe91e696cfd34a59" /><Relationship Type="http://schemas.openxmlformats.org/officeDocument/2006/relationships/notesSlide" Target="/ppt/notesSlides/notesSlide16.xml" Id="R68bab48f4beb4c1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8dae8298746b0" /><Relationship Type="http://schemas.openxmlformats.org/officeDocument/2006/relationships/notesSlide" Target="/ppt/notesSlides/notesSlide17.xml" Id="R93313cadedf6468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de3300e7e40b1" /><Relationship Type="http://schemas.openxmlformats.org/officeDocument/2006/relationships/notesSlide" Target="/ppt/notesSlides/notesSlide18.xml" Id="R347a793e26fc42d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FluidAudio / Parakeet v2</c:v>
          </c:tx>
          <c:spPr>
            <a:solidFill xmlns:a="http://schemas.openxmlformats.org/drawingml/2006/main">
              <a:srgbClr val="1769AA"/>
            </a:solidFill>
          </c:spPr>
          <c:cat>
            <c:strRef>
              <c:f>'Chart Data'!$A$2:$A$2</c:f>
              <c:strCache>
                <c:ptCount val="1"/>
                <c:pt idx="0">
                  <c:v>AMI meeting</c:v>
                </c:pt>
              </c:strCache>
            </c:strRef>
          </c:cat>
          <c:val>
            <c:numRef>
              <c:f>'Chart Data'!$B$2:$B$2</c:f>
              <c:numCache>
                <c:formatCode>General</c:formatCode>
                <c:ptCount val="1"/>
                <c:pt idx="0">
                  <c:v>19.48</c:v>
                </c:pt>
              </c:numCache>
            </c:numRef>
          </c:val>
        </c:ser>
        <c:ser>
          <c:idx val="1"/>
          <c:order val="1"/>
          <c:tx>
            <c:v>whisper.cpp / Whisper base.en</c:v>
          </c:tx>
          <c:spPr>
            <a:solidFill xmlns:a="http://schemas.openxmlformats.org/drawingml/2006/main">
              <a:srgbClr val="D96B2B"/>
            </a:solidFill>
          </c:spPr>
          <c:cat>
            <c:strRef>
              <c:f>'Chart Data'!$C$2:$C$2</c:f>
              <c:strCache>
                <c:ptCount val="1"/>
                <c:pt idx="0">
                  <c:v>AMI meeting</c:v>
                </c:pt>
              </c:strCache>
            </c:strRef>
          </c:cat>
          <c:val>
            <c:numRef>
              <c:f>'Chart Data'!$D$2:$D$2</c:f>
              <c:numCache>
                <c:formatCode>General</c:formatCode>
                <c:ptCount val="1"/>
                <c:pt idx="0">
                  <c:v>28.79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Parakeet v3</c:v>
          </c:tx>
          <c:spPr>
            <a:solidFill xmlns:a="http://schemas.openxmlformats.org/drawingml/2006/main">
              <a:srgbClr val="1769AA"/>
            </a:solidFill>
          </c:spPr>
          <c:cat>
            <c:strRef>
              <c:f>'Chart Data'!$A$2:$A$3</c:f>
              <c:strCache>
                <c:ptCount val="2"/>
                <c:pt idx="0">
                  <c:v>English</c:v>
                </c:pt>
                <c:pt idx="1">
                  <c:v>Polish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11.49</c:v>
                </c:pt>
                <c:pt idx="1">
                  <c:v>3.41</c:v>
                </c:pt>
              </c:numCache>
            </c:numRef>
          </c:val>
        </c:ser>
        <c:ser>
          <c:idx val="1"/>
          <c:order val="1"/>
          <c:tx>
            <c:v>Whisper base, CPU</c:v>
          </c:tx>
          <c:spPr>
            <a:solidFill xmlns:a="http://schemas.openxmlformats.org/drawingml/2006/main">
              <a:srgbClr val="D96B2B"/>
            </a:solidFill>
          </c:spPr>
          <c:cat>
            <c:strRef>
              <c:f>'Chart Data'!$C$2:$C$3</c:f>
              <c:strCache>
                <c:ptCount val="2"/>
                <c:pt idx="0">
                  <c:v>English</c:v>
                </c:pt>
                <c:pt idx="1">
                  <c:v>Polish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18.39</c:v>
                </c:pt>
                <c:pt idx="1">
                  <c:v>27.27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5809E-3542-4EE2-9260-43DE1CCE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Sprint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8DE71-DDBE-449C-88C1-8C663A37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75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Meeting prototype and technical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A3805-C890-4825-840F-EDEA304B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Product Owner presentation set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54F07-1420-4375-9231-A8C1218F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483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rPr>
              <a:t>4 October 2026</a:t>
            </a:r>
          </a:p>
        </p:txBody>
      </p:sp>
    </p:spTree>
    <p:extLst>
      <p:ext uri="{BB962C8B-B14F-4D97-AF65-F5344CB8AC3E}">
        <p14:creationId xmlns:p14="http://schemas.microsoft.com/office/powerpoint/2010/main" val="19324660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D4089-2F7A-473F-8D99-1A3B4754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What Sprint 2 set out to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DA5265-24D7-470C-B117-CC0085E6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38275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Can a chair turn local meeting audio into a reviewable record?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EE6A5-49C4-40E2-BC1E-7E38BBFE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5146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PBI-011 built a runnable Swift prototype for transcription, speaker review, manual names, and draft minutes.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171FB0-62DE-4E18-AED8-B95BA930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2907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PBI-018 compared local model options on referenced data and recorded the failures that architecture work must address.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FB714C-4C24-488A-AC74-94B4B295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rPr>
              <a:t>The architecture and model interfaces come next, followed by the real-meeting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17411940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64ECF1-77B0-4356-945A-77DCA76F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Architecture: one local meeting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81938-9398-4D43-83D0-1BF24C6F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Swift coordinates three independent operations; the CLI and review player share MeetingCore.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59865-2F0F-4E57-96BB-D559E6BC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157162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CD384-7B44-42C9-BC6F-94890C96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Recording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8BC09-E63F-4F1C-9774-AE5C9205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1285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Local meeting audio</a:t>
            </a:r>
          </a:p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WAV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104D4-C5A4-482C-ADF8-0039EC34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3526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7256D-0C6C-4213-B024-6039F0F9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52625"/>
            <a:ext cx="2381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03FBF-F23B-4EC8-A4B4-3E7B0685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076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Transcribe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38CDA-1F3D-4497-98DB-FB7E2E16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428875"/>
            <a:ext cx="209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FluidAudio / Parakeet</a:t>
            </a:r>
          </a:p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or whisper.cpp / Whisper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7F2BA8-EA6D-460E-A5B1-1ECF4C28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526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41B88-5707-43FF-B931-1FFAA886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52625"/>
            <a:ext cx="233362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D5A400-5A34-4829-A138-D5BD0ACF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764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MeetingCore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393186-2640-4BFB-A678-A22BC018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28875"/>
            <a:ext cx="2047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Swift use cases, timing</a:t>
            </a:r>
          </a:p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and source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D99A05-E541-47D1-9CF5-F316CD15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526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C2A3DA-2153-4407-93AA-50AA2764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52625"/>
            <a:ext cx="28765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FF4D54-D655-4F99-BCA5-8B372990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0764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Meeting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B5C64E-65D9-4042-9141-C4FDFD24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28875"/>
            <a:ext cx="2590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Atomic local JSON: original</a:t>
            </a:r>
          </a:p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transcript + derived results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194306-2F6D-4258-98AE-6A9DAFB2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6712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Optional operations on that same record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112C26-3274-4B00-B940-9E111FBF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14800"/>
            <a:ext cx="32861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CAD1F0-40C5-438F-A67E-FAB6C849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Recognize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DF62D3-88A9-4BC2-AD8D-F74971AB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30003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FluidAudio diarizer: anonymous</a:t>
            </a:r>
          </a:p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speakers and weak-audio ranges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357528-FB9B-45FE-8900-43A85D6E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114800"/>
            <a:ext cx="32861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C7ED09-58D3-4D3F-B30A-ABFBA80E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38625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Operator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C13EAD-24B6-4342-AD9E-E923CA0C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91050"/>
            <a:ext cx="30003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SwiftUI + AVFoundation audio</a:t>
            </a:r>
          </a:p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CLI correction and names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3F38D0-29FC-4F04-B7D1-EAF30A92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114800"/>
            <a:ext cx="32861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7E7895-966B-4FE5-92FA-D112A557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38625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Summarize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7F38C2-705C-41EB-BDCC-0431892B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91050"/>
            <a:ext cx="30003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Qwen3 via MLX Swift / Metal</a:t>
            </a:r>
          </a:p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staged prompts and source gates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589E88-39F3-4796-88EB-B79BF77D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007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All inference stays on the Mac. The operator reviews uncertain audio and model claims.</a:t>
            </a:r>
          </a:p>
        </p:txBody>
      </p:sp>
    </p:spTree>
    <p:extLst>
      <p:ext uri="{BB962C8B-B14F-4D97-AF65-F5344CB8AC3E}">
        <p14:creationId xmlns:p14="http://schemas.microsoft.com/office/powerpoint/2010/main" val="24642379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E76B2-1D0E-4F23-86C6-0870D65C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What the models receive and return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566AB-86ED-4449-A539-9085D61E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rPr>
              <a:t>ASR and diarization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FE3B0-8957-4607-9B1D-0E02ED85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4762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Input: audio + language setting (en, pl, auto)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Parakeet or Whisper returns timed text.</a:t>
            </a:r>
          </a:p>
          <a:p xmlns:a="http://schemas.openxmlformats.org/drawingml/2006/main">
            <a:pPr>
              <a:buNone/>
              <a:defRPr sz="16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FluidAudio diarization returns anonymous turns.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Swift validates times and writes JSON.</a:t>
            </a:r>
          </a:p>
          <a:p xmlns:a="http://schemas.openxmlformats.org/drawingml/2006/main">
            <a:pPr>
              <a:buNone/>
              <a:defRPr sz="16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No free-text prompt is sent to ASR.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06CAD-F775-497F-8B53-785FE759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rPr>
              <a:t>Staged minutes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81ED9-94EE-4288-B13D-80AB5572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5143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Exact prompt openings: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“Identify distinct substantive meeting topics...”</a:t>
            </a:r>
          </a:p>
          <a:p xmlns:a="http://schemas.openxmlformats.org/drawingml/2006/main">
            <a:pPr>
              <a:buNone/>
              <a:def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“Assign EVERY utterance...”</a:t>
            </a:r>
          </a:p>
          <a:p xmlns:a="http://schemas.openxmlformats.org/drawingml/2006/main">
            <a:pPr>
              <a:buNone/>
              <a:def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“Summarize the topic...”</a:t>
            </a:r>
          </a:p>
          <a:p xmlns:a="http://schemas.openxmlformats.org/drawingml/2006/main">
            <a:pPr>
              <a:buNone/>
              <a:def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“Extract only explicit decisions...”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DCAE5-2BF3-45B0-B60A-DE396E2E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053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Model JSON → Swift checks schema, IDs and exact quotes → up to two repair prompts.</a:t>
            </a:r>
          </a:p>
          <a:p xmlns:a="http://schemas.openxmlformats.org/drawingml/2006/main">
            <a:pPr>
              <a:buNone/>
              <a:defRPr sz="165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A person still checks whether each claim follows from the recording.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3523A-2429-47C7-882D-F9B25973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341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Full prompt text and failure traces: Sprint 2 implementation record, “Model prompt ledger and response gate”.</a:t>
            </a:r>
          </a:p>
        </p:txBody>
      </p:sp>
    </p:spTree>
    <p:extLst>
      <p:ext uri="{BB962C8B-B14F-4D97-AF65-F5344CB8AC3E}">
        <p14:creationId xmlns:p14="http://schemas.microsoft.com/office/powerpoint/2010/main" val="9649195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496E3-1448-490F-8D0B-E8B0D3F5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The real meeting inputs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8B40A0-EA96-4C04-8F13-F1CC204B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525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English: AMI ES2002a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268F6-2725-4068-AD33-3BF33A89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14550"/>
            <a:ext cx="1038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A multi-person design meeting. One participant wore the headset poorly, giving us a real weak-audio case.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04901-F9B4-46EF-A601-76261155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5528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Polish: Sejm committee sitting 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EE64F-B78B-48E6-BEF9-7C5BA898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114800"/>
            <a:ext cx="10382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Ten minutes of a public budget discussion, with an official sitting PDF for checking the transcript and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45DF8-4759-4B80-B985-33A5A520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rPr>
              <a:t>The operator starts from a fresh local store. Full audio sources and hashes are in the fixture records.</a:t>
            </a:r>
          </a:p>
        </p:txBody>
      </p:sp>
    </p:spTree>
    <p:extLst>
      <p:ext uri="{BB962C8B-B14F-4D97-AF65-F5344CB8AC3E}">
        <p14:creationId xmlns:p14="http://schemas.microsoft.com/office/powerpoint/2010/main" val="924542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AA7B59-2306-4E35-BCC9-D291BCB6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Polish transcription: meeting content is visible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6FDC9-29AA-464E-B230-96B9C37B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763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Saved transcript around 181–220 seconds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8258D-171E-407E-82AC-A2B64E29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7645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“Otwieram posiedzenie Komisji Gospodarki Rozwoju, stwierdzam kworum.”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FF4F50-F160-4EC9-A74B-85C3B2DF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5277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The record then follows the 2025 budget agenda and invites Ignacy Niemczycki to present.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EDFE02-951A-4CDA-A2D2-50815A68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6722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369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36952"/>
                </a:solidFill>
                <a:latin typeface="Helvetica Neue"/>
                <a:ea typeface="Helvetica Neue"/>
                <a:cs typeface="Helvetica Neue"/>
              </a:rPr>
              <a:t>PDF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A5030F-C8C1-4D80-8D65-93E96E89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962525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The main turns and positive-opinion decision are recognizable. Names, acronyms and numerical units still need human correction.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E3481-E995-4B73-9A37-05F86861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rPr>
              <a:t>This is a usable review transcript, not an authoritative verbatim record.</a:t>
            </a:r>
          </a:p>
        </p:txBody>
      </p:sp>
    </p:spTree>
    <p:extLst>
      <p:ext uri="{BB962C8B-B14F-4D97-AF65-F5344CB8AC3E}">
        <p14:creationId xmlns:p14="http://schemas.microsoft.com/office/powerpoint/2010/main" val="3799452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63852-797E-4298-A870-4B5409C0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Weak audio leads to a specific source range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BB58D-8707-404B-B889-D951E1BE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6685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Saved warning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1D9FC-B933-440E-8A02-9765E16B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4787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Speaker cluster S3 · 19.32–20.36 seconds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D37B8E-6DF6-4BF6-8F8E-E2EC6CC6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52725"/>
            <a:ext cx="10382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“Low speech level relative to other detected speakers; review source audio”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80A3F-B00A-4B60-AA6B-76C22714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17195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Nearby saved transcript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237AB-1245-443A-B253-3E463535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95825"/>
            <a:ext cx="10382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“…how do you make this thing work? Maybe then… sorry.”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30374-1452-474E-832E-DEDCB672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Review the source audio at this range. S3 merges two reference people, so it cannot identify the affected person.</a:t>
            </a:r>
          </a:p>
        </p:txBody>
      </p:sp>
    </p:spTree>
    <p:extLst>
      <p:ext uri="{BB962C8B-B14F-4D97-AF65-F5344CB8AC3E}">
        <p14:creationId xmlns:p14="http://schemas.microsoft.com/office/powerpoint/2010/main" val="15645387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27CC40-EB9C-4733-96A8-D3DF5FDE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Operator review: a real Polish source range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0A51D-6FE3-423D-89BF-33FDDF44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9062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Sejm record • 565.36–569.04 seconds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F0985-9671-4396-98F7-9AE69FD9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49530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BE233-8C19-4A23-9B21-3F5B312A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219325"/>
            <a:ext cx="4610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Original saved ASR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27265A-08E8-4705-9E7D-B6D7838B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790825"/>
            <a:ext cx="46101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segment_758–761 · Unassigned</a:t>
            </a:r>
          </a:p>
          <a:p xmlns:a="http://schemas.openxmlformats.org/drawingml/2006/main">
            <a:pPr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“przedstawienie tej tego budżetu”</a:t>
            </a:r>
          </a:p>
          <a:p xmlns:a="http://schemas.openxmlformats.org/drawingml/2006/main">
            <a:pPr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Original IDs, times and labels remain saved.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F9522-2AC7-4A3A-9F57-B102D68B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62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6DD64D-3AED-4F11-B653-223BEB4A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47875"/>
            <a:ext cx="49530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6D219-848C-4257-BC8D-23094AE5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219325"/>
            <a:ext cx="4610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Reading-view proposal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FFFB4-7980-407A-91A3-34592739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790825"/>
            <a:ext cx="46101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utt_30 · proposed S1 continuation</a:t>
            </a:r>
          </a:p>
          <a:p xmlns:a="http://schemas.openxmlformats.org/drawingml/2006/main">
            <a:pPr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Joined to the preceding chair turn</a:t>
            </a:r>
          </a:p>
          <a:p xmlns:a="http://schemas.openxmlformats.org/drawingml/2006/main">
            <a:pPr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16 joins proposed; 32 utterances formed.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911C0D-7770-42AC-AE3F-E4589F0A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The join is based on timing and neighboring labels. Listen to both turns before accepting speaker continuity.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0CA640-A6C5-4841-94C7-55EC892D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388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Actual CLI output: tests/operator_cleanup_rehearsal_20261004.json. No audio-confirmed edit was saved.</a:t>
            </a:r>
          </a:p>
        </p:txBody>
      </p:sp>
    </p:spTree>
    <p:extLst>
      <p:ext uri="{BB962C8B-B14F-4D97-AF65-F5344CB8AC3E}">
        <p14:creationId xmlns:p14="http://schemas.microsoft.com/office/powerpoint/2010/main" val="63745203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2D9ADC-4857-4C62-9B3F-4552FB8B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Correction contract and live-review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A90F0-40A8-46B1-95C8-CC6A9811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3286125" cy="2809875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373779-75B6-478A-AE79-19346E1D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790700"/>
            <a:ext cx="2943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Real Sejm CLI guard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19ED1-209D-450D-A2C5-31658B68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362200"/>
            <a:ext cx="29432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Without --audio-reviewed yes:</a:t>
            </a:r>
          </a:p>
          <a:p xmlns:a="http://schemas.openxmlformats.org/drawingml/2006/main">
            <a:pPr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exit 2.</a:t>
            </a:r>
          </a:p>
          <a:p xmlns:a="http://schemas.openxmlformats.org/drawingml/2006/main">
            <a:pPr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Record SHA-256 unchanged.</a:t>
            </a:r>
          </a:p>
          <a:p xmlns:a="http://schemas.openxmlformats.org/drawingml/2006/main">
            <a:pPr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No correction saved.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C24E5-3B52-4C63-9962-5ED605FA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619250"/>
            <a:ext cx="3286125" cy="2809875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B9CE8-7E6E-42DE-ACF8-7EE6C898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90700"/>
            <a:ext cx="2943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Controlled test 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F2E3F-9AE9-4B28-B6AF-C6A1137C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62200"/>
            <a:ext cx="29432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Raw: “thirty five million”</a:t>
            </a:r>
          </a:p>
          <a:p xmlns:a="http://schemas.openxmlformats.org/drawingml/2006/main">
            <a:pPr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Reading: “thirty five billion”</a:t>
            </a:r>
          </a:p>
          <a:p xmlns:a="http://schemas.openxmlformats.org/drawingml/2006/main">
            <a:pPr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Restore: original words</a:t>
            </a:r>
          </a:p>
          <a:p xmlns:a="http://schemas.openxmlformats.org/drawingml/2006/main">
            <a:pPr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Two audit entries; raw retained.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32E1E-F549-4971-B0CB-BF7AF06A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619250"/>
            <a:ext cx="3286125" cy="2809875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6BD40-ABEC-40BA-8AA9-609D8F65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790700"/>
            <a:ext cx="2943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Pending with operator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E92EAF-0BE8-4CB4-895C-EE34ADF5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362200"/>
            <a:ext cx="29432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Play source range and listen.</a:t>
            </a:r>
          </a:p>
          <a:p xmlns:a="http://schemas.openxmlformats.org/drawingml/2006/main">
            <a:pPr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Correct an actual word.</a:t>
            </a:r>
          </a:p>
          <a:p xmlns:a="http://schemas.openxmlformats.org/drawingml/2006/main">
            <a:pPr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Replay, restore if needed.</a:t>
            </a:r>
          </a:p>
          <a:p xmlns:a="http://schemas.openxmlformats.org/drawingml/2006/main">
            <a:pPr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Verify a speaker before naming.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8BBC04-3FC1-4A47-9472-D32B5E14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Unit, CLI/store and speaker-edit tests pass. The player launched, but seek and bounded playback could not be observed in this rehearsal.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4D9990-0E7D-4D7C-B320-A8769939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24575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Evidence: tests/operator_review_rehearsal_20261004.md. A simulated test flag is not human audio confirmation.</a:t>
            </a:r>
          </a:p>
        </p:txBody>
      </p:sp>
    </p:spTree>
    <p:extLst>
      <p:ext uri="{BB962C8B-B14F-4D97-AF65-F5344CB8AC3E}">
        <p14:creationId xmlns:p14="http://schemas.microsoft.com/office/powerpoint/2010/main" val="10651186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18854-2736-468E-AB06-864BDD51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Speaker identity still needs audio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B129B-4B44-4389-9E87-73510124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43050"/>
            <a:ext cx="10382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AMI and Sejm have anonymous S1, S2 and S3 clusters.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8AD4B-BAD5-4A61-98D9-42E9F15C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90825"/>
            <a:ext cx="103822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AMI has four reference people but only three detected clusters.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564AB-4FFB-4BF7-A8D8-7C5EEA12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143375"/>
            <a:ext cx="1038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The CLI can save a name or move a segment to an existing ID after the operator verifies the audio. It cannot create the missing fourth AMI cluster.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97C80-2EAC-4480-AEA6-41907F57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rPr>
              <a:t>No real participant name is assigned in this handover. The historical Ada alias was test-only.</a:t>
            </a:r>
          </a:p>
        </p:txBody>
      </p:sp>
    </p:spTree>
    <p:extLst>
      <p:ext uri="{BB962C8B-B14F-4D97-AF65-F5344CB8AC3E}">
        <p14:creationId xmlns:p14="http://schemas.microsoft.com/office/powerpoint/2010/main" val="11521908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7C9914-5343-4A6B-A458-5C0D446E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Why the first draft failed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711FDF-DFDA-4B93-8E16-11E39D7A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811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369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36952"/>
                </a:solidFill>
                <a:latin typeface="Helvetica Neue"/>
                <a:ea typeface="Helvetica Neue"/>
                <a:cs typeface="Helvetica Neue"/>
              </a:rPr>
              <a:t>SUPPORTED DECISION · around 540 seconds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774217-5A41-4848-9E00-2E1DA388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8117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Source: “komisja pozytywnie opiniuje projekt ustawy budżetowej...”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77C5A-D58D-4A56-B634-D5E968D9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3837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Draft: “Komisja ... pozytywnie opiniuje projekt ustawy budżetowej...”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B4F53-1EFB-4EBC-93D9-D2D6CE8B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908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REJECTED ACTION · around 560 seconds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106D6E-2689-41E6-9F72-4F51AC22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909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Source: “Panią Prezes ... poproszę o przedstawienie ... budżetu.”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0016E-DBFE-441C-A1D1-FB804321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481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Draft: “Pani Ewa Zielińska ... zostaje poproszona o przedstawienie budżetu...”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E6B68-F5DE-46C1-B9D1-A78C2F06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196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REJECTED QUESTION · around 380 seconds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EDE692-9BBA-45C2-BDC5-4D538252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196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Source lists reserved funds; the draft asks whether they were reserved.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A613CB-1030-480A-B09F-50021EB5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This is pre-gate evidence. The last two items are unsupported; the summary has no citation.</a:t>
            </a:r>
          </a:p>
        </p:txBody>
      </p:sp>
    </p:spTree>
    <p:extLst>
      <p:ext uri="{BB962C8B-B14F-4D97-AF65-F5344CB8AC3E}">
        <p14:creationId xmlns:p14="http://schemas.microsoft.com/office/powerpoint/2010/main" val="8841679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D7B0B2-0ED3-48AE-A626-C32C9BA8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Model output must pass a quality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8F8FB-4A62-4C98-963A-BC1C82F7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28750"/>
            <a:ext cx="1038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1. Check JSON shape, source IDs, quote and output size.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13F2B2-906A-40B7-8277-E7935A13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47925"/>
            <a:ext cx="10382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2. Return a specific repair request to the model, at most twice.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718EF-F494-462E-A8CE-F630C734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514725"/>
            <a:ext cx="10382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3. Withhold unsupported decisions, actions and questions before saving.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38EC1-29C6-4B32-BEE5-23D2E710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886325"/>
            <a:ext cx="10382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Technical gates pass in the staged trial; source review still finds unsupported claims. The raw transcript remains intact.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C186B-9050-47D0-9D00-2C265007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In the live demo, inspect the cited words and a failed response. A valid JSON shape does not prove factual accuracy.</a:t>
            </a:r>
          </a:p>
        </p:txBody>
      </p:sp>
    </p:spTree>
    <p:extLst>
      <p:ext uri="{BB962C8B-B14F-4D97-AF65-F5344CB8AC3E}">
        <p14:creationId xmlns:p14="http://schemas.microsoft.com/office/powerpoint/2010/main" val="7571582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F5E37-2D13-4531-AFE0-3ADD923B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A longer English meeting exposes another failure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624BB-CEB1-429A-8E2E-FB2A6A86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049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DOE advisory committee, first 30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80FBE-2D8D-48BF-B268-A41FFF69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38375"/>
            <a:ext cx="1038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Transcription saved 4,216 timed segments. Speaker recognition assigned eight anonymous IDs.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173560-341D-4EB0-9453-D325AF5D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861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Minutes model A: zero items saved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55A88D-C1EF-4EEE-B7B4-B2483496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7672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Minutes model B: zero items saved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DAB6CC-8044-4D72-8167-35592ED5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76825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Both runs failed while reading structured model output. This transcript has no validated long-meeting minutes.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E51BAF-00FC-485A-AD9B-3D5671FE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rPr>
              <a:t>This is a real meeting failure. The official transcript is not time aligned, so no DOE whole-excerpt WER is claimed.</a:t>
            </a:r>
          </a:p>
        </p:txBody>
      </p:sp>
    </p:spTree>
    <p:extLst>
      <p:ext uri="{BB962C8B-B14F-4D97-AF65-F5344CB8AC3E}">
        <p14:creationId xmlns:p14="http://schemas.microsoft.com/office/powerpoint/2010/main" val="16057733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54B1F-DC5A-409B-8179-A0CA484A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What a chair can accomplish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B1CA6D-FD65-4FC8-991E-EA81B9EB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19250"/>
            <a:ext cx="10382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Create and inspect a timed local transcript in English or Polish.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B1A72-09B3-4D98-BD5D-C5663C56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95600"/>
            <a:ext cx="10382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Locate a weak-audio range and inspect anonymous speaker labels.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8C230-9AF9-4F6C-8154-9FC355B9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181475"/>
            <a:ext cx="10382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Manually correct a label or assign a name after verifying the voice.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B0993-6FBF-4FA4-87A9-A5A177B2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The minutes output must be checked against source audio and cannot be published from this prototype.</a:t>
            </a:r>
          </a:p>
        </p:txBody>
      </p:sp>
    </p:spTree>
    <p:extLst>
      <p:ext uri="{BB962C8B-B14F-4D97-AF65-F5344CB8AC3E}">
        <p14:creationId xmlns:p14="http://schemas.microsoft.com/office/powerpoint/2010/main" val="16729938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2480B-5933-4BE3-AD68-AE1DE8F1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English AMI transcription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AE4FD5-9B48-480D-9926-3FA85A0E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3350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Whole-meeting word error rate, same headset audio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FBB5B9-AA6D-40CA-B76D-F1020CD6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85950"/>
            <a:ext cx="4524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FluidAudio 19.48%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D2D9A-7C3E-4E20-87F6-59632AF0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85950"/>
            <a:ext cx="4524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D368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D36832"/>
                </a:solidFill>
                <a:latin typeface="Helvetica Neue"/>
                <a:ea typeface="Helvetica Neue"/>
                <a:cs typeface="Helvetica Neue"/>
              </a:rPr>
              <a:t>Whisper 28.79%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E78C4-B7B7-4D6B-84DC-693E2140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rPr>
              <a:t>Lower is better. Affected-speaker reference-linked errors: 27.78% versus 58.55%.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1476375" y="2505075"/>
          <a:ext xmlns:a="http://schemas.openxmlformats.org/drawingml/2006/main" cx="9144000" cy="2686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6fb14eed07464c"/>
          </a:graphicData>
        </a:graphic>
      </p:graphicFrame>
    </p:spTree>
    <p:extLst>
      <p:ext uri="{BB962C8B-B14F-4D97-AF65-F5344CB8AC3E}">
        <p14:creationId xmlns:p14="http://schemas.microsoft.com/office/powerpoint/2010/main" val="18709433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D906D5-4D3C-4724-9C4D-4F915F72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English and Polish language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EE7F8-B5EE-42AE-BB18-173FB4B2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3350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Word error rate on five read-speech clips per language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B95B7-B807-41DB-AC44-53F4C12F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85950"/>
            <a:ext cx="4524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662A5"/>
                </a:solidFill>
                <a:latin typeface="Helvetica Neue"/>
                <a:ea typeface="Helvetica Neue"/>
                <a:cs typeface="Helvetica Neue"/>
              </a:rPr>
              <a:t>Parakeet v3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2A8E6-E3E9-40AB-8B5E-5BA939F8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85950"/>
            <a:ext cx="4524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D368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D36832"/>
                </a:solidFill>
                <a:latin typeface="Helvetica Neue"/>
                <a:ea typeface="Helvetica Neue"/>
                <a:cs typeface="Helvetica Neue"/>
              </a:rPr>
              <a:t>Whisper base, CPU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8D8513-3FE8-4016-AFF8-B560B3AA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96071"/>
                </a:solidFill>
                <a:latin typeface="Helvetica Neue"/>
                <a:ea typeface="Helvetica Neue"/>
                <a:cs typeface="Helvetica Neue"/>
              </a:rPr>
              <a:t>Read speech tests language feasibility. The Sejm PDF provides a separate qualitative meeting check.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1476375" y="2438400"/>
          <a:ext xmlns:a="http://schemas.openxmlformats.org/drawingml/2006/main" cx="9144000" cy="27717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91e696cfd34a59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55EEDF-54A9-46B6-92BF-96423654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EFECE-923D-4C42-BC4E-A5B8A3E0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English and Polish language check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44E2EE-123C-4E25-B378-E07677F7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668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Word error rate on five read-speech clips per language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D84F04-E40F-4B94-AC53-E9082DAB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769AA"/>
                </a:solidFill>
                <a:latin typeface="Helvetica Neue"/>
                <a:ea typeface="Helvetica Neue"/>
                <a:cs typeface="Helvetica Neue"/>
              </a:rPr>
              <a:t>Parakeet v3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BC35CC-F9F6-4978-BECD-F36B1668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621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96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96B2B"/>
                </a:solidFill>
                <a:latin typeface="Helvetica Neue"/>
                <a:ea typeface="Helvetica Neue"/>
                <a:cs typeface="Helvetica Neue"/>
              </a:rPr>
              <a:t>Whisper base, CPU</a:t>
            </a:r>
          </a:p>
        </p:txBody>
      </p:sp>
    </p:spTree>
    <p:extLst>
      <p:ext uri="{BB962C8B-B14F-4D97-AF65-F5344CB8AC3E}">
        <p14:creationId xmlns:p14="http://schemas.microsoft.com/office/powerpoint/2010/main" val="15516601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65FEA-E7ED-412F-AEA9-0527C886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What the evidence leaves unresolved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86D76-505F-4904-A177-C3F1438A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1447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Speaker attribution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0EB5EC-2EFF-4867-A806-463CB5CE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71675"/>
            <a:ext cx="10382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AMI yielded three clusters for four people; the weak participant was merged with another.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003C1-80C4-40B2-BA90-E33EE742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718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Minutes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B6FA7-190E-4A1C-BA5E-D5A2C367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29025"/>
            <a:ext cx="10382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Short natural meetings produced unsupported items; the 30-minute DOE input produced none.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45359-6B2B-4B8A-B790-9B34D301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90537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Language handling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14D66-9BEC-433F-96C0-16B89E3D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721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Both models lost the English half of an exploratory in-recording language switch.</a:t>
            </a:r>
          </a:p>
        </p:txBody>
      </p:sp>
    </p:spTree>
    <p:extLst>
      <p:ext uri="{BB962C8B-B14F-4D97-AF65-F5344CB8AC3E}">
        <p14:creationId xmlns:p14="http://schemas.microsoft.com/office/powerpoint/2010/main" val="9359197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C790E-1FB6-45DB-8403-56BA0B35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Product Owner handover 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64018-4E59-42A2-A528-E6B95B95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811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PBI-011: runnable local prototype and saved meeting records.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9676C-C727-4990-8C59-AFA03F50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505075"/>
            <a:ext cx="10382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PBI-018: model comparisons, reference checks, and recorded failures.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D3743-26C1-46A5-986D-B379D1C2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00475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536"/>
                </a:solidFill>
                <a:latin typeface="Helvetica Neue"/>
                <a:ea typeface="Helvetica Neue"/>
                <a:cs typeface="Helvetica Neue"/>
              </a:rPr>
              <a:t>Sprint 3 analyzes the technical choices after this evidence is reviewed.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17FB46-A6CF-45DA-9F14-95BABD24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219700"/>
            <a:ext cx="10382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73535"/>
                </a:solidFill>
                <a:latin typeface="Helvetica Neue"/>
                <a:ea typeface="Helvetica Neue"/>
                <a:cs typeface="Helvetica Neue"/>
              </a:rPr>
              <a:t>Minutes are prototype findings, not accepted output. Audio playback, correction and verified names await the live operator review.</a:t>
            </a:r>
          </a:p>
        </p:txBody>
      </p:sp>
    </p:spTree>
    <p:extLst>
      <p:ext uri="{BB962C8B-B14F-4D97-AF65-F5344CB8AC3E}">
        <p14:creationId xmlns:p14="http://schemas.microsoft.com/office/powerpoint/2010/main" val="11794817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2026-10-04T11:45:54.6720000Z</dcterms:created>
  <dcterms:modified xsi:type="dcterms:W3CDTF">2026-10-04T11:45:54.6720000Z</dcterms:modified>
</coreProperties>
</file>