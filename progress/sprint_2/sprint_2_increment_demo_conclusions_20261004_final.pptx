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6210b538445a7" /><Relationship Type="http://schemas.openxmlformats.org/officeDocument/2006/relationships/extended-properties" Target="/docProps/app.xml" Id="Rcdcb55c8f24d45c6" /><Relationship Type="http://schemas.openxmlformats.org/officeDocument/2006/relationships/officeDocument" Target="/ppt/presentation.xml" Id="R4afd4f59b71547b3" /></Relationships>
</file>

<file path=ppt/presentation.xml><?xml version="1.0" encoding="utf-8"?>
<ns0:presentation xmlns:ns0="http://schemas.openxmlformats.org/presentationml/2006/main" xmlns:ns1="http://schemas.openxmlformats.org/officeDocument/2006/relationships">
  <ns0:sldMasterIdLst>
    <ns0:sldMasterId id="2147483648" ns1:id="R0b334a00e329463b"/>
  </ns0:sldMasterIdLst>
  <ns0:notesMasterIdLst>
    <ns0:notesMasterId ns1:id="R06237dbc4fd342e5"/>
  </ns0:notesMasterIdLst>
  <ns0:sldIdLst>
    <ns0:sldId id="256" ns1:id="Rbb9a3b6ff3e1410b"/>
    <ns0:sldId id="257" ns1:id="Rd4ba4b20ff924705"/>
    <ns0:sldId id="258" ns1:id="Rdf4f3d4b8e1648d0"/>
    <ns0:sldId id="259" ns1:id="Raa23c7ea66f443de"/>
    <ns0:sldId id="260" ns1:id="R90b1cc4414754b6d"/>
    <ns0:sldId id="261" ns1:id="Rede91a3324624746"/>
    <ns0:sldId id="262" ns1:id="Rfe7df4f436c545d8"/>
    <ns0:sldId id="263" ns1:id="R949b856af20a4582"/>
    <ns0:sldId id="264" ns1:id="Ree932ba58de1409f"/>
    <ns0:sldId id="265" ns1:id="Rc216fccc644b4227"/>
    <ns0:sldId id="266" ns1:id="R6461605dd0ee4c5a"/>
    <ns0:sldId id="267" ns1:id="R3ce0505a4b38430f"/>
    <ns0:sldId id="268" ns1:id="R9eaab1e7dba54a14"/>
    <ns0:sldId id="269" ns1:id="R3f600e06c1544541"/>
    <ns0:sldId id="270" ns1:id="Re5dac0432be44932"/>
    <ns0:sldId id="271" ns1:id="R55e3604d054e4bb4"/>
    <ns0:sldId id="272" ns1:id="R2ecf56c599504e04"/>
    <ns0:sldId id="273" ns1:id="R4f31a1aaa1bf4c5b"/>
    <ns0:sldId id="274" ns1:id="rIdCleanup19"/>
    <ns0:sldId id="275" ns1:id="rIdCleanup20"/>
    <ns0:sldId id="276" ns1:id="rIdConclusions21"/>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e2bb294ab5a6472d" /><ns0:Relationship Type="http://schemas.openxmlformats.org/officeDocument/2006/relationships/slideMaster" Target="/ppt/slideMasters/slideMaster1.xml" Id="R0b334a00e329463b" /><ns0:Relationship Type="http://schemas.openxmlformats.org/officeDocument/2006/relationships/notesMaster" Target="/ppt/notesMasters/notesMaster1.xml" Id="R06237dbc4fd342e5" /><ns0:Relationship Type="http://schemas.openxmlformats.org/officeDocument/2006/relationships/presProps" Target="/ppt/presProps.xml" Id="R294d8306d65e4ed0" /><ns0:Relationship Type="http://schemas.openxmlformats.org/officeDocument/2006/relationships/tableStyles" Target="/ppt/tableStyles.xml" Id="Rd179c6906cc449a8" /><ns0:Relationship Type="http://schemas.openxmlformats.org/officeDocument/2006/relationships/slide" Target="/ppt/slides/slide1.xml" Id="Rbb9a3b6ff3e1410b" /><ns0:Relationship Type="http://schemas.openxmlformats.org/officeDocument/2006/relationships/slide" Target="/ppt/slides/slide2.xml" Id="Rd4ba4b20ff924705" /><ns0:Relationship Type="http://schemas.openxmlformats.org/officeDocument/2006/relationships/slide" Target="/ppt/slides/slide3.xml" Id="Rdf4f3d4b8e1648d0" /><ns0:Relationship Type="http://schemas.openxmlformats.org/officeDocument/2006/relationships/slide" Target="/ppt/slides/slide4.xml" Id="Raa23c7ea66f443de" /><ns0:Relationship Type="http://schemas.openxmlformats.org/officeDocument/2006/relationships/slide" Target="/ppt/slides/slide5.xml" Id="R90b1cc4414754b6d" /><ns0:Relationship Type="http://schemas.openxmlformats.org/officeDocument/2006/relationships/slide" Target="/ppt/slides/slide6.xml" Id="Rede91a3324624746" /><ns0:Relationship Type="http://schemas.openxmlformats.org/officeDocument/2006/relationships/slide" Target="/ppt/slides/slide7.xml" Id="Rfe7df4f436c545d8" /><ns0:Relationship Type="http://schemas.openxmlformats.org/officeDocument/2006/relationships/slide" Target="/ppt/slides/slide8.xml" Id="R949b856af20a4582" /><ns0:Relationship Type="http://schemas.openxmlformats.org/officeDocument/2006/relationships/slide" Target="/ppt/slides/slide9.xml" Id="Ree932ba58de1409f" /><ns0:Relationship Type="http://schemas.openxmlformats.org/officeDocument/2006/relationships/slide" Target="/ppt/slides/slide10.xml" Id="Rc216fccc644b4227" /><ns0:Relationship Type="http://schemas.openxmlformats.org/officeDocument/2006/relationships/slide" Target="/ppt/slides/slide11.xml" Id="R6461605dd0ee4c5a" /><ns0:Relationship Type="http://schemas.openxmlformats.org/officeDocument/2006/relationships/slide" Target="/ppt/slides/slide12.xml" Id="R3ce0505a4b38430f" /><ns0:Relationship Type="http://schemas.openxmlformats.org/officeDocument/2006/relationships/slide" Target="/ppt/slides/slide13.xml" Id="R9eaab1e7dba54a14" /><ns0:Relationship Type="http://schemas.openxmlformats.org/officeDocument/2006/relationships/slide" Target="/ppt/slides/slide14.xml" Id="R3f600e06c1544541" /><ns0:Relationship Type="http://schemas.openxmlformats.org/officeDocument/2006/relationships/slide" Target="/ppt/slides/slide15.xml" Id="Re5dac0432be44932" /><ns0:Relationship Type="http://schemas.openxmlformats.org/officeDocument/2006/relationships/slide" Target="/ppt/slides/slide16.xml" Id="R55e3604d054e4bb4" /><ns0:Relationship Type="http://schemas.openxmlformats.org/officeDocument/2006/relationships/slide" Target="/ppt/slides/slide17.xml" Id="R2ecf56c599504e04" /><ns0:Relationship Type="http://schemas.openxmlformats.org/officeDocument/2006/relationships/slide" Target="/ppt/slides/slide18.xml" Id="R4f31a1aaa1bf4c5b" /><ns0:Relationship Id="rIdCleanup19" Type="http://schemas.openxmlformats.org/officeDocument/2006/relationships/slide" Target="slides/slide19.xml" /><ns0:Relationship Id="rIdCleanup20" Type="http://schemas.openxmlformats.org/officeDocument/2006/relationships/slide" Target="slides/slide20.xml" /><ns0:Relationship Id="rIdConclusions21" Type="http://schemas.openxmlformats.org/officeDocument/2006/relationships/slide" Target="slides/slide2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527bb68b4c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0751f4c4a4a43" /><Relationship Type="http://schemas.openxmlformats.org/officeDocument/2006/relationships/notesMaster" Target="/ppt/notesMasters/notesMaster1.xml" Id="Rd4853b737ad5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f4da23a804c76" /><Relationship Type="http://schemas.openxmlformats.org/officeDocument/2006/relationships/notesMaster" Target="/ppt/notesMasters/notesMaster1.xml" Id="R1cdb5c3dd0a54b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00fa1d6ee746ee" /><Relationship Type="http://schemas.openxmlformats.org/officeDocument/2006/relationships/notesMaster" Target="/ppt/notesMasters/notesMaster1.xml" Id="Ra835011f373242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299155f1a44eb6" /><Relationship Type="http://schemas.openxmlformats.org/officeDocument/2006/relationships/notesMaster" Target="/ppt/notesMasters/notesMaster1.xml" Id="R2dfd254c2588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271b5f1254c49" /><Relationship Type="http://schemas.openxmlformats.org/officeDocument/2006/relationships/notesMaster" Target="/ppt/notesMasters/notesMaster1.xml" Id="Rc22f5744cab8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9bd2ec39842bf" /><Relationship Type="http://schemas.openxmlformats.org/officeDocument/2006/relationships/notesMaster" Target="/ppt/notesMasters/notesMaster1.xml" Id="Rb5b37957ccc4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6dea53502c4b56" /><Relationship Type="http://schemas.openxmlformats.org/officeDocument/2006/relationships/notesMaster" Target="/ppt/notesMasters/notesMaster1.xml" Id="R3a1523652f134b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54ff8850b1437f" /><Relationship Type="http://schemas.openxmlformats.org/officeDocument/2006/relationships/notesMaster" Target="/ppt/notesMasters/notesMaster1.xml" Id="Ra2c2cef47dfa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7e6d968dd04553" /><Relationship Type="http://schemas.openxmlformats.org/officeDocument/2006/relationships/notesMaster" Target="/ppt/notesMasters/notesMaster1.xml" Id="R340834f50851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1b57b639a4aa7" /><Relationship Type="http://schemas.openxmlformats.org/officeDocument/2006/relationships/notesMaster" Target="/ppt/notesMasters/notesMaster1.xml" Id="R105ee6ecce1340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64bf4f9f3d4147" /><Relationship Type="http://schemas.openxmlformats.org/officeDocument/2006/relationships/notesMaster" Target="/ppt/notesMasters/notesMaster1.xml" Id="Rc0c754e2686f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4ea0580e7491f" /><Relationship Type="http://schemas.openxmlformats.org/officeDocument/2006/relationships/notesMaster" Target="/ppt/notesMasters/notesMaster1.xml" Id="R8e1871651c08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4f47987b7249f2" /><Relationship Type="http://schemas.openxmlformats.org/officeDocument/2006/relationships/notesMaster" Target="/ppt/notesMasters/notesMaster1.xml" Id="Ra7687a471a544d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ef04ff219a470e" /><Relationship Type="http://schemas.openxmlformats.org/officeDocument/2006/relationships/notesMaster" Target="/ppt/notesMasters/notesMaster1.xml" Id="R64c38338607a4a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9e3871a636440f" /><Relationship Type="http://schemas.openxmlformats.org/officeDocument/2006/relationships/notesMaster" Target="/ppt/notesMasters/notesMaster1.xml" Id="Rbdf1615b8428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c4aced7882499a" /><Relationship Type="http://schemas.openxmlformats.org/officeDocument/2006/relationships/notesMaster" Target="/ppt/notesMasters/notesMaster1.xml" Id="Rf0ebbade1bfb4cde" /></Relationships>
</file>

<file path=ppt/notesSlides/_rels/notesSlide17.xml.rels><?xml version='1.0' encoding='utf-8'?>
<ns0:Relationships xmlns:ns0="http://schemas.openxmlformats.org/package/2006/relationships"><ns0:Relationship Type="http://schemas.openxmlformats.org/officeDocument/2006/relationships/slide" Target="../slides/slide17.xml" Id="R1500fa1d6ee746ee" /><ns0:Relationship Type="http://schemas.openxmlformats.org/officeDocument/2006/relationships/notesMaster" Target="/ppt/notesMasters/notesMaster1.xml" Id="Ra835011f3732425f" /></ns0:Relationships>
</file>

<file path=ppt/notesSlides/_rels/notesSlide18.xml.rels><?xml version='1.0' encoding='utf-8'?>
<ns0:Relationships xmlns:ns0="http://schemas.openxmlformats.org/package/2006/relationships"><ns0:Relationship Type="http://schemas.openxmlformats.org/officeDocument/2006/relationships/slide" Target="../slides/slide18.xml" Id="R1500fa1d6ee746ee" /><ns0:Relationship Type="http://schemas.openxmlformats.org/officeDocument/2006/relationships/notesMaster" Target="/ppt/notesMasters/notesMaster1.xml" Id="Ra835011f3732425f" /></ns0:Relationships>
</file>

<file path=ppt/notesSlides/_rels/notesSlide19.xml.rels><?xml version='1.0' encoding='utf-8'?>
<ns0:Relationships xmlns:ns0="http://schemas.openxmlformats.org/package/2006/relationships"><ns0:Relationship Type="http://schemas.openxmlformats.org/officeDocument/2006/relationships/slide" Target="../slides/slide19.xml" Id="R1500fa1d6ee746ee" /><ns0:Relationship Type="http://schemas.openxmlformats.org/officeDocument/2006/relationships/notesMaster" Target="/ppt/notesMasters/notesMaster1.xml" Id="Ra835011f3732425f" /></ns0:Relationships>
</file>

<file path=ppt/notesSlides/_rels/notesSlide20.xml.rels><?xml version='1.0' encoding='utf-8'?>
<ns0:Relationships xmlns:ns0="http://schemas.openxmlformats.org/package/2006/relationships"><ns0:Relationship Type="http://schemas.openxmlformats.org/officeDocument/2006/relationships/slide" Target="../slides/slide20.xml" Id="R1500fa1d6ee746ee" /><ns0:Relationship Type="http://schemas.openxmlformats.org/officeDocument/2006/relationships/notesMaster" Target="/ppt/notesMasters/notesMaster1.xml" Id="Ra835011f3732425f" /></ns0:Relationships>
</file>

<file path=ppt/notesSlides/_rels/notesSlide21.xml.rels><?xml version='1.0' encoding='utf-8'?>
<ns0:Relationships xmlns:ns0="http://schemas.openxmlformats.org/package/2006/relationships"><ns0:Relationship Type="http://schemas.openxmlformats.org/officeDocument/2006/relationships/slide" Target="../slides/slide21.xml" Id="R1500fa1d6ee746ee" /><ns0:Relationship Type="http://schemas.openxmlformats.org/officeDocument/2006/relationships/notesMaster" Target="/ppt/notesMasters/notesMaster1.xml" Id="Ra835011f3732425f"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and BACKLOG.md PBI-011/PBI-018. This is an architectural prototype and evidence handover, with open minutes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progress/sprint_2/sprint_2_design.md; progress/sprint_2/sprint_2_product_owner_presentation.md.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evidence: Sources/MeetingCore/Import.swift, Recognition.swift, TranscriptCleanup.swift, MultiStageMinutes.swift; experiments/FluidAdapter/Sources/MeetingFluidASR/main.swift. Recognize reads source audio, aligns each ASR part to the diarization turn with greatest positive time overlap and saves labels. Recognition is optional. Without it the reading layer retains unassigned labels. Operator review is available before minutes and can be repeated later. Text correction or cleanup profile change invalidates derived minutes. Reading joins use Swift, not the LLM. All source parts and source times remain traceable. Neighbor joins are proposals, not independently verified acoustic or semantic conclusions. See transcript_segmentation.md and sprint_2_implementation.md.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FluidAudio exposes ASR and diarization as separate APIs. The prototype explicitly calls OfflineDiarizerManager for diarization, using local segmentation and speaker-embedding models; it does not prompt Qwen or Parakeet to detect speakers. The ASR adapter creates timed words/fragments. Swift writes storage JSON. Qwen receives the prepared text, runs staged prompts and returns structured claims. Full prompts: sprint_2_implementation.md; captured interactions: tests/multistage_20261004/. Current speaker clusters can merge people incorrectly. No semantic boundary validation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progress/sprint_2/ami_es2002a_fixture.md; polish_sejm_meeting_fixture.md; doe_itiac_day2_fixture.md. Files and models were staged on the Sprint 2 Mac outside Git. Exact preflight and commands: progress/sprint_2/user_manual.md.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record 5DC83D71-D1B0-4568-A66D-70F3B9A71D46 in /private/tmp/meeting-sprint2-po-rehearsal.wFIPLx, 801 timed segments with Parakeet v3. Official comparison: progress/sprint_2/tests/polish_sejm_pdf_transcription_review_20261002.md. The ASR wording varies between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AMI record 43CE873A-603C-473F-9B23-A785A0689456, /private/tmp/meeting-sprint2-po-rehearsal.wFIPLx. Fluid saved 16 warnings. The app has an earlier manual seek check; bounded replay after a later change still needs manual verification. Benchmark: progress/sprint_2/ami_asr_benchmark.md.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progress/sprint_2/tests/operator_review_rehearsal_20261004.md and operator_cleanup_rehearsal_20261004.json. The reading view is a proposal, not an audio-verified speaker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before/after/restore case is a controlled unit test, not a real-audio correction. Native UI automation could not attach to the launched review player. Do not assert that the developer heard or verified this 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full command block into Terminal on the Sprint 2 Mac. It defines the working directory and asks for the name, then uses the actual open record UUID and store. The name must be verified by listening to the whole S2 cluster; no identity has been inferred. A fresh demo uses a new store and record ID; stage 4 prints its complete command. Naming applies to the whole cluster. Close and reopen the player after the CLI edit. Evidence: tests/speaker_naming_demo_20261004.md and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Polish record 5DC83D71-D1B0-4568-A66D-70F3B9A71D46, four pre-gate local-model review items after swift run. PDF: Sejm sitting 39. The source ranges are in the saved JSON and sprint_2_tests.md.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NFR-06; progress/sprint_2/sprint_2_design.md approved recovery amendment; experiments/MinutesAdapter/Tests/MeetingMLXMinutesTests/ResponseValidationTests.swift. Real-model Sejm checks have not yet produced a dependable new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progress/sprint_2/doe_itiac_day2_fixture.md and tests/doe_itiac_day2_run_20261002.json. The DOE advisory committee source provides an official speaker-labeled transcript and long recording. The first 30 minutes were used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progress/sprint_2/user_manual.md; sprint_2_handover.md; sprint_2_bugs.md. The review app can seek to selected ranges; its latest bounded playback change still needs manual replay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Whole-meeting word error rate on the same AMI ES2002a headset mix; FluidAudio/Parakeet v2 19.48%, whisper.cpp/Whisper base.en 28.79%. Affected-speaker reference-linked errors use a separate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FR-11. Five referenced FLEURS read-speech clips per language on each model. Whisper base used CPU because Metal initialization failed on this Mac. This is not a Polish meeting 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profile: progress/sprint_2/demo/segmentation-settings.json. Contract and executable command: transcript_segmentation.md. preserveSpeakerChanges false explicitly restores the older brief-switch proposal experiment. Every label reassignment remains a reading proposal, never a raw source rewrite. UT-14 tests all controls. IT-13 compares captured LLM input against CLI inspection for the same saved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tests/cleanup_configuration_20261004.json and reading_blocks_configured_20261004.json. Explicit variants on a disposable copy produced 802 sourceParts blocks, 32 blocks with a 15-second cap and 6 blocks with a 1.5-second gap cutoff. Default produced 4. These are grouping metrics, not ASR or speaker accuracy gains. Limits are seconds. Reject nonfinite and negative values, a nonpositive duration cap, or one-sided gap greater than neighbor gap. Semantic continuity and independent acoustic boundary reassessment remain unimplemented.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sprint_2_implementation.md; ami_asr_benchmark.md; tests/cleanup_configuration_20261004.json; tests/po_demo_rehearsal_20261004.md. ASR WER is the selected full AMI headset recording, Parakeet v2 versus Whisper base.en. Polish feasibility includes real Sejm transcription and qualitative official-PDF comparison, not a whole-meeting WER claim. The configured Sejm grouping check used a copy of record 5C00CCF3-A242-4FB0-845D-92C6D30D7633. All 802 raw parts and reading words survived. The later grouping policy did not rerun the earlier LLM trials. Resource evidence: tests/multistage_minutes_trial_20261004.md and its AMI/Sejm metrics. Child-process peak RSS was 16.01 GB and 17.34 GB. Runs took 24.981 s and 53.410 s, respectively. Single observations, not deployment sizing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ami_asr_benchmark.md; tests/polish_sejm_pdf_transcription_review_20261002.md; tests/multistage_minutes_trial_20261004.md; tests/po_demo_rehearsal_20261004.md; tests/doe_minutes_failure_diagnosis_20261002.md; sprint_2_tests.md. The 2/5 and 2/4 measures are a strict manual audit against cited saved ASR text, not gold-topic accuracy or full audio correctness. They belong to earlier 21/32-utterance profiles, not the latest four-turn reading policy. The semantic topic mix-up is an LLM interpretation error, not demonstrated speaker-label failure. Qwen 30B trials used 4-bit local qwen3-30b-a3b-instruct-2507. Passing JSON/source checks does not prove entailment. Native QA attachment timed out during the last correction, so no fresh GUI listening pass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and proposed priorities follow existing Sprint 2 evidence and the planned Sprint 3 assessment. Sources: PLAN.md Sprint 3 PBI-012 through PBI-016; sprint_2_product_owner_presentation.md; tests/multistage_minutes_trial_20261004.md; ami_asr_benchmark.md; transcript_segmentation.md. These directions are recommendations for evidence analysis, not newly assigned PBIs or an accepted new implementation scope. The live Product Owner demonstration, documentation approval and sprint-close decision remain pending. The prototype supports investigation and source review, but the minutes content does not meet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e4409a56a45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a5f85330b64921" /><Relationship Type="http://schemas.openxmlformats.org/officeDocument/2006/relationships/slideLayout" Target="/ppt/slideLayouts/slideLayout1.xml" Id="Re96aeb36a98e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6aeb36a98e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0ad158e8414aa0" /><Relationship Type="http://schemas.openxmlformats.org/officeDocument/2006/relationships/notesSlide" Target="/ppt/notesSlides/notesSlide1.xml" Id="R4331872a2a6946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14e2f4f8304f22" /><Relationship Type="http://schemas.openxmlformats.org/officeDocument/2006/relationships/notesSlide" Target="/ppt/notesSlides/notesSlide2.xml" Id="R73b0d723f2d14a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3fc3990ca24350" /><Relationship Type="http://schemas.openxmlformats.org/officeDocument/2006/relationships/notesSlide" Target="/ppt/notesSlides/notesSlide3.xml" Id="R9e015ded87df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2aafda0475485f" /><Relationship Type="http://schemas.openxmlformats.org/officeDocument/2006/relationships/notesSlide" Target="/ppt/notesSlides/notesSlide4.xml" Id="R895fc01e7a1e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541eb736f94557" /><Relationship Type="http://schemas.openxmlformats.org/officeDocument/2006/relationships/notesSlide" Target="/ppt/notesSlides/notesSlide5.xml" Id="R4d0ca9f9038349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89865c66fa4537" /><Relationship Type="http://schemas.openxmlformats.org/officeDocument/2006/relationships/notesSlide" Target="/ppt/notesSlides/notesSlide6.xml" Id="Rb8a69c5d689848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40f4edb60f47fd" /><Relationship Type="http://schemas.openxmlformats.org/officeDocument/2006/relationships/notesSlide" Target="/ppt/notesSlides/notesSlide7.xml" Id="Rf3011177ae9c4c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c1c35ba1e84bfd" /><Relationship Type="http://schemas.openxmlformats.org/officeDocument/2006/relationships/notesSlide" Target="/ppt/notesSlides/notesSlide8.xml" Id="R0bbe0baef2974b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6dc76e75aa47fd" /><Relationship Type="http://schemas.openxmlformats.org/officeDocument/2006/relationships/notesSlide" Target="/ppt/notesSlides/notesSlide9.xml" Id="R92140784b560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7cfde5d2aa41c8" /><Relationship Type="http://schemas.openxmlformats.org/officeDocument/2006/relationships/notesSlide" Target="/ppt/notesSlides/notesSlide10.xml" Id="Rf8e2d3a650674c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d2ff5f36e448d2" /><Relationship Type="http://schemas.openxmlformats.org/officeDocument/2006/relationships/notesSlide" Target="/ppt/notesSlides/notesSlide11.xml" Id="R7987f2222965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22be4760114381" /><Relationship Type="http://schemas.openxmlformats.org/officeDocument/2006/relationships/notesSlide" Target="/ppt/notesSlides/notesSlide12.xml" Id="R93907b9732b143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4ffe2d7a742e0" /><Relationship Type="http://schemas.openxmlformats.org/officeDocument/2006/relationships/notesSlide" Target="/ppt/notesSlides/notesSlide13.xml" Id="R946c5d0ee69e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6e34ab9ed446ca" /><Relationship Type="http://schemas.openxmlformats.org/officeDocument/2006/relationships/notesSlide" Target="/ppt/notesSlides/notesSlide14.xml" Id="Rb0e266689a3d48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dbdf77a2a14521" /><Relationship Type="http://schemas.openxmlformats.org/officeDocument/2006/relationships/chart" Target="/ppt/slides/charts/chart1.xml" Id="Re6c0a9bfe9e7463f" /><Relationship Type="http://schemas.openxmlformats.org/officeDocument/2006/relationships/notesSlide" Target="/ppt/notesSlides/notesSlide15.xml" Id="R27226a80c16b43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2e76719154913" /><Relationship Type="http://schemas.openxmlformats.org/officeDocument/2006/relationships/chart" Target="/ppt/slides/charts/chart2.xml" Id="R1b3d92abb43c4a53" /><Relationship Type="http://schemas.openxmlformats.org/officeDocument/2006/relationships/notesSlide" Target="/ppt/notesSlides/notesSlide16.xml" Id="Re6ed1c868f2541fa" /></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7.xml" Id="R9e015ded87df476c"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8.xml" Id="R9e015ded87df476c"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9.xml" Id="R9e015ded87df476c"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0.xml" Id="R9e015ded87df476c"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1.xml" Id="R9e015ded87df476c"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FluidAudio / Parakeet v2</c:v>
          </c:tx>
          <c:spPr>
            <a:solidFill xmlns:a="http://schemas.openxmlformats.org/drawingml/2006/main">
              <a:srgbClr val="1769AA"/>
            </a:solidFill>
          </c:spPr>
          <c:cat>
            <c:strRef>
              <c:f>'Chart Data'!$A$2:$A$2</c:f>
              <c:strCache>
                <c:ptCount val="1"/>
                <c:pt idx="0">
                  <c:v>AMI meeting</c:v>
                </c:pt>
              </c:strCache>
            </c:strRef>
          </c:cat>
          <c:val>
            <c:numRef>
              <c:f>'Chart Data'!$B$2:$B$2</c:f>
              <c:numCache>
                <c:formatCode>General</c:formatCode>
                <c:ptCount val="1"/>
                <c:pt idx="0">
                  <c:v>19.48</c:v>
                </c:pt>
              </c:numCache>
            </c:numRef>
          </c:val>
        </c:ser>
        <c:ser>
          <c:idx val="1"/>
          <c:order val="1"/>
          <c:tx>
            <c:v>whisper.cpp / Whisper base.en</c:v>
          </c:tx>
          <c:spPr>
            <a:solidFill xmlns:a="http://schemas.openxmlformats.org/drawingml/2006/main">
              <a:srgbClr val="D96B2B"/>
            </a:solidFill>
          </c:spPr>
          <c:cat>
            <c:strRef>
              <c:f>'Chart Data'!$C$2:$C$2</c:f>
              <c:strCache>
                <c:ptCount val="1"/>
                <c:pt idx="0">
                  <c:v>AMI meeting</c:v>
                </c:pt>
              </c:strCache>
            </c:strRef>
          </c:cat>
          <c:val>
            <c:numRef>
              <c:f>'Chart Data'!$D$2:$D$2</c:f>
              <c:numCache>
                <c:formatCode>General</c:formatCode>
                <c:ptCount val="1"/>
                <c:pt idx="0">
                  <c:v>28.79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Parakeet v3</c:v>
          </c:tx>
          <c:spPr>
            <a:solidFill xmlns:a="http://schemas.openxmlformats.org/drawingml/2006/main">
              <a:srgbClr val="1769AA"/>
            </a:solidFill>
          </c:spPr>
          <c:cat>
            <c:strRef>
              <c:f>'Chart Data'!$A$2:$A$3</c:f>
              <c:strCache>
                <c:ptCount val="2"/>
                <c:pt idx="0">
                  <c:v>English</c:v>
                </c:pt>
                <c:pt idx="1">
                  <c:v>Polish</c:v>
                </c:pt>
              </c:strCache>
            </c:strRef>
          </c:cat>
          <c:val>
            <c:numRef>
              <c:f>'Chart Data'!$B$2:$B$3</c:f>
              <c:numCache>
                <c:formatCode>General</c:formatCode>
                <c:ptCount val="2"/>
                <c:pt idx="0">
                  <c:v>11.49</c:v>
                </c:pt>
                <c:pt idx="1">
                  <c:v>3.41</c:v>
                </c:pt>
              </c:numCache>
            </c:numRef>
          </c:val>
        </c:ser>
        <c:ser>
          <c:idx val="1"/>
          <c:order val="1"/>
          <c:tx>
            <c:v>Whisper base, CPU</c:v>
          </c:tx>
          <c:spPr>
            <a:solidFill xmlns:a="http://schemas.openxmlformats.org/drawingml/2006/main">
              <a:srgbClr val="D96B2B"/>
            </a:solidFill>
          </c:spPr>
          <c:cat>
            <c:strRef>
              <c:f>'Chart Data'!$C$2:$C$3</c:f>
              <c:strCache>
                <c:ptCount val="2"/>
                <c:pt idx="0">
                  <c:v>English</c:v>
                </c:pt>
                <c:pt idx="1">
                  <c:v>Polish</c:v>
                </c:pt>
              </c:strCache>
            </c:strRef>
          </c:cat>
          <c:val>
            <c:numRef>
              <c:f>'Chart Data'!$D$2:$D$3</c:f>
              <c:numCache>
                <c:formatCode>General</c:formatCode>
                <c:ptCount val="2"/>
                <c:pt idx="0">
                  <c:v>18.39</c:v>
                </c:pt>
                <c:pt idx="1">
                  <c:v>27.27</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85809E-3542-4EE2-9260-43DE1CCE1E71}"/>
              </a:ext>
            </a:extLst>
          </p:cNvPr>
          <p:cNvSpPr>
            <a:spLocks xmlns:a="http://schemas.openxmlformats.org/drawingml/2006/main" noGrp="1"/>
          </p:cNvSpPr>
          <p:nvPr/>
        </p:nvSpPr>
        <p:spPr>
          <a:xfrm xmlns:a="http://schemas.openxmlformats.org/drawingml/2006/main">
            <a:off x="742950" y="1476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42536"/>
                </a:solidFill>
                <a:latin typeface="Helvetica Neue"/>
                <a:ea typeface="Helvetica Neue"/>
                <a:cs typeface="Helvetica Neue"/>
              </a:defRPr>
            </a:pPr>
            <a:r>
              <a:rPr sz="4200" b="1">
                <a:solidFill>
                  <a:srgbClr val="142536"/>
                </a:solidFill>
                <a:latin typeface="Helvetica Neue"/>
                <a:ea typeface="Helvetica Neue"/>
                <a:cs typeface="Helvetica Neue"/>
              </a:rPr>
              <a:t>Sprint 2</a:t>
            </a:r>
          </a:p>
        </p:txBody>
      </p:sp>
      <p:sp>
        <p:nvSpPr>
          <p:cNvPr id="2" name="">
            <a:extLst xmlns:a="http://schemas.openxmlformats.org/drawingml/2006/main">
              <a:ext uri="{FF2B5EF4-FFF2-40B4-BE49-F238E27FC236}">
                <a16:creationId xmlns:a16="http://schemas.microsoft.com/office/drawing/2014/main" id="{0DF8DE71-DDBE-449C-88C1-8C663A3760E7}"/>
              </a:ext>
            </a:extLst>
          </p:cNvPr>
          <p:cNvSpPr>
            <a:spLocks xmlns:a="http://schemas.openxmlformats.org/drawingml/2006/main" noGrp="1"/>
          </p:cNvSpPr>
          <p:nvPr/>
        </p:nvSpPr>
        <p:spPr>
          <a:xfrm xmlns:a="http://schemas.openxmlformats.org/drawingml/2006/main">
            <a:off x="742950" y="23812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142536"/>
                </a:solidFill>
                <a:latin typeface="Helvetica Neue"/>
                <a:ea typeface="Helvetica Neue"/>
                <a:cs typeface="Helvetica Neue"/>
              </a:defRPr>
            </a:pPr>
            <a:r>
              <a:rPr sz="3675" b="1">
                <a:solidFill>
                  <a:srgbClr val="142536"/>
                </a:solidFill>
                <a:latin typeface="Helvetica Neue"/>
                <a:ea typeface="Helvetica Neue"/>
                <a:cs typeface="Helvetica Neue"/>
              </a:rPr>
              <a:t>Meeting prototype and technical evidence</a:t>
            </a:r>
          </a:p>
        </p:txBody>
      </p:sp>
      <p:sp>
        <p:nvSpPr>
          <p:cNvPr id="3" name="">
            <a:extLst xmlns:a="http://schemas.openxmlformats.org/drawingml/2006/main">
              <a:ext uri="{FF2B5EF4-FFF2-40B4-BE49-F238E27FC236}">
                <a16:creationId xmlns:a16="http://schemas.microsoft.com/office/drawing/2014/main" id="{9E6A3805-C890-4825-840F-EDEA304BFB59}"/>
              </a:ext>
            </a:extLst>
          </p:cNvPr>
          <p:cNvSpPr>
            <a:spLocks xmlns:a="http://schemas.openxmlformats.org/drawingml/2006/main" noGrp="1"/>
          </p:cNvSpPr>
          <p:nvPr/>
        </p:nvSpPr>
        <p:spPr>
          <a:xfrm xmlns:a="http://schemas.openxmlformats.org/drawingml/2006/main">
            <a:off x="742950" y="4095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62A5"/>
                </a:solidFill>
                <a:latin typeface="Helvetica Neue"/>
                <a:ea typeface="Helvetica Neue"/>
                <a:cs typeface="Helvetica Neue"/>
              </a:defRPr>
            </a:pPr>
            <a:r>
              <a:rPr sz="2100" b="0">
                <a:solidFill>
                  <a:srgbClr val="1662A5"/>
                </a:solidFill>
                <a:latin typeface="Helvetica Neue"/>
                <a:ea typeface="Helvetica Neue"/>
                <a:cs typeface="Helvetica Neue"/>
              </a:rPr>
              <a:t>Product Owner presentation set</a:t>
            </a:r>
          </a:p>
        </p:txBody>
      </p:sp>
      <p:sp>
        <p:nvSpPr>
          <p:cNvPr id="4" name="">
            <a:extLst xmlns:a="http://schemas.openxmlformats.org/drawingml/2006/main">
              <a:ext uri="{FF2B5EF4-FFF2-40B4-BE49-F238E27FC236}">
                <a16:creationId xmlns:a16="http://schemas.microsoft.com/office/drawing/2014/main" id="{52354F07-1420-4375-9231-A8C1218F7746}"/>
              </a:ext>
            </a:extLst>
          </p:cNvPr>
          <p:cNvSpPr>
            <a:spLocks xmlns:a="http://schemas.openxmlformats.org/drawingml/2006/main" noGrp="1"/>
          </p:cNvSpPr>
          <p:nvPr/>
        </p:nvSpPr>
        <p:spPr>
          <a:xfrm xmlns:a="http://schemas.openxmlformats.org/drawingml/2006/main">
            <a:off x="742950" y="56483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96071"/>
                </a:solidFill>
                <a:latin typeface="Helvetica Neue"/>
                <a:ea typeface="Helvetica Neue"/>
                <a:cs typeface="Helvetica Neue"/>
              </a:defRPr>
            </a:pPr>
            <a:r>
              <a:rPr sz="1725" b="0">
                <a:solidFill>
                  <a:srgbClr val="496071"/>
                </a:solidFill>
                <a:latin typeface="Helvetica Neue"/>
                <a:ea typeface="Helvetica Neue"/>
                <a:cs typeface="Helvetica Neue"/>
              </a:rPr>
              <a:t>4 October 2026</a:t>
            </a:r>
          </a:p>
        </p:txBody>
      </p:sp>
    </p:spTree>
    <p:extLst>
      <p:ext uri="{BB962C8B-B14F-4D97-AF65-F5344CB8AC3E}">
        <p14:creationId xmlns:p14="http://schemas.microsoft.com/office/powerpoint/2010/main" val="1932466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9D4089-2F7A-473F-8D99-1A3B4754FDF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Sprint 2 set out to test</a:t>
            </a:r>
          </a:p>
        </p:txBody>
      </p:sp>
      <p:sp>
        <p:nvSpPr>
          <p:cNvPr id="2" name="">
            <a:extLst xmlns:a="http://schemas.openxmlformats.org/drawingml/2006/main">
              <a:ext uri="{FF2B5EF4-FFF2-40B4-BE49-F238E27FC236}">
                <a16:creationId xmlns:a16="http://schemas.microsoft.com/office/drawing/2014/main" id="{82DA5265-24D7-470C-B117-CC0085E6D33C}"/>
              </a:ext>
            </a:extLst>
          </p:cNvPr>
          <p:cNvSpPr>
            <a:spLocks xmlns:a="http://schemas.openxmlformats.org/drawingml/2006/main" noGrp="1"/>
          </p:cNvSpPr>
          <p:nvPr/>
        </p:nvSpPr>
        <p:spPr>
          <a:xfrm xmlns:a="http://schemas.openxmlformats.org/drawingml/2006/main">
            <a:off x="790575" y="14382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Can a chair turn local meeting audio into a reviewable record?</a:t>
            </a:r>
          </a:p>
        </p:txBody>
      </p:sp>
      <p:sp>
        <p:nvSpPr>
          <p:cNvPr id="3" name="">
            <a:extLst xmlns:a="http://schemas.openxmlformats.org/drawingml/2006/main">
              <a:ext uri="{FF2B5EF4-FFF2-40B4-BE49-F238E27FC236}">
                <a16:creationId xmlns:a16="http://schemas.microsoft.com/office/drawing/2014/main" id="{A28EE6A5-49C4-40E2-BC1E-7E38BBFEA476}"/>
              </a:ext>
            </a:extLst>
          </p:cNvPr>
          <p:cNvSpPr>
            <a:spLocks xmlns:a="http://schemas.openxmlformats.org/drawingml/2006/main" noGrp="1"/>
          </p:cNvSpPr>
          <p:nvPr/>
        </p:nvSpPr>
        <p:spPr>
          <a:xfrm xmlns:a="http://schemas.openxmlformats.org/drawingml/2006/main">
            <a:off x="790575" y="25146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PBI-011 built a runnable Swift prototype for transcription, speaker review, manual names, and draft minutes.</a:t>
            </a:r>
          </a:p>
        </p:txBody>
      </p:sp>
      <p:sp>
        <p:nvSpPr>
          <p:cNvPr id="4" name="">
            <a:extLst xmlns:a="http://schemas.openxmlformats.org/drawingml/2006/main">
              <a:ext uri="{FF2B5EF4-FFF2-40B4-BE49-F238E27FC236}">
                <a16:creationId xmlns:a16="http://schemas.microsoft.com/office/drawing/2014/main" id="{77171FB0-62DE-4E18-AED8-B95BA9300A58}"/>
              </a:ext>
            </a:extLst>
          </p:cNvPr>
          <p:cNvSpPr>
            <a:spLocks xmlns:a="http://schemas.openxmlformats.org/drawingml/2006/main" noGrp="1"/>
          </p:cNvSpPr>
          <p:nvPr/>
        </p:nvSpPr>
        <p:spPr>
          <a:xfrm xmlns:a="http://schemas.openxmlformats.org/drawingml/2006/main">
            <a:off x="790575" y="40290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PBI-018 compared local model options on referenced data and recorded the failures that architecture work must address.</a:t>
            </a:r>
          </a:p>
        </p:txBody>
      </p:sp>
      <p:sp>
        <p:nvSpPr>
          <p:cNvPr id="5" name="">
            <a:extLst xmlns:a="http://schemas.openxmlformats.org/drawingml/2006/main">
              <a:ext uri="{FF2B5EF4-FFF2-40B4-BE49-F238E27FC236}">
                <a16:creationId xmlns:a16="http://schemas.microsoft.com/office/drawing/2014/main" id="{D5FB714C-4C24-488A-AC74-94B4B295118C}"/>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architecture and model interfaces come next, followed by the real-meeting demonstration.</a:t>
            </a:r>
          </a:p>
        </p:txBody>
      </p:sp>
    </p:spTree>
    <p:extLst>
      <p:ext uri="{BB962C8B-B14F-4D97-AF65-F5344CB8AC3E}">
        <p14:creationId xmlns:p14="http://schemas.microsoft.com/office/powerpoint/2010/main" val="1741194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40597C-CAEC-4A03-A09C-8509B8760F9E}"/>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Processing pipeline: audio, speakers and minutes</a:t>
            </a:r>
          </a:p>
        </p:txBody>
      </p:sp>
      <p:sp>
        <p:nvSpPr>
          <p:cNvPr id="2" name="">
            <a:extLst xmlns:a="http://schemas.openxmlformats.org/drawingml/2006/main">
              <a:ext uri="{FF2B5EF4-FFF2-40B4-BE49-F238E27FC236}">
                <a16:creationId xmlns:a16="http://schemas.microsoft.com/office/drawing/2014/main" id="{82A4DA28-D36B-4824-A658-31165C52CF78}"/>
              </a:ext>
            </a:extLst>
          </p:cNvPr>
          <p:cNvSpPr>
            <a:spLocks xmlns:a="http://schemas.openxmlformats.org/drawingml/2006/main" noGrp="1"/>
          </p:cNvSpPr>
          <p:nvPr/>
        </p:nvSpPr>
        <p:spPr>
          <a:xfrm xmlns:a="http://schemas.openxmlformats.org/drawingml/2006/main">
            <a:off x="723900" y="11811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85C74"/>
                </a:solidFill>
                <a:latin typeface="Helvetica Neue"/>
                <a:ea typeface="Helvetica Neue"/>
                <a:cs typeface="Helvetica Neue"/>
              </a:defRPr>
            </a:pPr>
            <a:r>
              <a:rPr sz="1875" b="0">
                <a:solidFill>
                  <a:srgbClr val="485C74"/>
                </a:solidFill>
                <a:latin typeface="Helvetica Neue"/>
                <a:ea typeface="Helvetica Neue"/>
                <a:cs typeface="Helvetica Neue"/>
              </a:rPr>
              <a:t>Swift coordinates one local record. Speaker recognition and minutes are optional.</a:t>
            </a:r>
          </a:p>
        </p:txBody>
      </p:sp>
      <p:sp>
        <p:nvSpPr>
          <p:cNvPr id="3" name="">
            <a:extLst xmlns:a="http://schemas.openxmlformats.org/drawingml/2006/main">
              <a:ext uri="{FF2B5EF4-FFF2-40B4-BE49-F238E27FC236}">
                <a16:creationId xmlns:a16="http://schemas.microsoft.com/office/drawing/2014/main" id="{987C2A98-9114-49A9-B279-6350D12545AB}"/>
              </a:ext>
            </a:extLst>
          </p:cNvPr>
          <p:cNvSpPr>
            <a:spLocks xmlns:a="http://schemas.openxmlformats.org/drawingml/2006/main" noGrp="1"/>
          </p:cNvSpPr>
          <p:nvPr/>
        </p:nvSpPr>
        <p:spPr>
          <a:xfrm xmlns:a="http://schemas.openxmlformats.org/drawingml/2006/main">
            <a:off x="714375" y="1924050"/>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4" name="">
            <a:extLst xmlns:a="http://schemas.openxmlformats.org/drawingml/2006/main">
              <a:ext uri="{FF2B5EF4-FFF2-40B4-BE49-F238E27FC236}">
                <a16:creationId xmlns:a16="http://schemas.microsoft.com/office/drawing/2014/main" id="{8F16F4D5-5DF8-4357-9ECA-9B17132BF290}"/>
              </a:ext>
            </a:extLst>
          </p:cNvPr>
          <p:cNvSpPr>
            <a:spLocks xmlns:a="http://schemas.openxmlformats.org/drawingml/2006/main" noGrp="1"/>
          </p:cNvSpPr>
          <p:nvPr/>
        </p:nvSpPr>
        <p:spPr>
          <a:xfrm xmlns:a="http://schemas.openxmlformats.org/drawingml/2006/main">
            <a:off x="8858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1. Transcribe audio</a:t>
            </a:r>
          </a:p>
        </p:txBody>
      </p:sp>
      <p:sp>
        <p:nvSpPr>
          <p:cNvPr id="5" name="">
            <a:extLst xmlns:a="http://schemas.openxmlformats.org/drawingml/2006/main">
              <a:ext uri="{FF2B5EF4-FFF2-40B4-BE49-F238E27FC236}">
                <a16:creationId xmlns:a16="http://schemas.microsoft.com/office/drawing/2014/main" id="{AE78DD72-46A0-4968-938D-18B82C1104B2}"/>
              </a:ext>
            </a:extLst>
          </p:cNvPr>
          <p:cNvSpPr>
            <a:spLocks xmlns:a="http://schemas.openxmlformats.org/drawingml/2006/main" noGrp="1"/>
          </p:cNvSpPr>
          <p:nvPr/>
        </p:nvSpPr>
        <p:spPr>
          <a:xfrm xmlns:a="http://schemas.openxmlformats.org/drawingml/2006/main">
            <a:off x="8858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ASR: Parakeet or Whisper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 language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Timed text parts</a:t>
            </a:r>
          </a:p>
        </p:txBody>
      </p:sp>
      <p:sp>
        <p:nvSpPr>
          <p:cNvPr id="6" name="">
            <a:extLst xmlns:a="http://schemas.openxmlformats.org/drawingml/2006/main">
              <a:ext uri="{FF2B5EF4-FFF2-40B4-BE49-F238E27FC236}">
                <a16:creationId xmlns:a16="http://schemas.microsoft.com/office/drawing/2014/main" id="{97FC760D-ACBB-41DC-93F7-E485128D3FB5}"/>
              </a:ext>
            </a:extLst>
          </p:cNvPr>
          <p:cNvSpPr>
            <a:spLocks xmlns:a="http://schemas.openxmlformats.org/drawingml/2006/main" noGrp="1"/>
          </p:cNvSpPr>
          <p:nvPr/>
        </p:nvSpPr>
        <p:spPr>
          <a:xfrm xmlns:a="http://schemas.openxmlformats.org/drawingml/2006/main">
            <a:off x="4429125" y="1924050"/>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7" name="">
            <a:extLst xmlns:a="http://schemas.openxmlformats.org/drawingml/2006/main">
              <a:ext uri="{FF2B5EF4-FFF2-40B4-BE49-F238E27FC236}">
                <a16:creationId xmlns:a16="http://schemas.microsoft.com/office/drawing/2014/main" id="{54DDA733-EA3D-4EF6-BC35-FB0755773BA2}"/>
              </a:ext>
            </a:extLst>
          </p:cNvPr>
          <p:cNvSpPr>
            <a:spLocks xmlns:a="http://schemas.openxmlformats.org/drawingml/2006/main" noGrp="1"/>
          </p:cNvSpPr>
          <p:nvPr/>
        </p:nvSpPr>
        <p:spPr>
          <a:xfrm xmlns:a="http://schemas.openxmlformats.org/drawingml/2006/main">
            <a:off x="460057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2. Recognize speakers</a:t>
            </a:r>
          </a:p>
        </p:txBody>
      </p:sp>
      <p:sp>
        <p:nvSpPr>
          <p:cNvPr id="8" name="">
            <a:extLst xmlns:a="http://schemas.openxmlformats.org/drawingml/2006/main">
              <a:ext uri="{FF2B5EF4-FFF2-40B4-BE49-F238E27FC236}">
                <a16:creationId xmlns:a16="http://schemas.microsoft.com/office/drawing/2014/main" id="{B9A90B5A-44A3-40FD-B6A6-1F821A2ACE68}"/>
              </a:ext>
            </a:extLst>
          </p:cNvPr>
          <p:cNvSpPr>
            <a:spLocks xmlns:a="http://schemas.openxmlformats.org/drawingml/2006/main" noGrp="1"/>
          </p:cNvSpPr>
          <p:nvPr/>
        </p:nvSpPr>
        <p:spPr>
          <a:xfrm xmlns:a="http://schemas.openxmlformats.org/drawingml/2006/main">
            <a:off x="460057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FluidAudio diarizer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gives S1/S2/S3</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aligns labels by time</a:t>
            </a:r>
          </a:p>
        </p:txBody>
      </p:sp>
      <p:sp>
        <p:nvSpPr>
          <p:cNvPr id="9" name="">
            <a:extLst xmlns:a="http://schemas.openxmlformats.org/drawingml/2006/main">
              <a:ext uri="{FF2B5EF4-FFF2-40B4-BE49-F238E27FC236}">
                <a16:creationId xmlns:a16="http://schemas.microsoft.com/office/drawing/2014/main" id="{1BD9B617-B87B-4F63-9CD2-F115ABFD13F5}"/>
              </a:ext>
            </a:extLst>
          </p:cNvPr>
          <p:cNvSpPr>
            <a:spLocks xmlns:a="http://schemas.openxmlformats.org/drawingml/2006/main" noGrp="1"/>
          </p:cNvSpPr>
          <p:nvPr/>
        </p:nvSpPr>
        <p:spPr>
          <a:xfrm xmlns:a="http://schemas.openxmlformats.org/drawingml/2006/main">
            <a:off x="8143875" y="1924050"/>
            <a:ext cx="3333750" cy="1571625"/>
          </a:xfrm>
          <a:prstGeom xmlns:a="http://schemas.openxmlformats.org/drawingml/2006/main" prst="rect">
            <a:avLst/>
          </a:prstGeom>
          <a:solidFill xmlns:a="http://schemas.openxmlformats.org/drawingml/2006/main">
            <a:srgbClr val="F6F3FF"/>
          </a:solidFill>
          <a:ln xmlns:a="http://schemas.openxmlformats.org/drawingml/2006/main" w="9525">
            <a:solidFill>
              <a:srgbClr val="D1DAE4"/>
            </a:solidFill>
          </a:ln>
        </p:spPr>
      </p:sp>
      <p:sp>
        <p:nvSpPr>
          <p:cNvPr id="10" name="">
            <a:extLst xmlns:a="http://schemas.openxmlformats.org/drawingml/2006/main">
              <a:ext uri="{FF2B5EF4-FFF2-40B4-BE49-F238E27FC236}">
                <a16:creationId xmlns:a16="http://schemas.microsoft.com/office/drawing/2014/main" id="{2CC0A981-0417-4532-939B-FE30B8AC17EB}"/>
              </a:ext>
            </a:extLst>
          </p:cNvPr>
          <p:cNvSpPr>
            <a:spLocks xmlns:a="http://schemas.openxmlformats.org/drawingml/2006/main" noGrp="1"/>
          </p:cNvSpPr>
          <p:nvPr/>
        </p:nvSpPr>
        <p:spPr>
          <a:xfrm xmlns:a="http://schemas.openxmlformats.org/drawingml/2006/main">
            <a:off x="83153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3. Build reading turns</a:t>
            </a:r>
          </a:p>
        </p:txBody>
      </p:sp>
      <p:sp>
        <p:nvSpPr>
          <p:cNvPr id="11" name="">
            <a:extLst xmlns:a="http://schemas.openxmlformats.org/drawingml/2006/main">
              <a:ext uri="{FF2B5EF4-FFF2-40B4-BE49-F238E27FC236}">
                <a16:creationId xmlns:a16="http://schemas.microsoft.com/office/drawing/2014/main" id="{01885904-EA6C-4ED8-A835-49AF3B6F6578}"/>
              </a:ext>
            </a:extLst>
          </p:cNvPr>
          <p:cNvSpPr>
            <a:spLocks xmlns:a="http://schemas.openxmlformats.org/drawingml/2006/main" noGrp="1"/>
          </p:cNvSpPr>
          <p:nvPr/>
        </p:nvSpPr>
        <p:spPr>
          <a:xfrm xmlns:a="http://schemas.openxmlformats.org/drawingml/2006/main">
            <a:off x="83153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TranscriptCleaner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Text + time + speaker labels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Configurable reading turns</a:t>
            </a:r>
          </a:p>
        </p:txBody>
      </p:sp>
      <p:sp>
        <p:nvSpPr>
          <p:cNvPr id="12" name="">
            <a:extLst xmlns:a="http://schemas.openxmlformats.org/drawingml/2006/main">
              <a:ext uri="{FF2B5EF4-FFF2-40B4-BE49-F238E27FC236}">
                <a16:creationId xmlns:a16="http://schemas.microsoft.com/office/drawing/2014/main" id="{D9881878-0CAA-40A3-A440-5D5A3C899AEF}"/>
              </a:ext>
            </a:extLst>
          </p:cNvPr>
          <p:cNvSpPr>
            <a:spLocks xmlns:a="http://schemas.openxmlformats.org/drawingml/2006/main" noGrp="1"/>
          </p:cNvSpPr>
          <p:nvPr/>
        </p:nvSpPr>
        <p:spPr>
          <a:xfrm xmlns:a="http://schemas.openxmlformats.org/drawingml/2006/main">
            <a:off x="714375" y="4048125"/>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13" name="">
            <a:extLst xmlns:a="http://schemas.openxmlformats.org/drawingml/2006/main">
              <a:ext uri="{FF2B5EF4-FFF2-40B4-BE49-F238E27FC236}">
                <a16:creationId xmlns:a16="http://schemas.microsoft.com/office/drawing/2014/main" id="{738C1782-B7EA-4968-8994-D109B0E08C96}"/>
              </a:ext>
            </a:extLst>
          </p:cNvPr>
          <p:cNvSpPr>
            <a:spLocks xmlns:a="http://schemas.openxmlformats.org/drawingml/2006/main" noGrp="1"/>
          </p:cNvSpPr>
          <p:nvPr/>
        </p:nvSpPr>
        <p:spPr>
          <a:xfrm xmlns:a="http://schemas.openxmlformats.org/drawingml/2006/main">
            <a:off x="8858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4. Operator review</a:t>
            </a:r>
          </a:p>
        </p:txBody>
      </p:sp>
      <p:sp>
        <p:nvSpPr>
          <p:cNvPr id="14" name="">
            <a:extLst xmlns:a="http://schemas.openxmlformats.org/drawingml/2006/main">
              <a:ext uri="{FF2B5EF4-FFF2-40B4-BE49-F238E27FC236}">
                <a16:creationId xmlns:a16="http://schemas.microsoft.com/office/drawing/2014/main" id="{EB7F948A-DD85-4992-965F-241BFD5979A0}"/>
              </a:ext>
            </a:extLst>
          </p:cNvPr>
          <p:cNvSpPr>
            <a:spLocks xmlns:a="http://schemas.openxmlformats.org/drawingml/2006/main" noGrp="1"/>
          </p:cNvSpPr>
          <p:nvPr/>
        </p:nvSpPr>
        <p:spPr>
          <a:xfrm xmlns:a="http://schemas.openxmlformats.org/drawingml/2006/main">
            <a:off x="8858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SwiftUI + AVFoundation</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Listen, then correct via CLI</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Assign speaker names</a:t>
            </a:r>
          </a:p>
        </p:txBody>
      </p:sp>
      <p:sp>
        <p:nvSpPr>
          <p:cNvPr id="15" name="">
            <a:extLst xmlns:a="http://schemas.openxmlformats.org/drawingml/2006/main">
              <a:ext uri="{FF2B5EF4-FFF2-40B4-BE49-F238E27FC236}">
                <a16:creationId xmlns:a16="http://schemas.microsoft.com/office/drawing/2014/main" id="{47860E14-1518-46C9-971D-0EECD425EEA3}"/>
              </a:ext>
            </a:extLst>
          </p:cNvPr>
          <p:cNvSpPr>
            <a:spLocks xmlns:a="http://schemas.openxmlformats.org/drawingml/2006/main" noGrp="1"/>
          </p:cNvSpPr>
          <p:nvPr/>
        </p:nvSpPr>
        <p:spPr>
          <a:xfrm xmlns:a="http://schemas.openxmlformats.org/drawingml/2006/main">
            <a:off x="4429125" y="4048125"/>
            <a:ext cx="3333750" cy="1571625"/>
          </a:xfrm>
          <a:prstGeom xmlns:a="http://schemas.openxmlformats.org/drawingml/2006/main" prst="rect">
            <a:avLst/>
          </a:prstGeom>
          <a:solidFill xmlns:a="http://schemas.openxmlformats.org/drawingml/2006/main">
            <a:srgbClr val="FFF8EF"/>
          </a:solidFill>
          <a:ln xmlns:a="http://schemas.openxmlformats.org/drawingml/2006/main" w="9525">
            <a:solidFill>
              <a:srgbClr val="D1DAE4"/>
            </a:solidFill>
          </a:ln>
        </p:spPr>
      </p:sp>
      <p:sp>
        <p:nvSpPr>
          <p:cNvPr id="16" name="">
            <a:extLst xmlns:a="http://schemas.openxmlformats.org/drawingml/2006/main">
              <a:ext uri="{FF2B5EF4-FFF2-40B4-BE49-F238E27FC236}">
                <a16:creationId xmlns:a16="http://schemas.microsoft.com/office/drawing/2014/main" id="{E826A1BD-BA85-4CA5-80DB-27E74E59A91C}"/>
              </a:ext>
            </a:extLst>
          </p:cNvPr>
          <p:cNvSpPr>
            <a:spLocks xmlns:a="http://schemas.openxmlformats.org/drawingml/2006/main" noGrp="1"/>
          </p:cNvSpPr>
          <p:nvPr/>
        </p:nvSpPr>
        <p:spPr>
          <a:xfrm xmlns:a="http://schemas.openxmlformats.org/drawingml/2006/main">
            <a:off x="460057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5. Create draft minutes</a:t>
            </a:r>
          </a:p>
        </p:txBody>
      </p:sp>
      <p:sp>
        <p:nvSpPr>
          <p:cNvPr id="17" name="">
            <a:extLst xmlns:a="http://schemas.openxmlformats.org/drawingml/2006/main">
              <a:ext uri="{FF2B5EF4-FFF2-40B4-BE49-F238E27FC236}">
                <a16:creationId xmlns:a16="http://schemas.microsoft.com/office/drawing/2014/main" id="{D38E0B7E-1CDE-4EFF-89F7-DD691295BF0E}"/>
              </a:ext>
            </a:extLst>
          </p:cNvPr>
          <p:cNvSpPr>
            <a:spLocks xmlns:a="http://schemas.openxmlformats.org/drawingml/2006/main" noGrp="1"/>
          </p:cNvSpPr>
          <p:nvPr/>
        </p:nvSpPr>
        <p:spPr>
          <a:xfrm xmlns:a="http://schemas.openxmlformats.org/drawingml/2006/main">
            <a:off x="460057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Qwen LLM via MLX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Topics and coverage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Summaries and explicit items</a:t>
            </a:r>
          </a:p>
        </p:txBody>
      </p:sp>
      <p:sp>
        <p:nvSpPr>
          <p:cNvPr id="18" name="">
            <a:extLst xmlns:a="http://schemas.openxmlformats.org/drawingml/2006/main">
              <a:ext uri="{FF2B5EF4-FFF2-40B4-BE49-F238E27FC236}">
                <a16:creationId xmlns:a16="http://schemas.microsoft.com/office/drawing/2014/main" id="{48B78828-6638-41B3-B1D9-3C16D0852F80}"/>
              </a:ext>
            </a:extLst>
          </p:cNvPr>
          <p:cNvSpPr>
            <a:spLocks xmlns:a="http://schemas.openxmlformats.org/drawingml/2006/main" noGrp="1"/>
          </p:cNvSpPr>
          <p:nvPr/>
        </p:nvSpPr>
        <p:spPr>
          <a:xfrm xmlns:a="http://schemas.openxmlformats.org/drawingml/2006/main">
            <a:off x="8143875" y="4048125"/>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19" name="">
            <a:extLst xmlns:a="http://schemas.openxmlformats.org/drawingml/2006/main">
              <a:ext uri="{FF2B5EF4-FFF2-40B4-BE49-F238E27FC236}">
                <a16:creationId xmlns:a16="http://schemas.microsoft.com/office/drawing/2014/main" id="{06EA02E5-7399-48FF-AFFF-2E5AEAB04A87}"/>
              </a:ext>
            </a:extLst>
          </p:cNvPr>
          <p:cNvSpPr>
            <a:spLocks xmlns:a="http://schemas.openxmlformats.org/drawingml/2006/main" noGrp="1"/>
          </p:cNvSpPr>
          <p:nvPr/>
        </p:nvSpPr>
        <p:spPr>
          <a:xfrm xmlns:a="http://schemas.openxmlformats.org/drawingml/2006/main">
            <a:off x="83153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6. Validate and save</a:t>
            </a:r>
          </a:p>
        </p:txBody>
      </p:sp>
      <p:sp>
        <p:nvSpPr>
          <p:cNvPr id="20" name="">
            <a:extLst xmlns:a="http://schemas.openxmlformats.org/drawingml/2006/main">
              <a:ext uri="{FF2B5EF4-FFF2-40B4-BE49-F238E27FC236}">
                <a16:creationId xmlns:a16="http://schemas.microsoft.com/office/drawing/2014/main" id="{FFBCBF2C-B5C7-40DE-BA53-BAFAE331A1EC}"/>
              </a:ext>
            </a:extLst>
          </p:cNvPr>
          <p:cNvSpPr>
            <a:spLocks xmlns:a="http://schemas.openxmlformats.org/drawingml/2006/main" noGrp="1"/>
          </p:cNvSpPr>
          <p:nvPr/>
        </p:nvSpPr>
        <p:spPr>
          <a:xfrm xmlns:a="http://schemas.openxmlformats.org/drawingml/2006/main">
            <a:off x="83153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Validate JSON and evidence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Repair with bounded retries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Save supported items</a:t>
            </a:r>
          </a:p>
        </p:txBody>
      </p:sp>
      <p:sp>
        <p:nvSpPr>
          <p:cNvPr id="21" name="">
            <a:extLst xmlns:a="http://schemas.openxmlformats.org/drawingml/2006/main">
              <a:ext uri="{FF2B5EF4-FFF2-40B4-BE49-F238E27FC236}">
                <a16:creationId xmlns:a16="http://schemas.microsoft.com/office/drawing/2014/main" id="{E96B113F-EDBC-4E43-9B9E-822F63EC4295}"/>
              </a:ext>
            </a:extLst>
          </p:cNvPr>
          <p:cNvSpPr>
            <a:spLocks xmlns:a="http://schemas.openxmlformats.org/drawingml/2006/main" noGrp="1"/>
          </p:cNvSpPr>
          <p:nvPr/>
        </p:nvSpPr>
        <p:spPr>
          <a:xfrm xmlns:a="http://schemas.openxmlformats.org/drawingml/2006/main">
            <a:off x="733425" y="607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85C74"/>
                </a:solidFill>
                <a:latin typeface="Helvetica Neue"/>
                <a:ea typeface="Helvetica Neue"/>
                <a:cs typeface="Helvetica Neue"/>
              </a:defRPr>
            </a:pPr>
            <a:r>
              <a:rPr sz="1725" b="0">
                <a:solidFill>
                  <a:srgbClr val="485C74"/>
                </a:solidFill>
                <a:latin typeface="Helvetica Neue"/>
                <a:ea typeface="Helvetica Neue"/>
                <a:cs typeface="Helvetica Neue"/>
              </a:rPr>
              <a:t>Raw parts remain saved. Review recomputes the reading layer. Controls: slides 17–18.</a:t>
            </a:r>
          </a:p>
        </p:txBody>
      </p:sp>
    </p:spTree>
    <p:extLst>
      <p:ext uri="{BB962C8B-B14F-4D97-AF65-F5344CB8AC3E}">
        <p14:creationId xmlns:p14="http://schemas.microsoft.com/office/powerpoint/2010/main" val="611353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27BD51-E8DC-4236-96F8-FA17173CF401}"/>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Three different model jobs</a:t>
            </a:r>
          </a:p>
        </p:txBody>
      </p:sp>
      <p:sp>
        <p:nvSpPr>
          <p:cNvPr id="2" name="">
            <a:extLst xmlns:a="http://schemas.openxmlformats.org/drawingml/2006/main">
              <a:ext uri="{FF2B5EF4-FFF2-40B4-BE49-F238E27FC236}">
                <a16:creationId xmlns:a16="http://schemas.microsoft.com/office/drawing/2014/main" id="{8206F8AE-413E-48C4-A380-D7CB2AC4EE5F}"/>
              </a:ext>
            </a:extLst>
          </p:cNvPr>
          <p:cNvSpPr>
            <a:spLocks xmlns:a="http://schemas.openxmlformats.org/drawingml/2006/main" noGrp="1"/>
          </p:cNvSpPr>
          <p:nvPr/>
        </p:nvSpPr>
        <p:spPr>
          <a:xfrm xmlns:a="http://schemas.openxmlformats.org/drawingml/2006/main">
            <a:off x="742950" y="1476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ASR: Parakeet or Whisper</a:t>
            </a:r>
          </a:p>
        </p:txBody>
      </p:sp>
      <p:sp>
        <p:nvSpPr>
          <p:cNvPr id="3" name="">
            <a:extLst xmlns:a="http://schemas.openxmlformats.org/drawingml/2006/main">
              <a:ext uri="{FF2B5EF4-FFF2-40B4-BE49-F238E27FC236}">
                <a16:creationId xmlns:a16="http://schemas.microsoft.com/office/drawing/2014/main" id="{A7575F46-1774-4E63-8801-228A17B37F4A}"/>
              </a:ext>
            </a:extLst>
          </p:cNvPr>
          <p:cNvSpPr>
            <a:spLocks xmlns:a="http://schemas.openxmlformats.org/drawingml/2006/main" noGrp="1"/>
          </p:cNvSpPr>
          <p:nvPr/>
        </p:nvSpPr>
        <p:spPr>
          <a:xfrm xmlns:a="http://schemas.openxmlformats.org/drawingml/2006/main">
            <a:off x="742950" y="19716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audio and language selection</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recognized text with timestamps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The adapter receives no free-text prompt.</a:t>
            </a:r>
          </a:p>
        </p:txBody>
      </p:sp>
      <p:sp>
        <p:nvSpPr>
          <p:cNvPr id="4" name="">
            <a:extLst xmlns:a="http://schemas.openxmlformats.org/drawingml/2006/main">
              <a:ext uri="{FF2B5EF4-FFF2-40B4-BE49-F238E27FC236}">
                <a16:creationId xmlns:a16="http://schemas.microsoft.com/office/drawing/2014/main" id="{9EAC9A81-0051-41F2-8E13-C504227A65B9}"/>
              </a:ext>
            </a:extLst>
          </p:cNvPr>
          <p:cNvSpPr>
            <a:spLocks xmlns:a="http://schemas.openxmlformats.org/drawingml/2006/main" noGrp="1"/>
          </p:cNvSpPr>
          <p:nvPr/>
        </p:nvSpPr>
        <p:spPr>
          <a:xfrm xmlns:a="http://schemas.openxmlformats.org/drawingml/2006/main">
            <a:off x="742950" y="33337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Diarizer: FluidAudio</a:t>
            </a:r>
          </a:p>
        </p:txBody>
      </p:sp>
      <p:sp>
        <p:nvSpPr>
          <p:cNvPr id="5" name="">
            <a:extLst xmlns:a="http://schemas.openxmlformats.org/drawingml/2006/main">
              <a:ext uri="{FF2B5EF4-FFF2-40B4-BE49-F238E27FC236}">
                <a16:creationId xmlns:a16="http://schemas.microsoft.com/office/drawing/2014/main" id="{BDE4409A-0C23-4054-8441-A2CAEC3C53E2}"/>
              </a:ext>
            </a:extLst>
          </p:cNvPr>
          <p:cNvSpPr>
            <a:spLocks xmlns:a="http://schemas.openxmlformats.org/drawingml/2006/main" noGrp="1"/>
          </p:cNvSpPr>
          <p:nvPr/>
        </p:nvSpPr>
        <p:spPr>
          <a:xfrm xmlns:a="http://schemas.openxmlformats.org/drawingml/2006/main">
            <a:off x="742950" y="381952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the recording</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anonymous voice turns S1/S2/S3</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This separate speech model finds speakers.</a:t>
            </a:r>
          </a:p>
        </p:txBody>
      </p:sp>
      <p:sp>
        <p:nvSpPr>
          <p:cNvPr id="6" name="">
            <a:extLst xmlns:a="http://schemas.openxmlformats.org/drawingml/2006/main">
              <a:ext uri="{FF2B5EF4-FFF2-40B4-BE49-F238E27FC236}">
                <a16:creationId xmlns:a16="http://schemas.microsoft.com/office/drawing/2014/main" id="{3B6924CC-0EFD-4FCE-A08A-86CDC3F01ED5}"/>
              </a:ext>
            </a:extLst>
          </p:cNvPr>
          <p:cNvSpPr>
            <a:spLocks xmlns:a="http://schemas.openxmlformats.org/drawingml/2006/main" noGrp="1"/>
          </p:cNvSpPr>
          <p:nvPr/>
        </p:nvSpPr>
        <p:spPr>
          <a:xfrm xmlns:a="http://schemas.openxmlformats.org/drawingml/2006/main">
            <a:off x="6315075" y="14763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LLM: Qwen through MLX</a:t>
            </a:r>
          </a:p>
        </p:txBody>
      </p:sp>
      <p:sp>
        <p:nvSpPr>
          <p:cNvPr id="7" name="">
            <a:extLst xmlns:a="http://schemas.openxmlformats.org/drawingml/2006/main">
              <a:ext uri="{FF2B5EF4-FFF2-40B4-BE49-F238E27FC236}">
                <a16:creationId xmlns:a16="http://schemas.microsoft.com/office/drawing/2014/main" id="{445601E1-B92D-4684-82BC-1F6E70F0037F}"/>
              </a:ext>
            </a:extLst>
          </p:cNvPr>
          <p:cNvSpPr>
            <a:spLocks xmlns:a="http://schemas.openxmlformats.org/drawingml/2006/main" noGrp="1"/>
          </p:cNvSpPr>
          <p:nvPr/>
        </p:nvSpPr>
        <p:spPr>
          <a:xfrm xmlns:a="http://schemas.openxmlformats.org/drawingml/2006/main">
            <a:off x="6315075" y="1971675"/>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prepared transcript and source IDs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Exact prompt openings:</a:t>
            </a:r>
          </a:p>
          <a:p xmlns:a="http://schemas.openxmlformats.org/drawingml/2006/main">
            <a:r>
              <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“Identify distinct substantive meeting topics...”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“Assign EVERY utterance...”</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“Summarize the topic...”</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“Extract only explicit decisions...”</a:t>
            </a:r>
          </a:p>
        </p:txBody>
      </p:sp>
      <p:sp>
        <p:nvSpPr>
          <p:cNvPr id="8" name="">
            <a:extLst xmlns:a="http://schemas.openxmlformats.org/drawingml/2006/main">
              <a:ext uri="{FF2B5EF4-FFF2-40B4-BE49-F238E27FC236}">
                <a16:creationId xmlns:a16="http://schemas.microsoft.com/office/drawing/2014/main" id="{1B9A5577-7178-408A-AD6B-188E92B5F9A6}"/>
              </a:ext>
            </a:extLst>
          </p:cNvPr>
          <p:cNvSpPr>
            <a:spLocks xmlns:a="http://schemas.openxmlformats.org/drawingml/2006/main" noGrp="1"/>
          </p:cNvSpPr>
          <p:nvPr/>
        </p:nvSpPr>
        <p:spPr>
          <a:xfrm xmlns:a="http://schemas.openxmlformats.org/drawingml/2006/main">
            <a:off x="742950" y="52673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Swift builds the reading turns and validates model JSON.</a:t>
            </a:r>
          </a:p>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A person checks uncertain audio, speaker identity and the meaning of draft claims.</a:t>
            </a:r>
          </a:p>
        </p:txBody>
      </p:sp>
      <p:sp>
        <p:nvSpPr>
          <p:cNvPr id="9" name="">
            <a:extLst xmlns:a="http://schemas.openxmlformats.org/drawingml/2006/main">
              <a:ext uri="{FF2B5EF4-FFF2-40B4-BE49-F238E27FC236}">
                <a16:creationId xmlns:a16="http://schemas.microsoft.com/office/drawing/2014/main" id="{7F3E084B-6EC5-4AAB-A96E-DF3217CEC1DA}"/>
              </a:ext>
            </a:extLst>
          </p:cNvPr>
          <p:cNvSpPr>
            <a:spLocks xmlns:a="http://schemas.openxmlformats.org/drawingml/2006/main" noGrp="1"/>
          </p:cNvSpPr>
          <p:nvPr/>
        </p:nvSpPr>
        <p:spPr>
          <a:xfrm xmlns:a="http://schemas.openxmlformats.org/drawingml/2006/main">
            <a:off x="742950" y="6286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Full prompts and interactions: Sprint 2 implementation record and captured model traces.</a:t>
            </a:r>
          </a:p>
        </p:txBody>
      </p:sp>
    </p:spTree>
    <p:extLst>
      <p:ext uri="{BB962C8B-B14F-4D97-AF65-F5344CB8AC3E}">
        <p14:creationId xmlns:p14="http://schemas.microsoft.com/office/powerpoint/2010/main" val="156513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496E3-1448-490F-8D0B-E8B0D3F5F888}"/>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The real meeting inputs</a:t>
            </a:r>
          </a:p>
        </p:txBody>
      </p:sp>
      <p:sp>
        <p:nvSpPr>
          <p:cNvPr id="2" name="">
            <a:extLst xmlns:a="http://schemas.openxmlformats.org/drawingml/2006/main">
              <a:ext uri="{FF2B5EF4-FFF2-40B4-BE49-F238E27FC236}">
                <a16:creationId xmlns:a16="http://schemas.microsoft.com/office/drawing/2014/main" id="{4B8B40A0-EA96-4C04-8F13-F1CC204BD5EF}"/>
              </a:ext>
            </a:extLst>
          </p:cNvPr>
          <p:cNvSpPr>
            <a:spLocks xmlns:a="http://schemas.openxmlformats.org/drawingml/2006/main" noGrp="1"/>
          </p:cNvSpPr>
          <p:nvPr/>
        </p:nvSpPr>
        <p:spPr>
          <a:xfrm xmlns:a="http://schemas.openxmlformats.org/drawingml/2006/main">
            <a:off x="79057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English: AMI ES2002a</a:t>
            </a:r>
          </a:p>
        </p:txBody>
      </p:sp>
      <p:sp>
        <p:nvSpPr>
          <p:cNvPr id="3" name="">
            <a:extLst xmlns:a="http://schemas.openxmlformats.org/drawingml/2006/main">
              <a:ext uri="{FF2B5EF4-FFF2-40B4-BE49-F238E27FC236}">
                <a16:creationId xmlns:a16="http://schemas.microsoft.com/office/drawing/2014/main" id="{54F268F6-2725-4068-AD33-3BF33A898382}"/>
              </a:ext>
            </a:extLst>
          </p:cNvPr>
          <p:cNvSpPr>
            <a:spLocks xmlns:a="http://schemas.openxmlformats.org/drawingml/2006/main" noGrp="1"/>
          </p:cNvSpPr>
          <p:nvPr/>
        </p:nvSpPr>
        <p:spPr>
          <a:xfrm xmlns:a="http://schemas.openxmlformats.org/drawingml/2006/main">
            <a:off x="790575" y="21145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A multi-person design meeting. One participant wore the headset poorly, giving us a real weak-audio case.</a:t>
            </a:r>
          </a:p>
        </p:txBody>
      </p:sp>
      <p:sp>
        <p:nvSpPr>
          <p:cNvPr id="4" name="">
            <a:extLst xmlns:a="http://schemas.openxmlformats.org/drawingml/2006/main">
              <a:ext uri="{FF2B5EF4-FFF2-40B4-BE49-F238E27FC236}">
                <a16:creationId xmlns:a16="http://schemas.microsoft.com/office/drawing/2014/main" id="{12104901-F9B4-46EF-A601-76261155D483}"/>
              </a:ext>
            </a:extLst>
          </p:cNvPr>
          <p:cNvSpPr>
            <a:spLocks xmlns:a="http://schemas.openxmlformats.org/drawingml/2006/main" noGrp="1"/>
          </p:cNvSpPr>
          <p:nvPr/>
        </p:nvSpPr>
        <p:spPr>
          <a:xfrm xmlns:a="http://schemas.openxmlformats.org/drawingml/2006/main">
            <a:off x="790575" y="35528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Polish: Sejm committee sitting 39</a:t>
            </a:r>
          </a:p>
        </p:txBody>
      </p:sp>
      <p:sp>
        <p:nvSpPr>
          <p:cNvPr id="5" name="">
            <a:extLst xmlns:a="http://schemas.openxmlformats.org/drawingml/2006/main">
              <a:ext uri="{FF2B5EF4-FFF2-40B4-BE49-F238E27FC236}">
                <a16:creationId xmlns:a16="http://schemas.microsoft.com/office/drawing/2014/main" id="{C90EE64F-B78B-48E6-BEF9-7C5BA8980BAA}"/>
              </a:ext>
            </a:extLst>
          </p:cNvPr>
          <p:cNvSpPr>
            <a:spLocks xmlns:a="http://schemas.openxmlformats.org/drawingml/2006/main" noGrp="1"/>
          </p:cNvSpPr>
          <p:nvPr/>
        </p:nvSpPr>
        <p:spPr>
          <a:xfrm xmlns:a="http://schemas.openxmlformats.org/drawingml/2006/main">
            <a:off x="790575" y="4114800"/>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Ten minutes of a public budget discussion, with an official sitting PDF for checking the transcript and decision.</a:t>
            </a:r>
          </a:p>
        </p:txBody>
      </p:sp>
      <p:sp>
        <p:nvSpPr>
          <p:cNvPr id="6" name="">
            <a:extLst xmlns:a="http://schemas.openxmlformats.org/drawingml/2006/main">
              <a:ext uri="{FF2B5EF4-FFF2-40B4-BE49-F238E27FC236}">
                <a16:creationId xmlns:a16="http://schemas.microsoft.com/office/drawing/2014/main" id="{BB945DF8-4759-4B80-B985-33A5A520658B}"/>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operator starts from a fresh local store. Full audio sources and hashes are in the fixture records.</a:t>
            </a:r>
          </a:p>
        </p:txBody>
      </p:sp>
    </p:spTree>
    <p:extLst>
      <p:ext uri="{BB962C8B-B14F-4D97-AF65-F5344CB8AC3E}">
        <p14:creationId xmlns:p14="http://schemas.microsoft.com/office/powerpoint/2010/main" val="92454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A7B59-2306-4E35-BCC9-D291BCB645E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Polish transcription: meeting content is visible</a:t>
            </a:r>
          </a:p>
        </p:txBody>
      </p:sp>
      <p:sp>
        <p:nvSpPr>
          <p:cNvPr id="2" name="">
            <a:extLst xmlns:a="http://schemas.openxmlformats.org/drawingml/2006/main">
              <a:ext uri="{FF2B5EF4-FFF2-40B4-BE49-F238E27FC236}">
                <a16:creationId xmlns:a16="http://schemas.microsoft.com/office/drawing/2014/main" id="{3446FDC9-29AA-464E-B230-96B9C37BB127}"/>
              </a:ext>
            </a:extLst>
          </p:cNvPr>
          <p:cNvSpPr>
            <a:spLocks xmlns:a="http://schemas.openxmlformats.org/drawingml/2006/main" noGrp="1"/>
          </p:cNvSpPr>
          <p:nvPr/>
        </p:nvSpPr>
        <p:spPr>
          <a:xfrm xmlns:a="http://schemas.openxmlformats.org/drawingml/2006/main">
            <a:off x="790575" y="147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662A5"/>
                </a:solidFill>
                <a:latin typeface="Helvetica Neue"/>
                <a:ea typeface="Helvetica Neue"/>
                <a:cs typeface="Helvetica Neue"/>
              </a:defRPr>
            </a:pPr>
            <a:r>
              <a:rPr sz="1950" b="1">
                <a:solidFill>
                  <a:srgbClr val="1662A5"/>
                </a:solidFill>
                <a:latin typeface="Helvetica Neue"/>
                <a:ea typeface="Helvetica Neue"/>
                <a:cs typeface="Helvetica Neue"/>
              </a:rPr>
              <a:t>Saved transcript around 181–220 seconds</a:t>
            </a:r>
          </a:p>
        </p:txBody>
      </p:sp>
      <p:sp>
        <p:nvSpPr>
          <p:cNvPr id="3" name="">
            <a:extLst xmlns:a="http://schemas.openxmlformats.org/drawingml/2006/main">
              <a:ext uri="{FF2B5EF4-FFF2-40B4-BE49-F238E27FC236}">
                <a16:creationId xmlns:a16="http://schemas.microsoft.com/office/drawing/2014/main" id="{E438258D-171E-407E-82AC-A2B64E296F51}"/>
              </a:ext>
            </a:extLst>
          </p:cNvPr>
          <p:cNvSpPr>
            <a:spLocks xmlns:a="http://schemas.openxmlformats.org/drawingml/2006/main" noGrp="1"/>
          </p:cNvSpPr>
          <p:nvPr/>
        </p:nvSpPr>
        <p:spPr>
          <a:xfrm xmlns:a="http://schemas.openxmlformats.org/drawingml/2006/main">
            <a:off x="790575" y="207645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“Otwieram posiedzenie Komisji Gospodarki Rozwoju, stwierdzam kworum.”</a:t>
            </a:r>
          </a:p>
        </p:txBody>
      </p:sp>
      <p:sp>
        <p:nvSpPr>
          <p:cNvPr id="4" name="">
            <a:extLst xmlns:a="http://schemas.openxmlformats.org/drawingml/2006/main">
              <a:ext uri="{FF2B5EF4-FFF2-40B4-BE49-F238E27FC236}">
                <a16:creationId xmlns:a16="http://schemas.microsoft.com/office/drawing/2014/main" id="{16FF4F50-F160-4EC9-A74B-85C3B2DF0FE3}"/>
              </a:ext>
            </a:extLst>
          </p:cNvPr>
          <p:cNvSpPr>
            <a:spLocks xmlns:a="http://schemas.openxmlformats.org/drawingml/2006/main" noGrp="1"/>
          </p:cNvSpPr>
          <p:nvPr/>
        </p:nvSpPr>
        <p:spPr>
          <a:xfrm xmlns:a="http://schemas.openxmlformats.org/drawingml/2006/main">
            <a:off x="790575" y="31527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The record then follows the 2025 budget agenda and invites Ignacy Niemczycki to present.</a:t>
            </a:r>
          </a:p>
        </p:txBody>
      </p:sp>
      <p:sp>
        <p:nvSpPr>
          <p:cNvPr id="5" name="">
            <a:extLst xmlns:a="http://schemas.openxmlformats.org/drawingml/2006/main">
              <a:ext uri="{FF2B5EF4-FFF2-40B4-BE49-F238E27FC236}">
                <a16:creationId xmlns:a16="http://schemas.microsoft.com/office/drawing/2014/main" id="{C9EDFE02-951A-4CDA-A2D2-50815A686EDE}"/>
              </a:ext>
            </a:extLst>
          </p:cNvPr>
          <p:cNvSpPr>
            <a:spLocks xmlns:a="http://schemas.openxmlformats.org/drawingml/2006/main" noGrp="1"/>
          </p:cNvSpPr>
          <p:nvPr/>
        </p:nvSpPr>
        <p:spPr>
          <a:xfrm xmlns:a="http://schemas.openxmlformats.org/drawingml/2006/main">
            <a:off x="790575" y="4467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36952"/>
                </a:solidFill>
                <a:latin typeface="Helvetica Neue"/>
                <a:ea typeface="Helvetica Neue"/>
                <a:cs typeface="Helvetica Neue"/>
              </a:defRPr>
            </a:pPr>
            <a:r>
              <a:rPr sz="2100" b="1">
                <a:solidFill>
                  <a:srgbClr val="236952"/>
                </a:solidFill>
                <a:latin typeface="Helvetica Neue"/>
                <a:ea typeface="Helvetica Neue"/>
                <a:cs typeface="Helvetica Neue"/>
              </a:rPr>
              <a:t>PDF check</a:t>
            </a:r>
          </a:p>
        </p:txBody>
      </p:sp>
      <p:sp>
        <p:nvSpPr>
          <p:cNvPr id="6" name="">
            <a:extLst xmlns:a="http://schemas.openxmlformats.org/drawingml/2006/main">
              <a:ext uri="{FF2B5EF4-FFF2-40B4-BE49-F238E27FC236}">
                <a16:creationId xmlns:a16="http://schemas.microsoft.com/office/drawing/2014/main" id="{9AA5030F-C8C1-4D80-8D65-93E96E89608D}"/>
              </a:ext>
            </a:extLst>
          </p:cNvPr>
          <p:cNvSpPr>
            <a:spLocks xmlns:a="http://schemas.openxmlformats.org/drawingml/2006/main" noGrp="1"/>
          </p:cNvSpPr>
          <p:nvPr/>
        </p:nvSpPr>
        <p:spPr>
          <a:xfrm xmlns:a="http://schemas.openxmlformats.org/drawingml/2006/main">
            <a:off x="790575" y="49625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The main turns and positive-opinion decision are recognizable. Names, acronyms and numerical units still need human correction.</a:t>
            </a:r>
          </a:p>
        </p:txBody>
      </p:sp>
      <p:sp>
        <p:nvSpPr>
          <p:cNvPr id="7" name="">
            <a:extLst xmlns:a="http://schemas.openxmlformats.org/drawingml/2006/main">
              <a:ext uri="{FF2B5EF4-FFF2-40B4-BE49-F238E27FC236}">
                <a16:creationId xmlns:a16="http://schemas.microsoft.com/office/drawing/2014/main" id="{D26E3481-E995-4B73-9A37-05F868616D10}"/>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usable review transcript, not an authoritative verbatim record.</a:t>
            </a:r>
          </a:p>
        </p:txBody>
      </p:sp>
    </p:spTree>
    <p:extLst>
      <p:ext uri="{BB962C8B-B14F-4D97-AF65-F5344CB8AC3E}">
        <p14:creationId xmlns:p14="http://schemas.microsoft.com/office/powerpoint/2010/main" val="379945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63852-797E-4298-A870-4B5409C095C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Weak audio leads to a specific source range</a:t>
            </a:r>
          </a:p>
        </p:txBody>
      </p:sp>
      <p:sp>
        <p:nvSpPr>
          <p:cNvPr id="2" name="">
            <a:extLst xmlns:a="http://schemas.openxmlformats.org/drawingml/2006/main">
              <a:ext uri="{FF2B5EF4-FFF2-40B4-BE49-F238E27FC236}">
                <a16:creationId xmlns:a16="http://schemas.microsoft.com/office/drawing/2014/main" id="{4AABB58D-8707-404B-B889-D951E1BE5A34}"/>
              </a:ext>
            </a:extLst>
          </p:cNvPr>
          <p:cNvSpPr>
            <a:spLocks xmlns:a="http://schemas.openxmlformats.org/drawingml/2006/main" noGrp="1"/>
          </p:cNvSpPr>
          <p:nvPr/>
        </p:nvSpPr>
        <p:spPr>
          <a:xfrm xmlns:a="http://schemas.openxmlformats.org/drawingml/2006/main">
            <a:off x="790575" y="14668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Saved warning</a:t>
            </a:r>
          </a:p>
        </p:txBody>
      </p:sp>
      <p:sp>
        <p:nvSpPr>
          <p:cNvPr id="3" name="">
            <a:extLst xmlns:a="http://schemas.openxmlformats.org/drawingml/2006/main">
              <a:ext uri="{FF2B5EF4-FFF2-40B4-BE49-F238E27FC236}">
                <a16:creationId xmlns:a16="http://schemas.microsoft.com/office/drawing/2014/main" id="{1A91D9FC-B933-440E-8A02-9765E16B59F0}"/>
              </a:ext>
            </a:extLst>
          </p:cNvPr>
          <p:cNvSpPr>
            <a:spLocks xmlns:a="http://schemas.openxmlformats.org/drawingml/2006/main" noGrp="1"/>
          </p:cNvSpPr>
          <p:nvPr/>
        </p:nvSpPr>
        <p:spPr>
          <a:xfrm xmlns:a="http://schemas.openxmlformats.org/drawingml/2006/main">
            <a:off x="790575" y="20478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42536"/>
                </a:solidFill>
                <a:latin typeface="Helvetica Neue"/>
                <a:ea typeface="Helvetica Neue"/>
                <a:cs typeface="Helvetica Neue"/>
              </a:defRPr>
            </a:pPr>
            <a:r>
              <a:rPr sz="2550" b="1">
                <a:solidFill>
                  <a:srgbClr val="142536"/>
                </a:solidFill>
                <a:latin typeface="Helvetica Neue"/>
                <a:ea typeface="Helvetica Neue"/>
                <a:cs typeface="Helvetica Neue"/>
              </a:rPr>
              <a:t>Speaker cluster S3 · 19.32–20.36 seconds</a:t>
            </a:r>
          </a:p>
        </p:txBody>
      </p:sp>
      <p:sp>
        <p:nvSpPr>
          <p:cNvPr id="4" name="">
            <a:extLst xmlns:a="http://schemas.openxmlformats.org/drawingml/2006/main">
              <a:ext uri="{FF2B5EF4-FFF2-40B4-BE49-F238E27FC236}">
                <a16:creationId xmlns:a16="http://schemas.microsoft.com/office/drawing/2014/main" id="{D6D37B8E-6DF6-4BF6-8F8E-E2EC6CC6C247}"/>
              </a:ext>
            </a:extLst>
          </p:cNvPr>
          <p:cNvSpPr>
            <a:spLocks xmlns:a="http://schemas.openxmlformats.org/drawingml/2006/main" noGrp="1"/>
          </p:cNvSpPr>
          <p:nvPr/>
        </p:nvSpPr>
        <p:spPr>
          <a:xfrm xmlns:a="http://schemas.openxmlformats.org/drawingml/2006/main">
            <a:off x="790575" y="275272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“Low speech level relative to other detected speakers; review source audio”</a:t>
            </a:r>
          </a:p>
        </p:txBody>
      </p:sp>
      <p:sp>
        <p:nvSpPr>
          <p:cNvPr id="5" name="">
            <a:extLst xmlns:a="http://schemas.openxmlformats.org/drawingml/2006/main">
              <a:ext uri="{FF2B5EF4-FFF2-40B4-BE49-F238E27FC236}">
                <a16:creationId xmlns:a16="http://schemas.microsoft.com/office/drawing/2014/main" id="{B5F80A3F-B00A-4B60-AA6B-76C227148A55}"/>
              </a:ext>
            </a:extLst>
          </p:cNvPr>
          <p:cNvSpPr>
            <a:spLocks xmlns:a="http://schemas.openxmlformats.org/drawingml/2006/main" noGrp="1"/>
          </p:cNvSpPr>
          <p:nvPr/>
        </p:nvSpPr>
        <p:spPr>
          <a:xfrm xmlns:a="http://schemas.openxmlformats.org/drawingml/2006/main">
            <a:off x="790575" y="41719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Nearby saved transcript</a:t>
            </a:r>
          </a:p>
        </p:txBody>
      </p:sp>
      <p:sp>
        <p:nvSpPr>
          <p:cNvPr id="6" name="">
            <a:extLst xmlns:a="http://schemas.openxmlformats.org/drawingml/2006/main">
              <a:ext uri="{FF2B5EF4-FFF2-40B4-BE49-F238E27FC236}">
                <a16:creationId xmlns:a16="http://schemas.microsoft.com/office/drawing/2014/main" id="{FB3237AB-1245-443A-B253-3E463535B152}"/>
              </a:ext>
            </a:extLst>
          </p:cNvPr>
          <p:cNvSpPr>
            <a:spLocks xmlns:a="http://schemas.openxmlformats.org/drawingml/2006/main" noGrp="1"/>
          </p:cNvSpPr>
          <p:nvPr/>
        </p:nvSpPr>
        <p:spPr>
          <a:xfrm xmlns:a="http://schemas.openxmlformats.org/drawingml/2006/main">
            <a:off x="790575" y="46958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“…how do you make this thing work? Maybe then… sorry.”</a:t>
            </a:r>
          </a:p>
        </p:txBody>
      </p:sp>
      <p:sp>
        <p:nvSpPr>
          <p:cNvPr id="7" name="">
            <a:extLst xmlns:a="http://schemas.openxmlformats.org/drawingml/2006/main">
              <a:ext uri="{FF2B5EF4-FFF2-40B4-BE49-F238E27FC236}">
                <a16:creationId xmlns:a16="http://schemas.microsoft.com/office/drawing/2014/main" id="{79E30374-1452-474E-832E-DEDCB6726B72}"/>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Review the source audio at this range. S3 merges two reference people, so it cannot identify the affected person.</a:t>
            </a:r>
          </a:p>
        </p:txBody>
      </p:sp>
    </p:spTree>
    <p:extLst>
      <p:ext uri="{BB962C8B-B14F-4D97-AF65-F5344CB8AC3E}">
        <p14:creationId xmlns:p14="http://schemas.microsoft.com/office/powerpoint/2010/main" val="1564538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7CC40-EB9C-4733-96A8-D3DF5FDE671B}"/>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Operator review: a real Polish source range</a:t>
            </a:r>
          </a:p>
        </p:txBody>
      </p:sp>
      <p:sp>
        <p:nvSpPr>
          <p:cNvPr id="2" name="">
            <a:extLst xmlns:a="http://schemas.openxmlformats.org/drawingml/2006/main">
              <a:ext uri="{FF2B5EF4-FFF2-40B4-BE49-F238E27FC236}">
                <a16:creationId xmlns:a16="http://schemas.microsoft.com/office/drawing/2014/main" id="{A240A51D-6FE3-423D-89BF-33FDDF442AF9}"/>
              </a:ext>
            </a:extLst>
          </p:cNvPr>
          <p:cNvSpPr>
            <a:spLocks xmlns:a="http://schemas.openxmlformats.org/drawingml/2006/main" noGrp="1"/>
          </p:cNvSpPr>
          <p:nvPr/>
        </p:nvSpPr>
        <p:spPr>
          <a:xfrm xmlns:a="http://schemas.openxmlformats.org/drawingml/2006/main">
            <a:off x="714375" y="11906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Helvetica Neue"/>
                <a:ea typeface="Helvetica Neue"/>
                <a:cs typeface="Helvetica Neue"/>
              </a:defRPr>
            </a:pPr>
            <a:r>
              <a:rPr sz="1650" b="0">
                <a:solidFill>
                  <a:srgbClr val="475569"/>
                </a:solidFill>
                <a:latin typeface="Helvetica Neue"/>
                <a:ea typeface="Helvetica Neue"/>
                <a:cs typeface="Helvetica Neue"/>
              </a:rPr>
              <a:t>Sejm record • 565.36–569.04 seconds</a:t>
            </a:r>
          </a:p>
        </p:txBody>
      </p:sp>
      <p:sp>
        <p:nvSpPr>
          <p:cNvPr id="3" name="">
            <a:extLst xmlns:a="http://schemas.openxmlformats.org/drawingml/2006/main">
              <a:ext uri="{FF2B5EF4-FFF2-40B4-BE49-F238E27FC236}">
                <a16:creationId xmlns:a16="http://schemas.microsoft.com/office/drawing/2014/main" id="{641F0985-9671-4396-98F7-9AE69FD9E1F0}"/>
              </a:ext>
            </a:extLst>
          </p:cNvPr>
          <p:cNvSpPr>
            <a:spLocks xmlns:a="http://schemas.openxmlformats.org/drawingml/2006/main" noGrp="1"/>
          </p:cNvSpPr>
          <p:nvPr/>
        </p:nvSpPr>
        <p:spPr>
          <a:xfrm xmlns:a="http://schemas.openxmlformats.org/drawingml/2006/main">
            <a:off x="714375" y="2047875"/>
            <a:ext cx="4953000" cy="2238375"/>
          </a:xfrm>
          <a:prstGeom xmlns:a="http://schemas.openxmlformats.org/drawingml/2006/main" prst="roundRect">
            <a:avLst>
              <a:gd name="adj" fmla="val 3404"/>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FEBE233-8C19-4A23-9B21-3F5B312AF1B3}"/>
              </a:ext>
            </a:extLst>
          </p:cNvPr>
          <p:cNvSpPr>
            <a:spLocks xmlns:a="http://schemas.openxmlformats.org/drawingml/2006/main" noGrp="1"/>
          </p:cNvSpPr>
          <p:nvPr/>
        </p:nvSpPr>
        <p:spPr>
          <a:xfrm xmlns:a="http://schemas.openxmlformats.org/drawingml/2006/main">
            <a:off x="88582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Original saved ASR</a:t>
            </a:r>
          </a:p>
        </p:txBody>
      </p:sp>
      <p:sp>
        <p:nvSpPr>
          <p:cNvPr id="5" name="">
            <a:extLst xmlns:a="http://schemas.openxmlformats.org/drawingml/2006/main">
              <a:ext uri="{FF2B5EF4-FFF2-40B4-BE49-F238E27FC236}">
                <a16:creationId xmlns:a16="http://schemas.microsoft.com/office/drawing/2014/main" id="{2F27265A-08E8-4705-9E7D-B6D7838B97D4}"/>
              </a:ext>
            </a:extLst>
          </p:cNvPr>
          <p:cNvSpPr>
            <a:spLocks xmlns:a="http://schemas.openxmlformats.org/drawingml/2006/main" noGrp="1"/>
          </p:cNvSpPr>
          <p:nvPr/>
        </p:nvSpPr>
        <p:spPr>
          <a:xfrm xmlns:a="http://schemas.openxmlformats.org/drawingml/2006/main">
            <a:off x="88582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segment_758–761 · Unassigned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“przedstawienie tej tego budżetu”</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Original IDs, times and labels remain saved.</a:t>
            </a:r>
          </a:p>
        </p:txBody>
      </p:sp>
      <p:sp>
        <p:nvSpPr>
          <p:cNvPr id="6" name="">
            <a:extLst xmlns:a="http://schemas.openxmlformats.org/drawingml/2006/main">
              <a:ext uri="{FF2B5EF4-FFF2-40B4-BE49-F238E27FC236}">
                <a16:creationId xmlns:a16="http://schemas.microsoft.com/office/drawing/2014/main" id="{8E8F9522-2AC7-4A3A-9F57-B102D68BF5BA}"/>
              </a:ext>
            </a:extLst>
          </p:cNvPr>
          <p:cNvSpPr>
            <a:spLocks xmlns:a="http://schemas.openxmlformats.org/drawingml/2006/main" noGrp="1"/>
          </p:cNvSpPr>
          <p:nvPr/>
        </p:nvSpPr>
        <p:spPr>
          <a:xfrm xmlns:a="http://schemas.openxmlformats.org/drawingml/2006/main">
            <a:off x="5867400" y="2762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769AA"/>
                </a:solidFill>
                <a:latin typeface="Helvetica Neue"/>
                <a:ea typeface="Helvetica Neue"/>
                <a:cs typeface="Helvetica Neue"/>
              </a:defRPr>
            </a:pPr>
            <a:r>
              <a:rPr sz="3150" b="1">
                <a:solidFill>
                  <a:srgbClr val="1769AA"/>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DA6DD64D-3AED-4F11-B653-223BEB4AF2CE}"/>
              </a:ext>
            </a:extLst>
          </p:cNvPr>
          <p:cNvSpPr>
            <a:spLocks xmlns:a="http://schemas.openxmlformats.org/drawingml/2006/main" noGrp="1"/>
          </p:cNvSpPr>
          <p:nvPr/>
        </p:nvSpPr>
        <p:spPr>
          <a:xfrm xmlns:a="http://schemas.openxmlformats.org/drawingml/2006/main">
            <a:off x="6524625" y="2047875"/>
            <a:ext cx="4953000" cy="2238375"/>
          </a:xfrm>
          <a:prstGeom xmlns:a="http://schemas.openxmlformats.org/drawingml/2006/main" prst="roundRect">
            <a:avLst>
              <a:gd name="adj" fmla="val 3404"/>
            </a:avLst>
          </a:prstGeom>
          <a:solidFill xmlns:a="http://schemas.openxmlformats.org/drawingml/2006/main">
            <a:srgbClr val="EFF6FF"/>
          </a:solidFill>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6A86D219-848C-4257-BC8D-23094AE59111}"/>
              </a:ext>
            </a:extLst>
          </p:cNvPr>
          <p:cNvSpPr>
            <a:spLocks xmlns:a="http://schemas.openxmlformats.org/drawingml/2006/main" noGrp="1"/>
          </p:cNvSpPr>
          <p:nvPr/>
        </p:nvSpPr>
        <p:spPr>
          <a:xfrm xmlns:a="http://schemas.openxmlformats.org/drawingml/2006/main">
            <a:off x="669607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Reading-view proposal</a:t>
            </a:r>
          </a:p>
        </p:txBody>
      </p:sp>
      <p:sp>
        <p:nvSpPr>
          <p:cNvPr id="9" name="">
            <a:extLst xmlns:a="http://schemas.openxmlformats.org/drawingml/2006/main">
              <a:ext uri="{FF2B5EF4-FFF2-40B4-BE49-F238E27FC236}">
                <a16:creationId xmlns:a16="http://schemas.microsoft.com/office/drawing/2014/main" id="{22FFFFB4-7980-407A-91A3-345927398F46}"/>
              </a:ext>
            </a:extLst>
          </p:cNvPr>
          <p:cNvSpPr>
            <a:spLocks xmlns:a="http://schemas.openxmlformats.org/drawingml/2006/main" noGrp="1"/>
          </p:cNvSpPr>
          <p:nvPr/>
        </p:nvSpPr>
        <p:spPr>
          <a:xfrm xmlns:a="http://schemas.openxmlformats.org/drawingml/2006/main">
            <a:off x="669607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utt_30 · proposed S1 continuation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Joined to the preceding chair turn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16 joins proposed; 32 utterances formed.</a:t>
            </a:r>
          </a:p>
        </p:txBody>
      </p:sp>
      <p:sp>
        <p:nvSpPr>
          <p:cNvPr id="10" name="">
            <a:extLst xmlns:a="http://schemas.openxmlformats.org/drawingml/2006/main">
              <a:ext uri="{FF2B5EF4-FFF2-40B4-BE49-F238E27FC236}">
                <a16:creationId xmlns:a16="http://schemas.microsoft.com/office/drawing/2014/main" id="{15911C0D-7770-42AC-AE3F-E4589F0A90D7}"/>
              </a:ext>
            </a:extLst>
          </p:cNvPr>
          <p:cNvSpPr>
            <a:spLocks xmlns:a="http://schemas.openxmlformats.org/drawingml/2006/main" noGrp="1"/>
          </p:cNvSpPr>
          <p:nvPr/>
        </p:nvSpPr>
        <p:spPr>
          <a:xfrm xmlns:a="http://schemas.openxmlformats.org/drawingml/2006/main">
            <a:off x="714375" y="4810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The join is based on timing and neighboring labels. Listen to both turns before accepting speaker continuity.</a:t>
            </a:r>
          </a:p>
        </p:txBody>
      </p:sp>
      <p:sp>
        <p:nvSpPr>
          <p:cNvPr id="11" name="">
            <a:extLst xmlns:a="http://schemas.openxmlformats.org/drawingml/2006/main">
              <a:ext uri="{FF2B5EF4-FFF2-40B4-BE49-F238E27FC236}">
                <a16:creationId xmlns:a16="http://schemas.microsoft.com/office/drawing/2014/main" id="{9F0CA640-A6C5-4841-94C7-55EC892DD75B}"/>
              </a:ext>
            </a:extLst>
          </p:cNvPr>
          <p:cNvSpPr>
            <a:spLocks xmlns:a="http://schemas.openxmlformats.org/drawingml/2006/main" noGrp="1"/>
          </p:cNvSpPr>
          <p:nvPr/>
        </p:nvSpPr>
        <p:spPr>
          <a:xfrm xmlns:a="http://schemas.openxmlformats.org/drawingml/2006/main">
            <a:off x="714375" y="60388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Actual CLI output: tests/operator_cleanup_rehearsal_20261004.json. No audio-confirmed edit was saved.</a:t>
            </a:r>
          </a:p>
        </p:txBody>
      </p:sp>
    </p:spTree>
    <p:extLst>
      <p:ext uri="{BB962C8B-B14F-4D97-AF65-F5344CB8AC3E}">
        <p14:creationId xmlns:p14="http://schemas.microsoft.com/office/powerpoint/2010/main" val="6374520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2D9ADC-4857-4C62-9B3F-4552FB8BFD3D}"/>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Correction contract and live-review boundary</a:t>
            </a:r>
          </a:p>
        </p:txBody>
      </p:sp>
      <p:sp>
        <p:nvSpPr>
          <p:cNvPr id="2" name="">
            <a:extLst xmlns:a="http://schemas.openxmlformats.org/drawingml/2006/main">
              <a:ext uri="{FF2B5EF4-FFF2-40B4-BE49-F238E27FC236}">
                <a16:creationId xmlns:a16="http://schemas.microsoft.com/office/drawing/2014/main" id="{5BBA90F0-40A8-46B1-95C8-CC6A9811DAA7}"/>
              </a:ext>
            </a:extLst>
          </p:cNvPr>
          <p:cNvSpPr>
            <a:spLocks xmlns:a="http://schemas.openxmlformats.org/drawingml/2006/main" noGrp="1"/>
          </p:cNvSpPr>
          <p:nvPr/>
        </p:nvSpPr>
        <p:spPr>
          <a:xfrm xmlns:a="http://schemas.openxmlformats.org/drawingml/2006/main">
            <a:off x="714375" y="1619250"/>
            <a:ext cx="3286125" cy="2809875"/>
          </a:xfrm>
          <a:prstGeom xmlns:a="http://schemas.openxmlformats.org/drawingml/2006/main" prst="roundRect">
            <a:avLst>
              <a:gd name="adj" fmla="val 2712"/>
            </a:avLst>
          </a:prstGeom>
          <a:solidFill xmlns:a="http://schemas.openxmlformats.org/drawingml/2006/main">
            <a:srgbClr val="F1F5F9"/>
          </a:solidFill>
          <a:ln xmlns:a="http://schemas.openxmlformats.org/drawingml/2006/main" w="9525">
            <a:solidFill>
              <a:srgbClr val="CBD5E1"/>
            </a:solidFill>
          </a:ln>
        </p:spPr>
      </p:sp>
      <p:sp>
        <p:nvSpPr>
          <p:cNvPr id="3" name="">
            <a:extLst xmlns:a="http://schemas.openxmlformats.org/drawingml/2006/main">
              <a:ext uri="{FF2B5EF4-FFF2-40B4-BE49-F238E27FC236}">
                <a16:creationId xmlns:a16="http://schemas.microsoft.com/office/drawing/2014/main" id="{0E373779-75B6-478A-AE79-19346E1D6F20}"/>
              </a:ext>
            </a:extLst>
          </p:cNvPr>
          <p:cNvSpPr>
            <a:spLocks xmlns:a="http://schemas.openxmlformats.org/drawingml/2006/main" noGrp="1"/>
          </p:cNvSpPr>
          <p:nvPr/>
        </p:nvSpPr>
        <p:spPr>
          <a:xfrm xmlns:a="http://schemas.openxmlformats.org/drawingml/2006/main">
            <a:off x="8858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Real Sejm CLI guard</a:t>
            </a:r>
          </a:p>
        </p:txBody>
      </p:sp>
      <p:sp>
        <p:nvSpPr>
          <p:cNvPr id="4" name="">
            <a:extLst xmlns:a="http://schemas.openxmlformats.org/drawingml/2006/main">
              <a:ext uri="{FF2B5EF4-FFF2-40B4-BE49-F238E27FC236}">
                <a16:creationId xmlns:a16="http://schemas.microsoft.com/office/drawing/2014/main" id="{17B19ED1-209D-450D-A2C5-31658B681EB9}"/>
              </a:ext>
            </a:extLst>
          </p:cNvPr>
          <p:cNvSpPr>
            <a:spLocks xmlns:a="http://schemas.openxmlformats.org/drawingml/2006/main" noGrp="1"/>
          </p:cNvSpPr>
          <p:nvPr/>
        </p:nvSpPr>
        <p:spPr>
          <a:xfrm xmlns:a="http://schemas.openxmlformats.org/drawingml/2006/main">
            <a:off x="8858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Without --audio-reviewed yes: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exit 2.</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Record SHA-256 unchanged.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No correction saved.</a:t>
            </a:r>
          </a:p>
        </p:txBody>
      </p:sp>
      <p:sp>
        <p:nvSpPr>
          <p:cNvPr id="5" name="">
            <a:extLst xmlns:a="http://schemas.openxmlformats.org/drawingml/2006/main">
              <a:ext uri="{FF2B5EF4-FFF2-40B4-BE49-F238E27FC236}">
                <a16:creationId xmlns:a16="http://schemas.microsoft.com/office/drawing/2014/main" id="{42BC24E5-3B52-4C63-9962-5ED605FA31A2}"/>
              </a:ext>
            </a:extLst>
          </p:cNvPr>
          <p:cNvSpPr>
            <a:spLocks xmlns:a="http://schemas.openxmlformats.org/drawingml/2006/main" noGrp="1"/>
          </p:cNvSpPr>
          <p:nvPr/>
        </p:nvSpPr>
        <p:spPr>
          <a:xfrm xmlns:a="http://schemas.openxmlformats.org/drawingml/2006/main">
            <a:off x="4448175" y="1619250"/>
            <a:ext cx="3286125" cy="2809875"/>
          </a:xfrm>
          <a:prstGeom xmlns:a="http://schemas.openxmlformats.org/drawingml/2006/main" prst="roundRect">
            <a:avLst>
              <a:gd name="adj" fmla="val 2712"/>
            </a:avLst>
          </a:prstGeom>
          <a:solidFill xmlns:a="http://schemas.openxmlformats.org/drawingml/2006/main">
            <a:srgbClr val="EFF6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4E3B9CE8-7E6E-42DE-ACF8-7EE6C898AF92}"/>
              </a:ext>
            </a:extLst>
          </p:cNvPr>
          <p:cNvSpPr>
            <a:spLocks xmlns:a="http://schemas.openxmlformats.org/drawingml/2006/main" noGrp="1"/>
          </p:cNvSpPr>
          <p:nvPr/>
        </p:nvSpPr>
        <p:spPr>
          <a:xfrm xmlns:a="http://schemas.openxmlformats.org/drawingml/2006/main">
            <a:off x="46196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Controlled test only</a:t>
            </a:r>
          </a:p>
        </p:txBody>
      </p:sp>
      <p:sp>
        <p:nvSpPr>
          <p:cNvPr id="7" name="">
            <a:extLst xmlns:a="http://schemas.openxmlformats.org/drawingml/2006/main">
              <a:ext uri="{FF2B5EF4-FFF2-40B4-BE49-F238E27FC236}">
                <a16:creationId xmlns:a16="http://schemas.microsoft.com/office/drawing/2014/main" id="{480F2E3F-9AE9-4B28-B6AF-C6A1137C9FF4}"/>
              </a:ext>
            </a:extLst>
          </p:cNvPr>
          <p:cNvSpPr>
            <a:spLocks xmlns:a="http://schemas.openxmlformats.org/drawingml/2006/main" noGrp="1"/>
          </p:cNvSpPr>
          <p:nvPr/>
        </p:nvSpPr>
        <p:spPr>
          <a:xfrm xmlns:a="http://schemas.openxmlformats.org/drawingml/2006/main">
            <a:off x="46196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Raw: “thirty five million”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Reading: “thirty five billion”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Restore: original words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Two audit entries; raw retained.</a:t>
            </a:r>
          </a:p>
        </p:txBody>
      </p:sp>
      <p:sp>
        <p:nvSpPr>
          <p:cNvPr id="8" name="">
            <a:extLst xmlns:a="http://schemas.openxmlformats.org/drawingml/2006/main">
              <a:ext uri="{FF2B5EF4-FFF2-40B4-BE49-F238E27FC236}">
                <a16:creationId xmlns:a16="http://schemas.microsoft.com/office/drawing/2014/main" id="{DC632E1E-F549-4971-B0CB-BF7AF06A443E}"/>
              </a:ext>
            </a:extLst>
          </p:cNvPr>
          <p:cNvSpPr>
            <a:spLocks xmlns:a="http://schemas.openxmlformats.org/drawingml/2006/main" noGrp="1"/>
          </p:cNvSpPr>
          <p:nvPr/>
        </p:nvSpPr>
        <p:spPr>
          <a:xfrm xmlns:a="http://schemas.openxmlformats.org/drawingml/2006/main">
            <a:off x="8181975" y="1619250"/>
            <a:ext cx="3286125" cy="2809875"/>
          </a:xfrm>
          <a:prstGeom xmlns:a="http://schemas.openxmlformats.org/drawingml/2006/main" prst="roundRect">
            <a:avLst>
              <a:gd name="adj" fmla="val 2712"/>
            </a:avLst>
          </a:prstGeom>
          <a:solidFill xmlns:a="http://schemas.openxmlformats.org/drawingml/2006/main">
            <a:srgbClr val="FFF7ED"/>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C2B6BD40-ABEC-40BA-8AA9-609D8F65390B}"/>
              </a:ext>
            </a:extLst>
          </p:cNvPr>
          <p:cNvSpPr>
            <a:spLocks xmlns:a="http://schemas.openxmlformats.org/drawingml/2006/main" noGrp="1"/>
          </p:cNvSpPr>
          <p:nvPr/>
        </p:nvSpPr>
        <p:spPr>
          <a:xfrm xmlns:a="http://schemas.openxmlformats.org/drawingml/2006/main">
            <a:off x="83534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Pending with operator</a:t>
            </a:r>
          </a:p>
        </p:txBody>
      </p:sp>
      <p:sp>
        <p:nvSpPr>
          <p:cNvPr id="10" name="">
            <a:extLst xmlns:a="http://schemas.openxmlformats.org/drawingml/2006/main">
              <a:ext uri="{FF2B5EF4-FFF2-40B4-BE49-F238E27FC236}">
                <a16:creationId xmlns:a16="http://schemas.microsoft.com/office/drawing/2014/main" id="{BDE92EAF-0BE8-4CB4-895C-EE34ADF5EDA7}"/>
              </a:ext>
            </a:extLst>
          </p:cNvPr>
          <p:cNvSpPr>
            <a:spLocks xmlns:a="http://schemas.openxmlformats.org/drawingml/2006/main" noGrp="1"/>
          </p:cNvSpPr>
          <p:nvPr/>
        </p:nvSpPr>
        <p:spPr>
          <a:xfrm xmlns:a="http://schemas.openxmlformats.org/drawingml/2006/main">
            <a:off x="83534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source range and listen.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Correct an actual word.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Replay, restore if needed.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Verify a speaker before naming.</a:t>
            </a:r>
          </a:p>
        </p:txBody>
      </p:sp>
      <p:sp>
        <p:nvSpPr>
          <p:cNvPr id="11" name="">
            <a:extLst xmlns:a="http://schemas.openxmlformats.org/drawingml/2006/main">
              <a:ext uri="{FF2B5EF4-FFF2-40B4-BE49-F238E27FC236}">
                <a16:creationId xmlns:a16="http://schemas.microsoft.com/office/drawing/2014/main" id="{C88BBC04-3FC1-4A47-9472-D32B5E148531}"/>
              </a:ext>
            </a:extLst>
          </p:cNvPr>
          <p:cNvSpPr>
            <a:spLocks xmlns:a="http://schemas.openxmlformats.org/drawingml/2006/main" noGrp="1"/>
          </p:cNvSpPr>
          <p:nvPr/>
        </p:nvSpPr>
        <p:spPr>
          <a:xfrm xmlns:a="http://schemas.openxmlformats.org/drawingml/2006/main">
            <a:off x="714375" y="4953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42735"/>
                </a:solidFill>
                <a:latin typeface="Helvetica Neue"/>
                <a:ea typeface="Helvetica Neue"/>
                <a:cs typeface="Helvetica Neue"/>
              </a:defRPr>
            </a:pPr>
            <a:r>
              <a:rPr sz="1575" b="1">
                <a:solidFill>
                  <a:srgbClr val="142735"/>
                </a:solidFill>
                <a:latin typeface="Helvetica Neue"/>
                <a:ea typeface="Helvetica Neue"/>
                <a:cs typeface="Helvetica Neue"/>
              </a:rPr>
              <a:t>Unit, CLI/store and speaker-edit tests pass. The player launched, but seek and bounded playback could not be observed in this rehearsal.</a:t>
            </a:r>
          </a:p>
        </p:txBody>
      </p:sp>
      <p:sp>
        <p:nvSpPr>
          <p:cNvPr id="12" name="">
            <a:extLst xmlns:a="http://schemas.openxmlformats.org/drawingml/2006/main">
              <a:ext uri="{FF2B5EF4-FFF2-40B4-BE49-F238E27FC236}">
                <a16:creationId xmlns:a16="http://schemas.microsoft.com/office/drawing/2014/main" id="{284D9990-0E7D-4D7C-B320-A876993966C6}"/>
              </a:ext>
            </a:extLst>
          </p:cNvPr>
          <p:cNvSpPr>
            <a:spLocks xmlns:a="http://schemas.openxmlformats.org/drawingml/2006/main" noGrp="1"/>
          </p:cNvSpPr>
          <p:nvPr/>
        </p:nvSpPr>
        <p:spPr>
          <a:xfrm xmlns:a="http://schemas.openxmlformats.org/drawingml/2006/main">
            <a:off x="714375" y="61245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Evidence: tests/operator_review_rehearsal_20261004.md. A simulated test flag is not human audio confirmation.</a:t>
            </a:r>
          </a:p>
        </p:txBody>
      </p:sp>
    </p:spTree>
    <p:extLst>
      <p:ext uri="{BB962C8B-B14F-4D97-AF65-F5344CB8AC3E}">
        <p14:creationId xmlns:p14="http://schemas.microsoft.com/office/powerpoint/2010/main" val="10651186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539F2-10F5-4ACB-A640-89A63EA2422E}"/>
              </a:ext>
            </a:extLst>
          </p:cNvPr>
          <p:cNvSpPr>
            <a:spLocks xmlns:a="http://schemas.openxmlformats.org/drawingml/2006/main" noGrp="1"/>
          </p:cNvSpPr>
          <p:nvPr/>
        </p:nvSpPr>
        <p:spPr>
          <a:xfrm xmlns:a="http://schemas.openxmlformats.org/drawingml/2006/main">
            <a:off x="66675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Speaker naming: a complete Terminal command</a:t>
            </a:r>
          </a:p>
        </p:txBody>
      </p:sp>
      <p:sp>
        <p:nvSpPr>
          <p:cNvPr id="2" name="">
            <a:extLst xmlns:a="http://schemas.openxmlformats.org/drawingml/2006/main">
              <a:ext uri="{FF2B5EF4-FFF2-40B4-BE49-F238E27FC236}">
                <a16:creationId xmlns:a16="http://schemas.microsoft.com/office/drawing/2014/main" id="{6BD908BB-5707-4552-A5C7-8CF64D5E635C}"/>
              </a:ext>
            </a:extLst>
          </p:cNvPr>
          <p:cNvSpPr>
            <a:spLocks xmlns:a="http://schemas.openxmlformats.org/drawingml/2006/main" noGrp="1"/>
          </p:cNvSpPr>
          <p:nvPr/>
        </p:nvSpPr>
        <p:spPr>
          <a:xfrm xmlns:a="http://schemas.openxmlformats.org/drawingml/2006/main">
            <a:off x="742950" y="1438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For the currently open Polish meeting. Enter the name after listening to S2.</a:t>
            </a:r>
          </a:p>
        </p:txBody>
      </p:sp>
      <p:sp>
        <p:nvSpPr>
          <p:cNvPr id="3" name="">
            <a:extLst xmlns:a="http://schemas.openxmlformats.org/drawingml/2006/main">
              <a:ext uri="{FF2B5EF4-FFF2-40B4-BE49-F238E27FC236}">
                <a16:creationId xmlns:a16="http://schemas.microsoft.com/office/drawing/2014/main" id="{F8910BBF-1BE7-4CA5-9C6F-D9B96E13F354}"/>
              </a:ext>
            </a:extLst>
          </p:cNvPr>
          <p:cNvSpPr>
            <a:spLocks xmlns:a="http://schemas.openxmlformats.org/drawingml/2006/main" noGrp="1"/>
          </p:cNvSpPr>
          <p:nvPr/>
        </p:nvSpPr>
        <p:spPr>
          <a:xfrm xmlns:a="http://schemas.openxmlformats.org/drawingml/2006/main">
            <a:off x="742950" y="2114550"/>
            <a:ext cx="10668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bash -c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cd /Users/rstyczynski/projects/meeting_minutes</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read -r -p "Name for S2: " speaker_name</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swift run meeting-summarizer recognize 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5C00CCF3-A242-4FB0-845D-92C6D30D7633 S2 "$speaker_name"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--store /private/tmp/meeting-sprint2-po-demo.Ry3oFz</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51085543-695D-4EF7-96C4-9937DB69C6D1}"/>
              </a:ext>
            </a:extLst>
          </p:cNvPr>
          <p:cNvSpPr>
            <a:spLocks xmlns:a="http://schemas.openxmlformats.org/drawingml/2006/main" noGrp="1"/>
          </p:cNvSpPr>
          <p:nvPr/>
        </p:nvSpPr>
        <p:spPr>
          <a:xfrm xmlns:a="http://schemas.openxmlformats.org/drawingml/2006/main">
            <a:off x="742950" y="47053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Helvetica Neue"/>
                <a:ea typeface="Helvetica Neue"/>
                <a:cs typeface="Helvetica Neue"/>
              </a:defRPr>
            </a:pPr>
            <a:r>
              <a:rPr sz="2100" b="1">
                <a:solidFill>
                  <a:srgbClr val="142735"/>
                </a:solidFill>
                <a:latin typeface="Helvetica Neue"/>
                <a:ea typeface="Helvetica Neue"/>
                <a:cs typeface="Helvetica Neue"/>
              </a:rPr>
              <a:t>The entered name is saved for every S2 utterance in this meeting.</a:t>
            </a:r>
          </a:p>
        </p:txBody>
      </p:sp>
      <p:sp>
        <p:nvSpPr>
          <p:cNvPr id="5" name="">
            <a:extLst xmlns:a="http://schemas.openxmlformats.org/drawingml/2006/main">
              <a:ext uri="{FF2B5EF4-FFF2-40B4-BE49-F238E27FC236}">
                <a16:creationId xmlns:a16="http://schemas.microsoft.com/office/drawing/2014/main" id="{3621194C-E47F-4DCD-97F0-52E1C9841F27}"/>
              </a:ext>
            </a:extLst>
          </p:cNvPr>
          <p:cNvSpPr>
            <a:spLocks xmlns:a="http://schemas.openxmlformats.org/drawingml/2006/main" noGrp="1"/>
          </p:cNvSpPr>
          <p:nvPr/>
        </p:nvSpPr>
        <p:spPr>
          <a:xfrm xmlns:a="http://schemas.openxmlformats.org/drawingml/2006/main">
            <a:off x="742950" y="53816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Close and reopen Meeting Review to load the saved name.</a:t>
            </a:r>
          </a:p>
        </p:txBody>
      </p:sp>
      <p:sp>
        <p:nvSpPr>
          <p:cNvPr id="6" name="">
            <a:extLst xmlns:a="http://schemas.openxmlformats.org/drawingml/2006/main">
              <a:ext uri="{FF2B5EF4-FFF2-40B4-BE49-F238E27FC236}">
                <a16:creationId xmlns:a16="http://schemas.microsoft.com/office/drawing/2014/main" id="{0786E542-7184-41E3-8072-451D1C01000E}"/>
              </a:ext>
            </a:extLst>
          </p:cNvPr>
          <p:cNvSpPr>
            <a:spLocks xmlns:a="http://schemas.openxmlformats.org/drawingml/2006/main" noGrp="1"/>
          </p:cNvSpPr>
          <p:nvPr/>
        </p:nvSpPr>
        <p:spPr>
          <a:xfrm xmlns:a="http://schemas.openxmlformats.org/drawingml/2006/main">
            <a:off x="742950" y="62103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8"/>
                </a:solidFill>
                <a:latin typeface="Helvetica Neue"/>
                <a:ea typeface="Helvetica Neue"/>
                <a:cs typeface="Helvetica Neue"/>
              </a:defRPr>
            </a:pPr>
            <a:r>
              <a:rPr sz="1200" b="0">
                <a:solidFill>
                  <a:srgbClr val="526878"/>
                </a:solidFill>
                <a:latin typeface="Helvetica Neue"/>
                <a:ea typeface="Helvetica Neue"/>
                <a:cs typeface="Helvetica Neue"/>
              </a:rPr>
              <a:t>PBI-011.2 / PBI-011.4 / FR-04. This concrete record is local to the current demo; a fresh run prints its own command.</a:t>
            </a:r>
          </a:p>
        </p:txBody>
      </p:sp>
    </p:spTree>
    <p:extLst>
      <p:ext uri="{BB962C8B-B14F-4D97-AF65-F5344CB8AC3E}">
        <p14:creationId xmlns:p14="http://schemas.microsoft.com/office/powerpoint/2010/main" val="11521908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7C9914-5343-4A6B-A458-5C0D446E4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Why the first draft failed review</a:t>
            </a:r>
          </a:p>
        </p:txBody>
      </p:sp>
      <p:sp>
        <p:nvSpPr>
          <p:cNvPr id="2" name="">
            <a:extLst xmlns:a="http://schemas.openxmlformats.org/drawingml/2006/main">
              <a:ext uri="{FF2B5EF4-FFF2-40B4-BE49-F238E27FC236}">
                <a16:creationId xmlns:a16="http://schemas.microsoft.com/office/drawing/2014/main" id="{AA711FDF-DFDA-4B93-8E16-11E39D7A6E09}"/>
              </a:ext>
            </a:extLst>
          </p:cNvPr>
          <p:cNvSpPr>
            <a:spLocks xmlns:a="http://schemas.openxmlformats.org/drawingml/2006/main" noGrp="1"/>
          </p:cNvSpPr>
          <p:nvPr/>
        </p:nvSpPr>
        <p:spPr>
          <a:xfrm xmlns:a="http://schemas.openxmlformats.org/drawingml/2006/main">
            <a:off x="790575" y="13811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6952"/>
                </a:solidFill>
                <a:latin typeface="Helvetica Neue"/>
                <a:ea typeface="Helvetica Neue"/>
                <a:cs typeface="Helvetica Neue"/>
              </a:defRPr>
            </a:pPr>
            <a:r>
              <a:rPr sz="1800" b="1">
                <a:solidFill>
                  <a:srgbClr val="236952"/>
                </a:solidFill>
                <a:latin typeface="Helvetica Neue"/>
                <a:ea typeface="Helvetica Neue"/>
                <a:cs typeface="Helvetica Neue"/>
              </a:rPr>
              <a:t>SUPPORTED DECISION · around 540 seconds</a:t>
            </a:r>
          </a:p>
        </p:txBody>
      </p:sp>
      <p:sp>
        <p:nvSpPr>
          <p:cNvPr id="3" name="">
            <a:extLst xmlns:a="http://schemas.openxmlformats.org/drawingml/2006/main">
              <a:ext uri="{FF2B5EF4-FFF2-40B4-BE49-F238E27FC236}">
                <a16:creationId xmlns:a16="http://schemas.microsoft.com/office/drawing/2014/main" id="{C2774217-5A41-4848-9E00-2E1DA3883CAF}"/>
              </a:ext>
            </a:extLst>
          </p:cNvPr>
          <p:cNvSpPr>
            <a:spLocks xmlns:a="http://schemas.openxmlformats.org/drawingml/2006/main" noGrp="1"/>
          </p:cNvSpPr>
          <p:nvPr/>
        </p:nvSpPr>
        <p:spPr>
          <a:xfrm xmlns:a="http://schemas.openxmlformats.org/drawingml/2006/main">
            <a:off x="790575" y="17811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“komisja pozytywnie opiniuje projekt ustawy budżetowej...”</a:t>
            </a:r>
          </a:p>
        </p:txBody>
      </p:sp>
      <p:sp>
        <p:nvSpPr>
          <p:cNvPr id="4" name="">
            <a:extLst xmlns:a="http://schemas.openxmlformats.org/drawingml/2006/main">
              <a:ext uri="{FF2B5EF4-FFF2-40B4-BE49-F238E27FC236}">
                <a16:creationId xmlns:a16="http://schemas.microsoft.com/office/drawing/2014/main" id="{9E077C5A-D58D-4A56-B634-D5E968D994DE}"/>
              </a:ext>
            </a:extLst>
          </p:cNvPr>
          <p:cNvSpPr>
            <a:spLocks xmlns:a="http://schemas.openxmlformats.org/drawingml/2006/main" noGrp="1"/>
          </p:cNvSpPr>
          <p:nvPr/>
        </p:nvSpPr>
        <p:spPr>
          <a:xfrm xmlns:a="http://schemas.openxmlformats.org/drawingml/2006/main">
            <a:off x="790575" y="22383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“Komisja ... pozytywnie opiniuje projekt ustawy budżetowej...”</a:t>
            </a:r>
          </a:p>
        </p:txBody>
      </p:sp>
      <p:sp>
        <p:nvSpPr>
          <p:cNvPr id="5" name="">
            <a:extLst xmlns:a="http://schemas.openxmlformats.org/drawingml/2006/main">
              <a:ext uri="{FF2B5EF4-FFF2-40B4-BE49-F238E27FC236}">
                <a16:creationId xmlns:a16="http://schemas.microsoft.com/office/drawing/2014/main" id="{133B4F53-1EFB-4EBC-93D9-D2D6CE8BE8DC}"/>
              </a:ext>
            </a:extLst>
          </p:cNvPr>
          <p:cNvSpPr>
            <a:spLocks xmlns:a="http://schemas.openxmlformats.org/drawingml/2006/main" noGrp="1"/>
          </p:cNvSpPr>
          <p:nvPr/>
        </p:nvSpPr>
        <p:spPr>
          <a:xfrm xmlns:a="http://schemas.openxmlformats.org/drawingml/2006/main">
            <a:off x="790575" y="2990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ACTION · around 560 seconds</a:t>
            </a:r>
          </a:p>
        </p:txBody>
      </p:sp>
      <p:sp>
        <p:nvSpPr>
          <p:cNvPr id="6" name="">
            <a:extLst xmlns:a="http://schemas.openxmlformats.org/drawingml/2006/main">
              <a:ext uri="{FF2B5EF4-FFF2-40B4-BE49-F238E27FC236}">
                <a16:creationId xmlns:a16="http://schemas.microsoft.com/office/drawing/2014/main" id="{2D106D6E-2689-41E6-9F72-4F51AC22749E}"/>
              </a:ext>
            </a:extLst>
          </p:cNvPr>
          <p:cNvSpPr>
            <a:spLocks xmlns:a="http://schemas.openxmlformats.org/drawingml/2006/main" noGrp="1"/>
          </p:cNvSpPr>
          <p:nvPr/>
        </p:nvSpPr>
        <p:spPr>
          <a:xfrm xmlns:a="http://schemas.openxmlformats.org/drawingml/2006/main">
            <a:off x="790575" y="33909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“Panią Prezes ... poproszę o przedstawienie ... budżetu.”</a:t>
            </a:r>
          </a:p>
        </p:txBody>
      </p:sp>
      <p:sp>
        <p:nvSpPr>
          <p:cNvPr id="7" name="">
            <a:extLst xmlns:a="http://schemas.openxmlformats.org/drawingml/2006/main">
              <a:ext uri="{FF2B5EF4-FFF2-40B4-BE49-F238E27FC236}">
                <a16:creationId xmlns:a16="http://schemas.microsoft.com/office/drawing/2014/main" id="{01D0016E-DBFE-441C-A1D1-FB804321F27B}"/>
              </a:ext>
            </a:extLst>
          </p:cNvPr>
          <p:cNvSpPr>
            <a:spLocks xmlns:a="http://schemas.openxmlformats.org/drawingml/2006/main" noGrp="1"/>
          </p:cNvSpPr>
          <p:nvPr/>
        </p:nvSpPr>
        <p:spPr>
          <a:xfrm xmlns:a="http://schemas.openxmlformats.org/drawingml/2006/main">
            <a:off x="790575" y="38481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“Pani Ewa Zielińska ... zostaje poproszona o przedstawienie budżetu...”</a:t>
            </a:r>
          </a:p>
        </p:txBody>
      </p:sp>
      <p:sp>
        <p:nvSpPr>
          <p:cNvPr id="8" name="">
            <a:extLst xmlns:a="http://schemas.openxmlformats.org/drawingml/2006/main">
              <a:ext uri="{FF2B5EF4-FFF2-40B4-BE49-F238E27FC236}">
                <a16:creationId xmlns:a16="http://schemas.microsoft.com/office/drawing/2014/main" id="{109E6B68-F5DE-46C1-B9D1-A78C2F06B68D}"/>
              </a:ext>
            </a:extLst>
          </p:cNvPr>
          <p:cNvSpPr>
            <a:spLocks xmlns:a="http://schemas.openxmlformats.org/drawingml/2006/main" noGrp="1"/>
          </p:cNvSpPr>
          <p:nvPr/>
        </p:nvSpPr>
        <p:spPr>
          <a:xfrm xmlns:a="http://schemas.openxmlformats.org/drawingml/2006/main">
            <a:off x="790575" y="46196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QUESTION · around 380 seconds</a:t>
            </a:r>
          </a:p>
        </p:txBody>
      </p:sp>
      <p:sp>
        <p:nvSpPr>
          <p:cNvPr id="9" name="">
            <a:extLst xmlns:a="http://schemas.openxmlformats.org/drawingml/2006/main">
              <a:ext uri="{FF2B5EF4-FFF2-40B4-BE49-F238E27FC236}">
                <a16:creationId xmlns:a16="http://schemas.microsoft.com/office/drawing/2014/main" id="{07EDE692-9BBA-45C2-BDC5-4D538252AC82}"/>
              </a:ext>
            </a:extLst>
          </p:cNvPr>
          <p:cNvSpPr>
            <a:spLocks xmlns:a="http://schemas.openxmlformats.org/drawingml/2006/main" noGrp="1"/>
          </p:cNvSpPr>
          <p:nvPr/>
        </p:nvSpPr>
        <p:spPr>
          <a:xfrm xmlns:a="http://schemas.openxmlformats.org/drawingml/2006/main">
            <a:off x="790575" y="50196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lists reserved funds; the draft asks whether they were reserved.</a:t>
            </a:r>
          </a:p>
        </p:txBody>
      </p:sp>
      <p:sp>
        <p:nvSpPr>
          <p:cNvPr id="10" name="">
            <a:extLst xmlns:a="http://schemas.openxmlformats.org/drawingml/2006/main">
              <a:ext uri="{FF2B5EF4-FFF2-40B4-BE49-F238E27FC236}">
                <a16:creationId xmlns:a16="http://schemas.microsoft.com/office/drawing/2014/main" id="{C9A613CB-1030-480A-B09F-50021EB5A9F1}"/>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This is pre-gate evidence. The last two items are unsupported; the summary has no citation.</a:t>
            </a:r>
          </a:p>
        </p:txBody>
      </p:sp>
    </p:spTree>
    <p:extLst>
      <p:ext uri="{BB962C8B-B14F-4D97-AF65-F5344CB8AC3E}">
        <p14:creationId xmlns:p14="http://schemas.microsoft.com/office/powerpoint/2010/main" val="884167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D7B0B2-0ED3-48AE-A626-C32C9BA8F3B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Model output must pass a quality gate</a:t>
            </a:r>
          </a:p>
        </p:txBody>
      </p:sp>
      <p:sp>
        <p:nvSpPr>
          <p:cNvPr id="2" name="">
            <a:extLst xmlns:a="http://schemas.openxmlformats.org/drawingml/2006/main">
              <a:ext uri="{FF2B5EF4-FFF2-40B4-BE49-F238E27FC236}">
                <a16:creationId xmlns:a16="http://schemas.microsoft.com/office/drawing/2014/main" id="{07A8F8FB-4A62-4C98-963A-BC1C82F78D98}"/>
              </a:ext>
            </a:extLst>
          </p:cNvPr>
          <p:cNvSpPr>
            <a:spLocks xmlns:a="http://schemas.openxmlformats.org/drawingml/2006/main" noGrp="1"/>
          </p:cNvSpPr>
          <p:nvPr/>
        </p:nvSpPr>
        <p:spPr>
          <a:xfrm xmlns:a="http://schemas.openxmlformats.org/drawingml/2006/main">
            <a:off x="790575" y="142875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1. Check JSON shape, source IDs, quote and output size.</a:t>
            </a:r>
          </a:p>
        </p:txBody>
      </p:sp>
      <p:sp>
        <p:nvSpPr>
          <p:cNvPr id="3" name="">
            <a:extLst xmlns:a="http://schemas.openxmlformats.org/drawingml/2006/main">
              <a:ext uri="{FF2B5EF4-FFF2-40B4-BE49-F238E27FC236}">
                <a16:creationId xmlns:a16="http://schemas.microsoft.com/office/drawing/2014/main" id="{3813F2B2-906A-40B7-8277-E7935A13721F}"/>
              </a:ext>
            </a:extLst>
          </p:cNvPr>
          <p:cNvSpPr>
            <a:spLocks xmlns:a="http://schemas.openxmlformats.org/drawingml/2006/main" noGrp="1"/>
          </p:cNvSpPr>
          <p:nvPr/>
        </p:nvSpPr>
        <p:spPr>
          <a:xfrm xmlns:a="http://schemas.openxmlformats.org/drawingml/2006/main">
            <a:off x="790575" y="24479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2. Return a specific repair request to the model, at most twice.</a:t>
            </a:r>
          </a:p>
        </p:txBody>
      </p:sp>
      <p:sp>
        <p:nvSpPr>
          <p:cNvPr id="4" name="">
            <a:extLst xmlns:a="http://schemas.openxmlformats.org/drawingml/2006/main">
              <a:ext uri="{FF2B5EF4-FFF2-40B4-BE49-F238E27FC236}">
                <a16:creationId xmlns:a16="http://schemas.microsoft.com/office/drawing/2014/main" id="{B27718EF-F494-462E-A8CE-F630C734D5B9}"/>
              </a:ext>
            </a:extLst>
          </p:cNvPr>
          <p:cNvSpPr>
            <a:spLocks xmlns:a="http://schemas.openxmlformats.org/drawingml/2006/main" noGrp="1"/>
          </p:cNvSpPr>
          <p:nvPr/>
        </p:nvSpPr>
        <p:spPr>
          <a:xfrm xmlns:a="http://schemas.openxmlformats.org/drawingml/2006/main">
            <a:off x="790575" y="35147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3. Withhold unsupported decisions, actions and questions before saving.</a:t>
            </a:r>
          </a:p>
        </p:txBody>
      </p:sp>
      <p:sp>
        <p:nvSpPr>
          <p:cNvPr id="5" name="">
            <a:extLst xmlns:a="http://schemas.openxmlformats.org/drawingml/2006/main">
              <a:ext uri="{FF2B5EF4-FFF2-40B4-BE49-F238E27FC236}">
                <a16:creationId xmlns:a16="http://schemas.microsoft.com/office/drawing/2014/main" id="{A7338EC1-29C6-4B32-BEE5-23D2E710F048}"/>
              </a:ext>
            </a:extLst>
          </p:cNvPr>
          <p:cNvSpPr>
            <a:spLocks xmlns:a="http://schemas.openxmlformats.org/drawingml/2006/main" noGrp="1"/>
          </p:cNvSpPr>
          <p:nvPr/>
        </p:nvSpPr>
        <p:spPr>
          <a:xfrm xmlns:a="http://schemas.openxmlformats.org/drawingml/2006/main">
            <a:off x="790575" y="48863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Technical gates pass in the staged trial; source review still finds unsupported claims. The raw transcript remains intact.</a:t>
            </a:r>
          </a:p>
        </p:txBody>
      </p:sp>
      <p:sp>
        <p:nvSpPr>
          <p:cNvPr id="6" name="">
            <a:extLst xmlns:a="http://schemas.openxmlformats.org/drawingml/2006/main">
              <a:ext uri="{FF2B5EF4-FFF2-40B4-BE49-F238E27FC236}">
                <a16:creationId xmlns:a16="http://schemas.microsoft.com/office/drawing/2014/main" id="{A46C186B-9050-47D0-9D00-2C265007174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In the live demo, inspect the cited words and a failed response. A valid JSON shape does not prove factual accuracy.</a:t>
            </a:r>
          </a:p>
        </p:txBody>
      </p:sp>
    </p:spTree>
    <p:extLst>
      <p:ext uri="{BB962C8B-B14F-4D97-AF65-F5344CB8AC3E}">
        <p14:creationId xmlns:p14="http://schemas.microsoft.com/office/powerpoint/2010/main" val="757158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1F5E37-2D13-4531-AFE0-3ADD923BE69D}"/>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A longer English meeting exposes another failure</a:t>
            </a:r>
          </a:p>
        </p:txBody>
      </p:sp>
      <p:sp>
        <p:nvSpPr>
          <p:cNvPr id="2" name="">
            <a:extLst xmlns:a="http://schemas.openxmlformats.org/drawingml/2006/main">
              <a:ext uri="{FF2B5EF4-FFF2-40B4-BE49-F238E27FC236}">
                <a16:creationId xmlns:a16="http://schemas.microsoft.com/office/drawing/2014/main" id="{985624BB-CEB1-429A-8E2E-FB2A6A86C38F}"/>
              </a:ext>
            </a:extLst>
          </p:cNvPr>
          <p:cNvSpPr>
            <a:spLocks xmlns:a="http://schemas.openxmlformats.org/drawingml/2006/main" noGrp="1"/>
          </p:cNvSpPr>
          <p:nvPr/>
        </p:nvSpPr>
        <p:spPr>
          <a:xfrm xmlns:a="http://schemas.openxmlformats.org/drawingml/2006/main">
            <a:off x="790575" y="15049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DOE advisory committee, first 30 minutes</a:t>
            </a:r>
          </a:p>
        </p:txBody>
      </p:sp>
      <p:sp>
        <p:nvSpPr>
          <p:cNvPr id="3" name="">
            <a:extLst xmlns:a="http://schemas.openxmlformats.org/drawingml/2006/main">
              <a:ext uri="{FF2B5EF4-FFF2-40B4-BE49-F238E27FC236}">
                <a16:creationId xmlns:a16="http://schemas.microsoft.com/office/drawing/2014/main" id="{EC880FBE-2D8D-48BF-B268-A41FFF691A88}"/>
              </a:ext>
            </a:extLst>
          </p:cNvPr>
          <p:cNvSpPr>
            <a:spLocks xmlns:a="http://schemas.openxmlformats.org/drawingml/2006/main" noGrp="1"/>
          </p:cNvSpPr>
          <p:nvPr/>
        </p:nvSpPr>
        <p:spPr>
          <a:xfrm xmlns:a="http://schemas.openxmlformats.org/drawingml/2006/main">
            <a:off x="790575" y="22383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Transcription saved 4,216 timed segments. Speaker recognition assigned eight anonymous IDs.</a:t>
            </a:r>
          </a:p>
        </p:txBody>
      </p:sp>
      <p:sp>
        <p:nvSpPr>
          <p:cNvPr id="4" name="">
            <a:extLst xmlns:a="http://schemas.openxmlformats.org/drawingml/2006/main">
              <a:ext uri="{FF2B5EF4-FFF2-40B4-BE49-F238E27FC236}">
                <a16:creationId xmlns:a16="http://schemas.microsoft.com/office/drawing/2014/main" id="{FD173560-341D-4EB0-9453-D325AF5D4C9B}"/>
              </a:ext>
            </a:extLst>
          </p:cNvPr>
          <p:cNvSpPr>
            <a:spLocks xmlns:a="http://schemas.openxmlformats.org/drawingml/2006/main" noGrp="1"/>
          </p:cNvSpPr>
          <p:nvPr/>
        </p:nvSpPr>
        <p:spPr>
          <a:xfrm xmlns:a="http://schemas.openxmlformats.org/drawingml/2006/main">
            <a:off x="790575" y="36861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A: zero items saved</a:t>
            </a:r>
          </a:p>
        </p:txBody>
      </p:sp>
      <p:sp>
        <p:nvSpPr>
          <p:cNvPr id="5" name="">
            <a:extLst xmlns:a="http://schemas.openxmlformats.org/drawingml/2006/main">
              <a:ext uri="{FF2B5EF4-FFF2-40B4-BE49-F238E27FC236}">
                <a16:creationId xmlns:a16="http://schemas.microsoft.com/office/drawing/2014/main" id="{C555A88D-C1EF-4EEE-B7B4-B24834967A78}"/>
              </a:ext>
            </a:extLst>
          </p:cNvPr>
          <p:cNvSpPr>
            <a:spLocks xmlns:a="http://schemas.openxmlformats.org/drawingml/2006/main" noGrp="1"/>
          </p:cNvSpPr>
          <p:nvPr/>
        </p:nvSpPr>
        <p:spPr>
          <a:xfrm xmlns:a="http://schemas.openxmlformats.org/drawingml/2006/main">
            <a:off x="790575" y="42767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B: zero items saved</a:t>
            </a:r>
          </a:p>
        </p:txBody>
      </p:sp>
      <p:sp>
        <p:nvSpPr>
          <p:cNvPr id="6" name="">
            <a:extLst xmlns:a="http://schemas.openxmlformats.org/drawingml/2006/main">
              <a:ext uri="{FF2B5EF4-FFF2-40B4-BE49-F238E27FC236}">
                <a16:creationId xmlns:a16="http://schemas.microsoft.com/office/drawing/2014/main" id="{66DAB6CC-8044-4D72-8167-35592ED5CAB0}"/>
              </a:ext>
            </a:extLst>
          </p:cNvPr>
          <p:cNvSpPr>
            <a:spLocks xmlns:a="http://schemas.openxmlformats.org/drawingml/2006/main" noGrp="1"/>
          </p:cNvSpPr>
          <p:nvPr/>
        </p:nvSpPr>
        <p:spPr>
          <a:xfrm xmlns:a="http://schemas.openxmlformats.org/drawingml/2006/main">
            <a:off x="790575" y="50768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Both runs failed while reading structured model output. This transcript has no validated long-meeting minutes.</a:t>
            </a:r>
          </a:p>
        </p:txBody>
      </p:sp>
      <p:sp>
        <p:nvSpPr>
          <p:cNvPr id="7" name="">
            <a:extLst xmlns:a="http://schemas.openxmlformats.org/drawingml/2006/main">
              <a:ext uri="{FF2B5EF4-FFF2-40B4-BE49-F238E27FC236}">
                <a16:creationId xmlns:a16="http://schemas.microsoft.com/office/drawing/2014/main" id="{A4E51BAF-00FC-485A-AD9B-3D5671FEC29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real meeting failure. The official transcript is not time aligned, so no DOE whole-excerpt WER is claimed.</a:t>
            </a:r>
          </a:p>
        </p:txBody>
      </p:sp>
    </p:spTree>
    <p:extLst>
      <p:ext uri="{BB962C8B-B14F-4D97-AF65-F5344CB8AC3E}">
        <p14:creationId xmlns:p14="http://schemas.microsoft.com/office/powerpoint/2010/main" val="16057733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654B1F-DC5A-409B-8179-A0CA484A2073}"/>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a chair can accomplish now</a:t>
            </a:r>
          </a:p>
        </p:txBody>
      </p:sp>
      <p:sp>
        <p:nvSpPr>
          <p:cNvPr id="2" name="">
            <a:extLst xmlns:a="http://schemas.openxmlformats.org/drawingml/2006/main">
              <a:ext uri="{FF2B5EF4-FFF2-40B4-BE49-F238E27FC236}">
                <a16:creationId xmlns:a16="http://schemas.microsoft.com/office/drawing/2014/main" id="{65B1CA6D-FD65-4FC8-991E-EA81B9EB21FA}"/>
              </a:ext>
            </a:extLst>
          </p:cNvPr>
          <p:cNvSpPr>
            <a:spLocks xmlns:a="http://schemas.openxmlformats.org/drawingml/2006/main" noGrp="1"/>
          </p:cNvSpPr>
          <p:nvPr/>
        </p:nvSpPr>
        <p:spPr>
          <a:xfrm xmlns:a="http://schemas.openxmlformats.org/drawingml/2006/main">
            <a:off x="790575" y="1619250"/>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Create and inspect a timed local transcript in English or Polish.</a:t>
            </a:r>
          </a:p>
        </p:txBody>
      </p:sp>
      <p:sp>
        <p:nvSpPr>
          <p:cNvPr id="3" name="">
            <a:extLst xmlns:a="http://schemas.openxmlformats.org/drawingml/2006/main">
              <a:ext uri="{FF2B5EF4-FFF2-40B4-BE49-F238E27FC236}">
                <a16:creationId xmlns:a16="http://schemas.microsoft.com/office/drawing/2014/main" id="{22CB1A72-09B3-4D98-BD5D-C5663C56FCF0}"/>
              </a:ext>
            </a:extLst>
          </p:cNvPr>
          <p:cNvSpPr>
            <a:spLocks xmlns:a="http://schemas.openxmlformats.org/drawingml/2006/main" noGrp="1"/>
          </p:cNvSpPr>
          <p:nvPr/>
        </p:nvSpPr>
        <p:spPr>
          <a:xfrm xmlns:a="http://schemas.openxmlformats.org/drawingml/2006/main">
            <a:off x="790575" y="2895600"/>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Locate a weak-audio range and inspect anonymous speaker labels.</a:t>
            </a:r>
          </a:p>
        </p:txBody>
      </p:sp>
      <p:sp>
        <p:nvSpPr>
          <p:cNvPr id="4" name="">
            <a:extLst xmlns:a="http://schemas.openxmlformats.org/drawingml/2006/main">
              <a:ext uri="{FF2B5EF4-FFF2-40B4-BE49-F238E27FC236}">
                <a16:creationId xmlns:a16="http://schemas.microsoft.com/office/drawing/2014/main" id="{B8E8C230-9AF9-4F6C-8154-9FC355B9A0F1}"/>
              </a:ext>
            </a:extLst>
          </p:cNvPr>
          <p:cNvSpPr>
            <a:spLocks xmlns:a="http://schemas.openxmlformats.org/drawingml/2006/main" noGrp="1"/>
          </p:cNvSpPr>
          <p:nvPr/>
        </p:nvSpPr>
        <p:spPr>
          <a:xfrm xmlns:a="http://schemas.openxmlformats.org/drawingml/2006/main">
            <a:off x="790575" y="4181475"/>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Manually correct a label or assign a name after verifying the voice.</a:t>
            </a:r>
          </a:p>
        </p:txBody>
      </p:sp>
      <p:sp>
        <p:nvSpPr>
          <p:cNvPr id="5" name="">
            <a:extLst xmlns:a="http://schemas.openxmlformats.org/drawingml/2006/main">
              <a:ext uri="{FF2B5EF4-FFF2-40B4-BE49-F238E27FC236}">
                <a16:creationId xmlns:a16="http://schemas.microsoft.com/office/drawing/2014/main" id="{52AB0993-6FBF-4FA4-87A9-A5A177B26BE9}"/>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The minutes output must be checked against source audio and cannot be published from this prototype.</a:t>
            </a:r>
          </a:p>
        </p:txBody>
      </p:sp>
    </p:spTree>
    <p:extLst>
      <p:ext uri="{BB962C8B-B14F-4D97-AF65-F5344CB8AC3E}">
        <p14:creationId xmlns:p14="http://schemas.microsoft.com/office/powerpoint/2010/main" val="16729938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B2480B-5933-4BE3-AD68-AE1DE8F1D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AMI transcription comparison</a:t>
            </a:r>
          </a:p>
        </p:txBody>
      </p:sp>
      <p:sp>
        <p:nvSpPr>
          <p:cNvPr id="2" name="">
            <a:extLst xmlns:a="http://schemas.openxmlformats.org/drawingml/2006/main">
              <a:ext uri="{FF2B5EF4-FFF2-40B4-BE49-F238E27FC236}">
                <a16:creationId xmlns:a16="http://schemas.microsoft.com/office/drawing/2014/main" id="{70AE4FD5-9B48-480D-9926-3FA85A0E5E8A}"/>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Whole-meeting word error rate, same headset audio</a:t>
            </a:r>
          </a:p>
        </p:txBody>
      </p:sp>
      <p:sp>
        <p:nvSpPr>
          <p:cNvPr id="3" name="">
            <a:extLst xmlns:a="http://schemas.openxmlformats.org/drawingml/2006/main">
              <a:ext uri="{FF2B5EF4-FFF2-40B4-BE49-F238E27FC236}">
                <a16:creationId xmlns:a16="http://schemas.microsoft.com/office/drawing/2014/main" id="{19FBB5B9-AA6D-40CA-B76D-F1020CD69303}"/>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FluidAudio 19.48%</a:t>
            </a:r>
          </a:p>
        </p:txBody>
      </p:sp>
      <p:sp>
        <p:nvSpPr>
          <p:cNvPr id="4" name="">
            <a:extLst xmlns:a="http://schemas.openxmlformats.org/drawingml/2006/main">
              <a:ext uri="{FF2B5EF4-FFF2-40B4-BE49-F238E27FC236}">
                <a16:creationId xmlns:a16="http://schemas.microsoft.com/office/drawing/2014/main" id="{946D2D9A-7C3E-4E20-87F6-59632AF0B444}"/>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28.79%</a:t>
            </a:r>
          </a:p>
        </p:txBody>
      </p:sp>
      <p:sp>
        <p:nvSpPr>
          <p:cNvPr id="6" name="">
            <a:extLst xmlns:a="http://schemas.openxmlformats.org/drawingml/2006/main">
              <a:ext uri="{FF2B5EF4-FFF2-40B4-BE49-F238E27FC236}">
                <a16:creationId xmlns:a16="http://schemas.microsoft.com/office/drawing/2014/main" id="{C21E78C4-B7B7-4D6B-84DC-693E2140CD0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Lower is better. Affected-speaker reference-linked errors: 27.78% versus 58.55%.</a:t>
            </a:r>
          </a:p>
        </p:txBody>
      </p:sp>
      <p:graphicFrame>
        <p:nvGraphicFramePr>
          <p:cNvPr id="14" name="Chart"/>
          <p:cNvGraphicFramePr/>
          <p:nvPr/>
        </p:nvGraphicFramePr>
        <p:xfrm>
          <a:off xmlns:a="http://schemas.openxmlformats.org/drawingml/2006/main" x="1476375" y="2505075"/>
          <a:ext xmlns:a="http://schemas.openxmlformats.org/drawingml/2006/main" cx="9144000" cy="2686050"/>
        </p:xfrm>
        <a:graphic xmlns:a="http://schemas.openxmlformats.org/drawingml/2006/main">
          <a:graphicData uri="http://schemas.openxmlformats.org/drawingml/2006/chart">
            <c:chart xmlns:r="http://schemas.openxmlformats.org/officeDocument/2006/relationships" xmlns:c="http://schemas.openxmlformats.org/drawingml/2006/chart" r:id="Re6c0a9bfe9e7463f"/>
          </a:graphicData>
        </a:graphic>
      </p:graphicFrame>
    </p:spTree>
    <p:extLst>
      <p:ext uri="{BB962C8B-B14F-4D97-AF65-F5344CB8AC3E}">
        <p14:creationId xmlns:p14="http://schemas.microsoft.com/office/powerpoint/2010/main" val="1870943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906D5-4D3C-4724-9C4D-4F915F72D47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and Polish language check</a:t>
            </a:r>
          </a:p>
        </p:txBody>
      </p:sp>
      <p:sp>
        <p:nvSpPr>
          <p:cNvPr id="2" name="">
            <a:extLst xmlns:a="http://schemas.openxmlformats.org/drawingml/2006/main">
              <a:ext uri="{FF2B5EF4-FFF2-40B4-BE49-F238E27FC236}">
                <a16:creationId xmlns:a16="http://schemas.microsoft.com/office/drawing/2014/main" id="{6EAEE7F8-B5EE-42AE-BB18-173FB4B2EE81}"/>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Word error rate on five read-speech clips per language</a:t>
            </a:r>
          </a:p>
        </p:txBody>
      </p:sp>
      <p:sp>
        <p:nvSpPr>
          <p:cNvPr id="3" name="">
            <a:extLst xmlns:a="http://schemas.openxmlformats.org/drawingml/2006/main">
              <a:ext uri="{FF2B5EF4-FFF2-40B4-BE49-F238E27FC236}">
                <a16:creationId xmlns:a16="http://schemas.microsoft.com/office/drawing/2014/main" id="{4FCB95B7-B807-41DB-AC44-53F4C12FC9D8}"/>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Parakeet v3</a:t>
            </a:r>
          </a:p>
        </p:txBody>
      </p:sp>
      <p:sp>
        <p:nvSpPr>
          <p:cNvPr id="4" name="">
            <a:extLst xmlns:a="http://schemas.openxmlformats.org/drawingml/2006/main">
              <a:ext uri="{FF2B5EF4-FFF2-40B4-BE49-F238E27FC236}">
                <a16:creationId xmlns:a16="http://schemas.microsoft.com/office/drawing/2014/main" id="{4A62A8E6-E3E9-40AB-8B5E-5BA939F8E266}"/>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base, CPU</a:t>
            </a:r>
          </a:p>
        </p:txBody>
      </p:sp>
      <p:sp>
        <p:nvSpPr>
          <p:cNvPr id="6" name="">
            <a:extLst xmlns:a="http://schemas.openxmlformats.org/drawingml/2006/main">
              <a:ext uri="{FF2B5EF4-FFF2-40B4-BE49-F238E27FC236}">
                <a16:creationId xmlns:a16="http://schemas.microsoft.com/office/drawing/2014/main" id="{A38D8513-3FE8-4016-AFF8-B560B3AAEBB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Read speech tests language feasibility. The Sejm PDF provides a separate qualitative meeting check.</a:t>
            </a:r>
          </a:p>
        </p:txBody>
      </p:sp>
      <p:sp>
        <p:nvSpPr>
          <p:cNvPr id="9" name="">
            <a:extLst xmlns:a="http://schemas.openxmlformats.org/drawingml/2006/main">
              <a:ext uri="{FF2B5EF4-FFF2-40B4-BE49-F238E27FC236}">
                <a16:creationId xmlns:a16="http://schemas.microsoft.com/office/drawing/2014/main" id="{2255EEDF-54A9-46B6-92BF-96423654C7DC}"/>
              </a:ext>
            </a:extLst>
          </p:cNvPr>
          <p:cNvSpPr>
            <a:spLocks xmlns:a="http://schemas.openxmlformats.org/drawingml/2006/main" noGrp="1"/>
          </p:cNvSpPr>
          <p:nvPr/>
        </p:nvSpPr>
        <p:spPr>
          <a:xfrm xmlns:a="http://schemas.openxmlformats.org/drawingml/2006/main">
            <a:off x="0" y="0"/>
            <a:ext cx="12192000" cy="2419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BEFECE-923D-4C42-BC4E-A5B8A3E0B687}"/>
              </a:ext>
            </a:extLst>
          </p:cNvPr>
          <p:cNvSpPr>
            <a:spLocks xmlns:a="http://schemas.openxmlformats.org/drawingml/2006/main" noGrp="1"/>
          </p:cNvSpPr>
          <p:nvPr/>
        </p:nvSpPr>
        <p:spPr>
          <a:xfrm xmlns:a="http://schemas.openxmlformats.org/drawingml/2006/main">
            <a:off x="857250" y="4476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English and Polish language check</a:t>
            </a:r>
          </a:p>
        </p:txBody>
      </p:sp>
      <p:sp>
        <p:nvSpPr>
          <p:cNvPr id="11" name="">
            <a:extLst xmlns:a="http://schemas.openxmlformats.org/drawingml/2006/main">
              <a:ext uri="{FF2B5EF4-FFF2-40B4-BE49-F238E27FC236}">
                <a16:creationId xmlns:a16="http://schemas.microsoft.com/office/drawing/2014/main" id="{7C44E2EE-123C-4E25-B378-E07677F76800}"/>
              </a:ext>
            </a:extLst>
          </p:cNvPr>
          <p:cNvSpPr>
            <a:spLocks xmlns:a="http://schemas.openxmlformats.org/drawingml/2006/main" noGrp="1"/>
          </p:cNvSpPr>
          <p:nvPr/>
        </p:nvSpPr>
        <p:spPr>
          <a:xfrm xmlns:a="http://schemas.openxmlformats.org/drawingml/2006/main">
            <a:off x="895350" y="12668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75569"/>
                </a:solidFill>
                <a:latin typeface="Helvetica Neue"/>
                <a:ea typeface="Helvetica Neue"/>
                <a:cs typeface="Helvetica Neue"/>
              </a:defRPr>
            </a:pPr>
            <a:r>
              <a:rPr sz="1725" b="0">
                <a:solidFill>
                  <a:srgbClr val="475569"/>
                </a:solidFill>
                <a:latin typeface="Helvetica Neue"/>
                <a:ea typeface="Helvetica Neue"/>
                <a:cs typeface="Helvetica Neue"/>
              </a:rPr>
              <a:t>Word error rate on five read-speech clips per language</a:t>
            </a:r>
          </a:p>
        </p:txBody>
      </p:sp>
      <p:sp>
        <p:nvSpPr>
          <p:cNvPr id="12" name="">
            <a:extLst xmlns:a="http://schemas.openxmlformats.org/drawingml/2006/main">
              <a:ext uri="{FF2B5EF4-FFF2-40B4-BE49-F238E27FC236}">
                <a16:creationId xmlns:a16="http://schemas.microsoft.com/office/drawing/2014/main" id="{4FD84F04-E40F-4B94-AC53-E9082DAB269A}"/>
              </a:ext>
            </a:extLst>
          </p:cNvPr>
          <p:cNvSpPr>
            <a:spLocks xmlns:a="http://schemas.openxmlformats.org/drawingml/2006/main" noGrp="1"/>
          </p:cNvSpPr>
          <p:nvPr/>
        </p:nvSpPr>
        <p:spPr>
          <a:xfrm xmlns:a="http://schemas.openxmlformats.org/drawingml/2006/main">
            <a:off x="952500" y="19621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769AA"/>
                </a:solidFill>
                <a:latin typeface="Helvetica Neue"/>
                <a:ea typeface="Helvetica Neue"/>
                <a:cs typeface="Helvetica Neue"/>
              </a:defRPr>
            </a:pPr>
            <a:r>
              <a:rPr sz="1950" b="1">
                <a:solidFill>
                  <a:srgbClr val="1769AA"/>
                </a:solidFill>
                <a:latin typeface="Helvetica Neue"/>
                <a:ea typeface="Helvetica Neue"/>
                <a:cs typeface="Helvetica Neue"/>
              </a:rPr>
              <a:t>Parakeet v3</a:t>
            </a:r>
          </a:p>
        </p:txBody>
      </p:sp>
      <p:sp>
        <p:nvSpPr>
          <p:cNvPr id="13" name="">
            <a:extLst xmlns:a="http://schemas.openxmlformats.org/drawingml/2006/main">
              <a:ext uri="{FF2B5EF4-FFF2-40B4-BE49-F238E27FC236}">
                <a16:creationId xmlns:a16="http://schemas.microsoft.com/office/drawing/2014/main" id="{10BC35CC-F9F6-4978-BECD-F36B166824A4}"/>
              </a:ext>
            </a:extLst>
          </p:cNvPr>
          <p:cNvSpPr>
            <a:spLocks xmlns:a="http://schemas.openxmlformats.org/drawingml/2006/main" noGrp="1"/>
          </p:cNvSpPr>
          <p:nvPr/>
        </p:nvSpPr>
        <p:spPr>
          <a:xfrm xmlns:a="http://schemas.openxmlformats.org/drawingml/2006/main">
            <a:off x="6667500" y="1962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D96B2B"/>
                </a:solidFill>
                <a:latin typeface="Helvetica Neue"/>
                <a:ea typeface="Helvetica Neue"/>
                <a:cs typeface="Helvetica Neue"/>
              </a:defRPr>
            </a:pPr>
            <a:r>
              <a:rPr sz="1950" b="1">
                <a:solidFill>
                  <a:srgbClr val="D96B2B"/>
                </a:solidFill>
                <a:latin typeface="Helvetica Neue"/>
                <a:ea typeface="Helvetica Neue"/>
                <a:cs typeface="Helvetica Neue"/>
              </a:rPr>
              <a:t>Whisper base, CPU</a:t>
            </a:r>
          </a:p>
        </p:txBody>
      </p:sp>
      <p:graphicFrame>
        <p:nvGraphicFramePr>
          <p:cNvPr id="25" name="Chart"/>
          <p:cNvGraphicFramePr/>
          <p:nvPr/>
        </p:nvGraphicFramePr>
        <p:xfrm>
          <a:off xmlns:a="http://schemas.openxmlformats.org/drawingml/2006/main" x="1476375" y="2438400"/>
          <a:ext xmlns:a="http://schemas.openxmlformats.org/drawingml/2006/main" cx="9144000" cy="2771775"/>
        </p:xfrm>
        <a:graphic xmlns:a="http://schemas.openxmlformats.org/drawingml/2006/main">
          <a:graphicData uri="http://schemas.openxmlformats.org/drawingml/2006/chart">
            <c:chart xmlns:r="http://schemas.openxmlformats.org/officeDocument/2006/relationships" xmlns:c="http://schemas.openxmlformats.org/drawingml/2006/chart" r:id="R1b3d92abb43c4a53"/>
          </a:graphicData>
        </a:graphic>
      </p:graphicFrame>
    </p:spTree>
    <p:extLst>
      <p:ext uri="{BB962C8B-B14F-4D97-AF65-F5344CB8AC3E}">
        <p14:creationId xmlns:p14="http://schemas.microsoft.com/office/powerpoint/2010/main" val="15516601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8897CC-52BC-4209-B77A-358D6FEACA96}"/>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grouping and speakers</a:t>
            </a:r>
          </a:p>
        </p:txBody>
      </p:sp>
      <p:sp>
        <p:nvSpPr>
          <p:cNvPr id="2" name="">
            <a:extLst xmlns:a="http://schemas.openxmlformats.org/drawingml/2006/main">
              <a:ext uri="{FF2B5EF4-FFF2-40B4-BE49-F238E27FC236}">
                <a16:creationId xmlns:a16="http://schemas.microsoft.com/office/drawing/2014/main" id="{5AE7720A-05FF-4B92-87B6-EFBBBB5559E6}"/>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grouping = speakerTurns</a:t>
            </a:r>
          </a:p>
        </p:txBody>
      </p:sp>
      <p:sp>
        <p:nvSpPr>
          <p:cNvPr id="3" name="">
            <a:extLst xmlns:a="http://schemas.openxmlformats.org/drawingml/2006/main">
              <a:ext uri="{FF2B5EF4-FFF2-40B4-BE49-F238E27FC236}">
                <a16:creationId xmlns:a16="http://schemas.microsoft.com/office/drawing/2014/main" id="{9ABC7119-E2A5-4018-9FB0-9CC00510947D}"/>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Joins consecutive parts with the same effective speaker. sourceParts keeps every part separate.</a:t>
            </a:r>
          </a:p>
        </p:txBody>
      </p:sp>
      <p:sp>
        <p:nvSpPr>
          <p:cNvPr id="4" name="">
            <a:extLst xmlns:a="http://schemas.openxmlformats.org/drawingml/2006/main">
              <a:ext uri="{FF2B5EF4-FFF2-40B4-BE49-F238E27FC236}">
                <a16:creationId xmlns:a16="http://schemas.microsoft.com/office/drawing/2014/main" id="{E9ADE1CE-9621-4502-9D7E-62CC60BD4179}"/>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mergeUnassignedSegments = true</a:t>
            </a:r>
          </a:p>
        </p:txBody>
      </p:sp>
      <p:sp>
        <p:nvSpPr>
          <p:cNvPr id="5" name="">
            <a:extLst xmlns:a="http://schemas.openxmlformats.org/drawingml/2006/main">
              <a:ext uri="{FF2B5EF4-FFF2-40B4-BE49-F238E27FC236}">
                <a16:creationId xmlns:a16="http://schemas.microsoft.com/office/drawing/2014/main" id="{BE7D087B-747C-4FE3-96D4-5962F1CCED28}"/>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Groups consecutive parts that still have no speaker label.</a:t>
            </a:r>
          </a:p>
        </p:txBody>
      </p:sp>
      <p:sp>
        <p:nvSpPr>
          <p:cNvPr id="6" name="">
            <a:extLst xmlns:a="http://schemas.openxmlformats.org/drawingml/2006/main">
              <a:ext uri="{FF2B5EF4-FFF2-40B4-BE49-F238E27FC236}">
                <a16:creationId xmlns:a16="http://schemas.microsoft.com/office/drawing/2014/main" id="{6E54C081-3E55-48D4-A780-65A05D591821}"/>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proposeNeighborSpeakers = true</a:t>
            </a:r>
          </a:p>
        </p:txBody>
      </p:sp>
      <p:sp>
        <p:nvSpPr>
          <p:cNvPr id="7" name="">
            <a:extLst xmlns:a="http://schemas.openxmlformats.org/drawingml/2006/main">
              <a:ext uri="{FF2B5EF4-FFF2-40B4-BE49-F238E27FC236}">
                <a16:creationId xmlns:a16="http://schemas.microsoft.com/office/drawing/2014/main" id="{B3B2CB75-5149-465E-9A88-CF25ACE41008}"/>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Records proposals for unassigned parts using the neighbors on both sides.</a:t>
            </a:r>
          </a:p>
        </p:txBody>
      </p:sp>
      <p:sp>
        <p:nvSpPr>
          <p:cNvPr id="8" name="">
            <a:extLst xmlns:a="http://schemas.openxmlformats.org/drawingml/2006/main">
              <a:ext uri="{FF2B5EF4-FFF2-40B4-BE49-F238E27FC236}">
                <a16:creationId xmlns:a16="http://schemas.microsoft.com/office/drawing/2014/main" id="{D1034B91-ADDB-4233-850B-1E4F13F85EE1}"/>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preserveSpeakerChanges = true</a:t>
            </a:r>
          </a:p>
        </p:txBody>
      </p:sp>
      <p:sp>
        <p:nvSpPr>
          <p:cNvPr id="9" name="">
            <a:extLst xmlns:a="http://schemas.openxmlformats.org/drawingml/2006/main">
              <a:ext uri="{FF2B5EF4-FFF2-40B4-BE49-F238E27FC236}">
                <a16:creationId xmlns:a16="http://schemas.microsoft.com/office/drawing/2014/main" id="{5C39028A-35A4-40F2-AA2F-DCD0074B1767}"/>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Keeps a labeled S1 / S2 change as a boundary, including a one-word turn.</a:t>
            </a:r>
          </a:p>
        </p:txBody>
      </p:sp>
      <p:sp>
        <p:nvSpPr>
          <p:cNvPr id="10" name="">
            <a:extLst xmlns:a="http://schemas.openxmlformats.org/drawingml/2006/main">
              <a:ext uri="{FF2B5EF4-FFF2-40B4-BE49-F238E27FC236}">
                <a16:creationId xmlns:a16="http://schemas.microsoft.com/office/drawing/2014/main" id="{3CAB4255-D49A-40F2-B340-B1220ED9C6E6}"/>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maximumCandidateWords = 1</a:t>
            </a:r>
          </a:p>
        </p:txBody>
      </p:sp>
      <p:sp>
        <p:nvSpPr>
          <p:cNvPr id="11" name="">
            <a:extLst xmlns:a="http://schemas.openxmlformats.org/drawingml/2006/main">
              <a:ext uri="{FF2B5EF4-FFF2-40B4-BE49-F238E27FC236}">
                <a16:creationId xmlns:a16="http://schemas.microsoft.com/office/drawing/2014/main" id="{4CB86DF8-17AB-4DEA-9D8E-5E7C70FCD69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Controls which brief-switch fragments qualify when that experiment is enabled.</a:t>
            </a:r>
          </a:p>
        </p:txBody>
      </p:sp>
      <p:sp>
        <p:nvSpPr>
          <p:cNvPr id="12" name="">
            <a:extLst xmlns:a="http://schemas.openxmlformats.org/drawingml/2006/main">
              <a:ext uri="{FF2B5EF4-FFF2-40B4-BE49-F238E27FC236}">
                <a16:creationId xmlns:a16="http://schemas.microsoft.com/office/drawing/2014/main" id="{68AEECA6-767B-4453-98A1-1A392E8C9E50}"/>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All values are configurable in transcriptCleanup. Swift preserves the raw source parts.</a:t>
            </a:r>
          </a:p>
        </p:txBody>
      </p:sp>
    </p:spTree>
    <p:extLst>
      <p:ext uri="{BB962C8B-B14F-4D97-AF65-F5344CB8AC3E}">
        <p14:creationId xmlns:p14="http://schemas.microsoft.com/office/powerpoint/2010/main" val="4703207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EE48B0-3E3A-4042-ACF0-F8E7560514A3}"/>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time thresholds</a:t>
            </a:r>
          </a:p>
        </p:txBody>
      </p:sp>
      <p:sp>
        <p:nvSpPr>
          <p:cNvPr id="2" name="">
            <a:extLst xmlns:a="http://schemas.openxmlformats.org/drawingml/2006/main">
              <a:ext uri="{FF2B5EF4-FFF2-40B4-BE49-F238E27FC236}">
                <a16:creationId xmlns:a16="http://schemas.microsoft.com/office/drawing/2014/main" id="{A0A818AE-1878-4ED7-B9D1-55DEF6DE4C71}"/>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maximumNeighborGapSeconds = 1.5</a:t>
            </a:r>
          </a:p>
        </p:txBody>
      </p:sp>
      <p:sp>
        <p:nvSpPr>
          <p:cNvPr id="3" name="">
            <a:extLst xmlns:a="http://schemas.openxmlformats.org/drawingml/2006/main">
              <a:ext uri="{FF2B5EF4-FFF2-40B4-BE49-F238E27FC236}">
                <a16:creationId xmlns:a16="http://schemas.microsoft.com/office/drawing/2014/main" id="{3CAA5EA7-121B-47B7-A348-FD7920E59E94}"/>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Maximum gap for a neighbor assignment proposal. It does not split reading turns.</a:t>
            </a:r>
          </a:p>
        </p:txBody>
      </p:sp>
      <p:sp>
        <p:nvSpPr>
          <p:cNvPr id="4" name="">
            <a:extLst xmlns:a="http://schemas.openxmlformats.org/drawingml/2006/main">
              <a:ext uri="{FF2B5EF4-FFF2-40B4-BE49-F238E27FC236}">
                <a16:creationId xmlns:a16="http://schemas.microsoft.com/office/drawing/2014/main" id="{353D033B-B14F-40CA-AFFC-6EE21900750E}"/>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maximumOverlapSeconds = 0.15</a:t>
            </a:r>
          </a:p>
        </p:txBody>
      </p:sp>
      <p:sp>
        <p:nvSpPr>
          <p:cNvPr id="5" name="">
            <a:extLst xmlns:a="http://schemas.openxmlformats.org/drawingml/2006/main">
              <a:ext uri="{FF2B5EF4-FFF2-40B4-BE49-F238E27FC236}">
                <a16:creationId xmlns:a16="http://schemas.microsoft.com/office/drawing/2014/main" id="{4FABCFF2-4A7D-42F2-B4EF-E1777552D5B3}"/>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Allows this much timestamp overlap when checking a neighboring part.</a:t>
            </a:r>
          </a:p>
        </p:txBody>
      </p:sp>
      <p:sp>
        <p:nvSpPr>
          <p:cNvPr id="6" name="">
            <a:extLst xmlns:a="http://schemas.openxmlformats.org/drawingml/2006/main">
              <a:ext uri="{FF2B5EF4-FFF2-40B4-BE49-F238E27FC236}">
                <a16:creationId xmlns:a16="http://schemas.microsoft.com/office/drawing/2014/main" id="{D5F3B13A-835F-4E48-8966-F02A4AA7D9ED}"/>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maximumOneSidedGapSeconds = 0.5</a:t>
            </a:r>
          </a:p>
        </p:txBody>
      </p:sp>
      <p:sp>
        <p:nvSpPr>
          <p:cNvPr id="7" name="">
            <a:extLst xmlns:a="http://schemas.openxmlformats.org/drawingml/2006/main">
              <a:ext uri="{FF2B5EF4-FFF2-40B4-BE49-F238E27FC236}">
                <a16:creationId xmlns:a16="http://schemas.microsoft.com/office/drawing/2014/main" id="{EF731E26-2DE8-447A-BFF6-629021393AF0}"/>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Limits a join supported by just one neighbor. Both-side bridges use the neighbor limits.</a:t>
            </a:r>
          </a:p>
        </p:txBody>
      </p:sp>
      <p:sp>
        <p:nvSpPr>
          <p:cNvPr id="8" name="">
            <a:extLst xmlns:a="http://schemas.openxmlformats.org/drawingml/2006/main">
              <a:ext uri="{FF2B5EF4-FFF2-40B4-BE49-F238E27FC236}">
                <a16:creationId xmlns:a16="http://schemas.microsoft.com/office/drawing/2014/main" id="{A6CBB4DB-EA52-45F0-8B0E-B6B9D0C5013A}"/>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maximumReadingBlockSeconds = null</a:t>
            </a:r>
          </a:p>
        </p:txBody>
      </p:sp>
      <p:sp>
        <p:nvSpPr>
          <p:cNvPr id="9" name="">
            <a:extLst xmlns:a="http://schemas.openxmlformats.org/drawingml/2006/main">
              <a:ext uri="{FF2B5EF4-FFF2-40B4-BE49-F238E27FC236}">
                <a16:creationId xmlns:a16="http://schemas.microsoft.com/office/drawing/2014/main" id="{F9C658D6-77C2-4F75-BAA5-5966BC72BB51}"/>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duration cap. The default has no 15-second split.</a:t>
            </a:r>
          </a:p>
        </p:txBody>
      </p:sp>
      <p:sp>
        <p:nvSpPr>
          <p:cNvPr id="10" name="">
            <a:extLst xmlns:a="http://schemas.openxmlformats.org/drawingml/2006/main">
              <a:ext uri="{FF2B5EF4-FFF2-40B4-BE49-F238E27FC236}">
                <a16:creationId xmlns:a16="http://schemas.microsoft.com/office/drawing/2014/main" id="{B6F23DB5-B16E-423D-AC48-41B1330510E2}"/>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maximumReadingGapSeconds = null</a:t>
            </a:r>
          </a:p>
        </p:txBody>
      </p:sp>
      <p:sp>
        <p:nvSpPr>
          <p:cNvPr id="11" name="">
            <a:extLst xmlns:a="http://schemas.openxmlformats.org/drawingml/2006/main">
              <a:ext uri="{FF2B5EF4-FFF2-40B4-BE49-F238E27FC236}">
                <a16:creationId xmlns:a16="http://schemas.microsoft.com/office/drawing/2014/main" id="{DFCAB9E3-F28C-44F5-83DC-7A22C5054AD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silence cutoff. Same-speaker speech stays together across a pause.</a:t>
            </a:r>
          </a:p>
        </p:txBody>
      </p:sp>
      <p:sp>
        <p:nvSpPr>
          <p:cNvPr id="12" name="">
            <a:extLst xmlns:a="http://schemas.openxmlformats.org/drawingml/2006/main">
              <a:ext uri="{FF2B5EF4-FFF2-40B4-BE49-F238E27FC236}">
                <a16:creationId xmlns:a16="http://schemas.microsoft.com/office/drawing/2014/main" id="{6CB7C364-1192-4B3C-846B-D5DB82C86424}"/>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Sejm check: 32 blocks became 4 turns. All 802 source parts survived. Meaning checks remain open.</a:t>
            </a:r>
          </a:p>
        </p:txBody>
      </p:sp>
    </p:spTree>
    <p:extLst>
      <p:ext uri="{BB962C8B-B14F-4D97-AF65-F5344CB8AC3E}">
        <p14:creationId xmlns:p14="http://schemas.microsoft.com/office/powerpoint/2010/main" val="5111280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510CF3-804E-4C93-9443-197239044E8D}"/>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Prototype findings supported by evidence</a:t>
            </a:r>
          </a:p>
        </p:txBody>
      </p:sp>
      <p:sp>
        <p:nvSpPr>
          <p:cNvPr id="2" name="">
            <a:extLst xmlns:a="http://schemas.openxmlformats.org/drawingml/2006/main">
              <a:ext uri="{FF2B5EF4-FFF2-40B4-BE49-F238E27FC236}">
                <a16:creationId xmlns:a16="http://schemas.microsoft.com/office/drawing/2014/main" id="{F4914359-965B-45BB-B5EE-F3EA3D812F42}"/>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local transcription and review workflow runs</a:t>
            </a:r>
          </a:p>
        </p:txBody>
      </p:sp>
      <p:sp>
        <p:nvSpPr>
          <p:cNvPr id="3" name="">
            <a:extLst xmlns:a="http://schemas.openxmlformats.org/drawingml/2006/main">
              <a:ext uri="{FF2B5EF4-FFF2-40B4-BE49-F238E27FC236}">
                <a16:creationId xmlns:a16="http://schemas.microsoft.com/office/drawing/2014/main" id="{92B03857-CEB4-451D-9E57-5F211BDBE82E}"/>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English and Polish transcription, anonymous speaker labels and manual naming share one saved record.</a:t>
            </a:r>
          </a:p>
        </p:txBody>
      </p:sp>
      <p:sp>
        <p:nvSpPr>
          <p:cNvPr id="4" name="">
            <a:extLst xmlns:a="http://schemas.openxmlformats.org/drawingml/2006/main">
              <a:ext uri="{FF2B5EF4-FFF2-40B4-BE49-F238E27FC236}">
                <a16:creationId xmlns:a16="http://schemas.microsoft.com/office/drawing/2014/main" id="{F95620A2-5D50-4CBB-99A1-051716BD51EE}"/>
              </a:ext>
            </a:extLst>
          </p:cNvPr>
          <p:cNvSpPr>
            <a:spLocks xmlns:a="http://schemas.openxmlformats.org/drawingml/2006/main" noGrp="1"/>
          </p:cNvSpPr>
          <p:nvPr/>
        </p:nvSpPr>
        <p:spPr>
          <a:xfrm xmlns:a="http://schemas.openxmlformats.org/drawingml/2006/main">
            <a:off x="742950" y="23526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Benchmarks on the same audio distinguish ASR options</a:t>
            </a:r>
          </a:p>
        </p:txBody>
      </p:sp>
      <p:sp>
        <p:nvSpPr>
          <p:cNvPr id="5" name="">
            <a:extLst xmlns:a="http://schemas.openxmlformats.org/drawingml/2006/main">
              <a:ext uri="{FF2B5EF4-FFF2-40B4-BE49-F238E27FC236}">
                <a16:creationId xmlns:a16="http://schemas.microsoft.com/office/drawing/2014/main" id="{D28D3141-BE30-4006-9EEB-807DD1773166}"/>
              </a:ext>
            </a:extLst>
          </p:cNvPr>
          <p:cNvSpPr>
            <a:spLocks xmlns:a="http://schemas.openxmlformats.org/drawingml/2006/main" noGrp="1"/>
          </p:cNvSpPr>
          <p:nvPr/>
        </p:nvSpPr>
        <p:spPr>
          <a:xfrm xmlns:a="http://schemas.openxmlformats.org/drawingml/2006/main">
            <a:off x="742950" y="2733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headset WER: Parakeet v2 19.48%, Whisper base.en 28.79%. The result covers one meeting.</a:t>
            </a:r>
          </a:p>
        </p:txBody>
      </p:sp>
      <p:sp>
        <p:nvSpPr>
          <p:cNvPr id="6" name="">
            <a:extLst xmlns:a="http://schemas.openxmlformats.org/drawingml/2006/main">
              <a:ext uri="{FF2B5EF4-FFF2-40B4-BE49-F238E27FC236}">
                <a16:creationId xmlns:a16="http://schemas.microsoft.com/office/drawing/2014/main" id="{5A4E1BC3-FA8B-4E6F-8B09-1D239C01A34E}"/>
              </a:ext>
            </a:extLst>
          </p:cNvPr>
          <p:cNvSpPr>
            <a:spLocks xmlns:a="http://schemas.openxmlformats.org/drawingml/2006/main" noGrp="1"/>
          </p:cNvSpPr>
          <p:nvPr/>
        </p:nvSpPr>
        <p:spPr>
          <a:xfrm xmlns:a="http://schemas.openxmlformats.org/drawingml/2006/main">
            <a:off x="742950" y="32670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Explicit reading rules remove artificial time cuts</a:t>
            </a:r>
          </a:p>
        </p:txBody>
      </p:sp>
      <p:sp>
        <p:nvSpPr>
          <p:cNvPr id="7" name="">
            <a:extLst xmlns:a="http://schemas.openxmlformats.org/drawingml/2006/main">
              <a:ext uri="{FF2B5EF4-FFF2-40B4-BE49-F238E27FC236}">
                <a16:creationId xmlns:a16="http://schemas.microsoft.com/office/drawing/2014/main" id="{8670551D-DA86-4EAE-85D4-1F139514BADF}"/>
              </a:ext>
            </a:extLst>
          </p:cNvPr>
          <p:cNvSpPr>
            <a:spLocks xmlns:a="http://schemas.openxmlformats.org/drawingml/2006/main" noGrp="1"/>
          </p:cNvSpPr>
          <p:nvPr/>
        </p:nvSpPr>
        <p:spPr>
          <a:xfrm xmlns:a="http://schemas.openxmlformats.org/drawingml/2006/main">
            <a:off x="742950" y="36480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Sejm: 32 blocks became 4 turns with all 802 source parts preserved. This measures grouping, not ASR accuracy.</a:t>
            </a:r>
          </a:p>
        </p:txBody>
      </p:sp>
      <p:sp>
        <p:nvSpPr>
          <p:cNvPr id="8" name="">
            <a:extLst xmlns:a="http://schemas.openxmlformats.org/drawingml/2006/main">
              <a:ext uri="{FF2B5EF4-FFF2-40B4-BE49-F238E27FC236}">
                <a16:creationId xmlns:a16="http://schemas.microsoft.com/office/drawing/2014/main" id="{5F61AE17-2FB6-4126-841E-BC72EBE0F916}"/>
              </a:ext>
            </a:extLst>
          </p:cNvPr>
          <p:cNvSpPr>
            <a:spLocks xmlns:a="http://schemas.openxmlformats.org/drawingml/2006/main" noGrp="1"/>
          </p:cNvSpPr>
          <p:nvPr/>
        </p:nvSpPr>
        <p:spPr>
          <a:xfrm xmlns:a="http://schemas.openxmlformats.org/drawingml/2006/main">
            <a:off x="742950" y="41814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preservation makes failures inspectable</a:t>
            </a:r>
          </a:p>
        </p:txBody>
      </p:sp>
      <p:sp>
        <p:nvSpPr>
          <p:cNvPr id="9" name="">
            <a:extLst xmlns:a="http://schemas.openxmlformats.org/drawingml/2006/main">
              <a:ext uri="{FF2B5EF4-FFF2-40B4-BE49-F238E27FC236}">
                <a16:creationId xmlns:a16="http://schemas.microsoft.com/office/drawing/2014/main" id="{7754E09B-DE7D-4924-96D3-FB5E42F8CEF3}"/>
              </a:ext>
            </a:extLst>
          </p:cNvPr>
          <p:cNvSpPr>
            <a:spLocks xmlns:a="http://schemas.openxmlformats.org/drawingml/2006/main" noGrp="1"/>
          </p:cNvSpPr>
          <p:nvPr/>
        </p:nvSpPr>
        <p:spPr>
          <a:xfrm xmlns:a="http://schemas.openxmlformats.org/drawingml/2006/main">
            <a:off x="742950" y="45624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Operator corrections remain reversible. Technical response gates can reject a model draft while retaining the transcript.</a:t>
            </a:r>
          </a:p>
        </p:txBody>
      </p:sp>
      <p:sp>
        <p:nvSpPr>
          <p:cNvPr id="10" name="">
            <a:extLst xmlns:a="http://schemas.openxmlformats.org/drawingml/2006/main">
              <a:ext uri="{FF2B5EF4-FFF2-40B4-BE49-F238E27FC236}">
                <a16:creationId xmlns:a16="http://schemas.microsoft.com/office/drawing/2014/main" id="{C61EAF9C-A717-4174-9E65-C910678CAB06}"/>
              </a:ext>
            </a:extLst>
          </p:cNvPr>
          <p:cNvSpPr>
            <a:spLocks xmlns:a="http://schemas.openxmlformats.org/drawingml/2006/main" noGrp="1"/>
          </p:cNvSpPr>
          <p:nvPr/>
        </p:nvSpPr>
        <p:spPr>
          <a:xfrm xmlns:a="http://schemas.openxmlformats.org/drawingml/2006/main">
            <a:off x="742950" y="50958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experiments need substantial local memory</a:t>
            </a:r>
          </a:p>
        </p:txBody>
      </p:sp>
      <p:sp>
        <p:nvSpPr>
          <p:cNvPr id="11" name="">
            <a:extLst xmlns:a="http://schemas.openxmlformats.org/drawingml/2006/main">
              <a:ext uri="{FF2B5EF4-FFF2-40B4-BE49-F238E27FC236}">
                <a16:creationId xmlns:a16="http://schemas.microsoft.com/office/drawing/2014/main" id="{81B40AF3-8D85-4879-B87C-0D0F5C224672}"/>
              </a:ext>
            </a:extLst>
          </p:cNvPr>
          <p:cNvSpPr>
            <a:spLocks xmlns:a="http://schemas.openxmlformats.org/drawingml/2006/main" noGrp="1"/>
          </p:cNvSpPr>
          <p:nvPr/>
        </p:nvSpPr>
        <p:spPr>
          <a:xfrm xmlns:a="http://schemas.openxmlformats.org/drawingml/2006/main">
            <a:off x="742950" y="5476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In single 30B runs, peak process memory was 16.01 GB for AMI and 17.34 GB for Sejm.</a:t>
            </a:r>
          </a:p>
        </p:txBody>
      </p:sp>
      <p:sp>
        <p:nvSpPr>
          <p:cNvPr id="12" name="">
            <a:extLst xmlns:a="http://schemas.openxmlformats.org/drawingml/2006/main">
              <a:ext uri="{FF2B5EF4-FFF2-40B4-BE49-F238E27FC236}">
                <a16:creationId xmlns:a16="http://schemas.microsoft.com/office/drawing/2014/main" id="{03F90AA5-33B8-41C0-B5DF-E444903515D9}"/>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PBI-011 and PBI-018 provide an executable model and evidence for the architecture assessment.</a:t>
            </a:r>
          </a:p>
        </p:txBody>
      </p:sp>
    </p:spTree>
    <p:extLst>
      <p:ext uri="{BB962C8B-B14F-4D97-AF65-F5344CB8AC3E}">
        <p14:creationId xmlns:p14="http://schemas.microsoft.com/office/powerpoint/2010/main" val="18115658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187D88-C9AC-4594-B3A5-AC795530078B}"/>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Quality limits exposed by the prototype</a:t>
            </a:r>
          </a:p>
        </p:txBody>
      </p:sp>
      <p:sp>
        <p:nvSpPr>
          <p:cNvPr id="2" name="">
            <a:extLst xmlns:a="http://schemas.openxmlformats.org/drawingml/2006/main">
              <a:ext uri="{FF2B5EF4-FFF2-40B4-BE49-F238E27FC236}">
                <a16:creationId xmlns:a16="http://schemas.microsoft.com/office/drawing/2014/main" id="{5B11F59E-62B5-4CCD-8089-A901568EED39}"/>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Speaker separation and weak-audio detection remain imperfect</a:t>
            </a:r>
          </a:p>
        </p:txBody>
      </p:sp>
      <p:sp>
        <p:nvSpPr>
          <p:cNvPr id="3" name="">
            <a:extLst xmlns:a="http://schemas.openxmlformats.org/drawingml/2006/main">
              <a:ext uri="{FF2B5EF4-FFF2-40B4-BE49-F238E27FC236}">
                <a16:creationId xmlns:a16="http://schemas.microsoft.com/office/drawing/2014/main" id="{2D86FE7A-0559-4D28-A4DD-08CA4DF8601C}"/>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4 reference speakers became 3 clusters. Warning ranges also included speech from another person.</a:t>
            </a:r>
          </a:p>
        </p:txBody>
      </p:sp>
      <p:sp>
        <p:nvSpPr>
          <p:cNvPr id="4" name="">
            <a:extLst xmlns:a="http://schemas.openxmlformats.org/drawingml/2006/main">
              <a:ext uri="{FF2B5EF4-FFF2-40B4-BE49-F238E27FC236}">
                <a16:creationId xmlns:a16="http://schemas.microsoft.com/office/drawing/2014/main" id="{9B10635F-8655-4D26-8BD4-8A9D74ED95EF}"/>
              </a:ext>
            </a:extLst>
          </p:cNvPr>
          <p:cNvSpPr>
            <a:spLocks xmlns:a="http://schemas.openxmlformats.org/drawingml/2006/main" noGrp="1"/>
          </p:cNvSpPr>
          <p:nvPr/>
        </p:nvSpPr>
        <p:spPr>
          <a:xfrm xmlns:a="http://schemas.openxmlformats.org/drawingml/2006/main">
            <a:off x="742950" y="23526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The transcript still needs operator review</a:t>
            </a:r>
          </a:p>
        </p:txBody>
      </p:sp>
      <p:sp>
        <p:nvSpPr>
          <p:cNvPr id="5" name="">
            <a:extLst xmlns:a="http://schemas.openxmlformats.org/drawingml/2006/main">
              <a:ext uri="{FF2B5EF4-FFF2-40B4-BE49-F238E27FC236}">
                <a16:creationId xmlns:a16="http://schemas.microsoft.com/office/drawing/2014/main" id="{C08F7974-6091-4198-AC35-6977CF888097}"/>
              </a:ext>
            </a:extLst>
          </p:cNvPr>
          <p:cNvSpPr>
            <a:spLocks xmlns:a="http://schemas.openxmlformats.org/drawingml/2006/main" noGrp="1"/>
          </p:cNvSpPr>
          <p:nvPr/>
        </p:nvSpPr>
        <p:spPr>
          <a:xfrm xmlns:a="http://schemas.openxmlformats.org/drawingml/2006/main">
            <a:off x="742950" y="2733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Sejm source comparison found errors in names, acronyms and numerical units. Listening remains necessary.</a:t>
            </a:r>
          </a:p>
        </p:txBody>
      </p:sp>
      <p:sp>
        <p:nvSpPr>
          <p:cNvPr id="6" name="">
            <a:extLst xmlns:a="http://schemas.openxmlformats.org/drawingml/2006/main">
              <a:ext uri="{FF2B5EF4-FFF2-40B4-BE49-F238E27FC236}">
                <a16:creationId xmlns:a16="http://schemas.microsoft.com/office/drawing/2014/main" id="{06395D44-B667-4651-81B6-1BC6F1DB2603}"/>
              </a:ext>
            </a:extLst>
          </p:cNvPr>
          <p:cNvSpPr>
            <a:spLocks xmlns:a="http://schemas.openxmlformats.org/drawingml/2006/main" noGrp="1"/>
          </p:cNvSpPr>
          <p:nvPr/>
        </p:nvSpPr>
        <p:spPr>
          <a:xfrm xmlns:a="http://schemas.openxmlformats.org/drawingml/2006/main">
            <a:off x="742950" y="32670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larger LLM did not establish reliable minutes</a:t>
            </a:r>
          </a:p>
        </p:txBody>
      </p:sp>
      <p:sp>
        <p:nvSpPr>
          <p:cNvPr id="7" name="">
            <a:extLst xmlns:a="http://schemas.openxmlformats.org/drawingml/2006/main">
              <a:ext uri="{FF2B5EF4-FFF2-40B4-BE49-F238E27FC236}">
                <a16:creationId xmlns:a16="http://schemas.microsoft.com/office/drawing/2014/main" id="{0FB4BB42-F8D7-480D-B5AB-946BB9E664A2}"/>
              </a:ext>
            </a:extLst>
          </p:cNvPr>
          <p:cNvSpPr>
            <a:spLocks xmlns:a="http://schemas.openxmlformats.org/drawingml/2006/main" noGrp="1"/>
          </p:cNvSpPr>
          <p:nvPr/>
        </p:nvSpPr>
        <p:spPr>
          <a:xfrm xmlns:a="http://schemas.openxmlformats.org/drawingml/2006/main">
            <a:off x="742950" y="36480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Only 2/5 AMI and 2/4 Sejm topic summaries passed the citation audit. Fresh 30B demo calls both failed.</a:t>
            </a:r>
          </a:p>
        </p:txBody>
      </p:sp>
      <p:sp>
        <p:nvSpPr>
          <p:cNvPr id="8" name="">
            <a:extLst xmlns:a="http://schemas.openxmlformats.org/drawingml/2006/main">
              <a:ext uri="{FF2B5EF4-FFF2-40B4-BE49-F238E27FC236}">
                <a16:creationId xmlns:a16="http://schemas.microsoft.com/office/drawing/2014/main" id="{26873C46-7E28-4678-914C-A16A2E6B7DC3}"/>
              </a:ext>
            </a:extLst>
          </p:cNvPr>
          <p:cNvSpPr>
            <a:spLocks xmlns:a="http://schemas.openxmlformats.org/drawingml/2006/main" noGrp="1"/>
          </p:cNvSpPr>
          <p:nvPr/>
        </p:nvSpPr>
        <p:spPr>
          <a:xfrm xmlns:a="http://schemas.openxmlformats.org/drawingml/2006/main">
            <a:off x="742950" y="41814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Coverage and valid JSON do not guarantee correct meaning</a:t>
            </a:r>
          </a:p>
        </p:txBody>
      </p:sp>
      <p:sp>
        <p:nvSpPr>
          <p:cNvPr id="9" name="">
            <a:extLst xmlns:a="http://schemas.openxmlformats.org/drawingml/2006/main">
              <a:ext uri="{FF2B5EF4-FFF2-40B4-BE49-F238E27FC236}">
                <a16:creationId xmlns:a16="http://schemas.microsoft.com/office/drawing/2014/main" id="{4D67BBAF-0B21-446F-9F19-8DA1C8AFA85F}"/>
              </a:ext>
            </a:extLst>
          </p:cNvPr>
          <p:cNvSpPr>
            <a:spLocks xmlns:a="http://schemas.openxmlformats.org/drawingml/2006/main" noGrp="1"/>
          </p:cNvSpPr>
          <p:nvPr/>
        </p:nvSpPr>
        <p:spPr>
          <a:xfrm xmlns:a="http://schemas.openxmlformats.org/drawingml/2006/main">
            <a:off x="742950" y="45624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 topic mixed room equipment with the designed remote. Semantic boundary checks remain unimplemented.</a:t>
            </a:r>
          </a:p>
        </p:txBody>
      </p:sp>
      <p:sp>
        <p:nvSpPr>
          <p:cNvPr id="10" name="">
            <a:extLst xmlns:a="http://schemas.openxmlformats.org/drawingml/2006/main">
              <a:ext uri="{FF2B5EF4-FFF2-40B4-BE49-F238E27FC236}">
                <a16:creationId xmlns:a16="http://schemas.microsoft.com/office/drawing/2014/main" id="{982FB282-9388-491B-93C1-D38DC49564B8}"/>
              </a:ext>
            </a:extLst>
          </p:cNvPr>
          <p:cNvSpPr>
            <a:spLocks xmlns:a="http://schemas.openxmlformats.org/drawingml/2006/main" noGrp="1"/>
          </p:cNvSpPr>
          <p:nvPr/>
        </p:nvSpPr>
        <p:spPr>
          <a:xfrm xmlns:a="http://schemas.openxmlformats.org/drawingml/2006/main">
            <a:off x="742950" y="50958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Long meetings and playback need further validation</a:t>
            </a:r>
          </a:p>
        </p:txBody>
      </p:sp>
      <p:sp>
        <p:nvSpPr>
          <p:cNvPr id="11" name="">
            <a:extLst xmlns:a="http://schemas.openxmlformats.org/drawingml/2006/main">
              <a:ext uri="{FF2B5EF4-FFF2-40B4-BE49-F238E27FC236}">
                <a16:creationId xmlns:a16="http://schemas.microsoft.com/office/drawing/2014/main" id="{7645A7C1-87F3-4236-805D-036B735F4BC6}"/>
              </a:ext>
            </a:extLst>
          </p:cNvPr>
          <p:cNvSpPr>
            <a:spLocks xmlns:a="http://schemas.openxmlformats.org/drawingml/2006/main" noGrp="1"/>
          </p:cNvSpPr>
          <p:nvPr/>
        </p:nvSpPr>
        <p:spPr>
          <a:xfrm xmlns:a="http://schemas.openxmlformats.org/drawingml/2006/main">
            <a:off x="742950" y="5476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The 30-minute DOE minutes trial failed. The current multi-stage path caps input at 10 minutes. Manual playback is pending.</a:t>
            </a:r>
          </a:p>
        </p:txBody>
      </p:sp>
      <p:sp>
        <p:nvSpPr>
          <p:cNvPr id="12" name="">
            <a:extLst xmlns:a="http://schemas.openxmlformats.org/drawingml/2006/main">
              <a:ext uri="{FF2B5EF4-FFF2-40B4-BE49-F238E27FC236}">
                <a16:creationId xmlns:a16="http://schemas.microsoft.com/office/drawing/2014/main" id="{26BDED45-5BD4-4E9F-BD03-C3FAC236F234}"/>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Technical passes establish reproducible controls. Dependable minutes still require content validation.</a:t>
            </a:r>
          </a:p>
        </p:txBody>
      </p:sp>
    </p:spTree>
    <p:extLst>
      <p:ext uri="{BB962C8B-B14F-4D97-AF65-F5344CB8AC3E}">
        <p14:creationId xmlns:p14="http://schemas.microsoft.com/office/powerpoint/2010/main" val="18565895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B3DFBC-F0F6-47F1-8972-66D1E5A28583}"/>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Conclusions and next validation priorities</a:t>
            </a:r>
          </a:p>
        </p:txBody>
      </p:sp>
      <p:sp>
        <p:nvSpPr>
          <p:cNvPr id="2" name="">
            <a:extLst xmlns:a="http://schemas.openxmlformats.org/drawingml/2006/main">
              <a:ext uri="{FF2B5EF4-FFF2-40B4-BE49-F238E27FC236}">
                <a16:creationId xmlns:a16="http://schemas.microsoft.com/office/drawing/2014/main" id="{0BD9E482-447F-4CF4-8118-BD98DB5CDAC1}"/>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review is an essential product step</a:t>
            </a:r>
          </a:p>
        </p:txBody>
      </p:sp>
      <p:sp>
        <p:nvSpPr>
          <p:cNvPr id="3" name="">
            <a:extLst xmlns:a="http://schemas.openxmlformats.org/drawingml/2006/main">
              <a:ext uri="{FF2B5EF4-FFF2-40B4-BE49-F238E27FC236}">
                <a16:creationId xmlns:a16="http://schemas.microsoft.com/office/drawing/2014/main" id="{141FF60C-3544-4CDA-87BD-F11D59DDFC09}"/>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Validate operator listening, speaker correction and reversible text correction before depending on generated minutes.</a:t>
            </a:r>
          </a:p>
        </p:txBody>
      </p:sp>
      <p:sp>
        <p:nvSpPr>
          <p:cNvPr id="4" name="">
            <a:extLst xmlns:a="http://schemas.openxmlformats.org/drawingml/2006/main">
              <a:ext uri="{FF2B5EF4-FFF2-40B4-BE49-F238E27FC236}">
                <a16:creationId xmlns:a16="http://schemas.microsoft.com/office/drawing/2014/main" id="{E64609AC-F849-49DF-A342-0CCD6F1B07C8}"/>
              </a:ext>
            </a:extLst>
          </p:cNvPr>
          <p:cNvSpPr>
            <a:spLocks xmlns:a="http://schemas.openxmlformats.org/drawingml/2006/main" noGrp="1"/>
          </p:cNvSpPr>
          <p:nvPr/>
        </p:nvSpPr>
        <p:spPr>
          <a:xfrm xmlns:a="http://schemas.openxmlformats.org/drawingml/2006/main">
            <a:off x="742950" y="25336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need references for meaning as well as structure</a:t>
            </a:r>
          </a:p>
        </p:txBody>
      </p:sp>
      <p:sp>
        <p:nvSpPr>
          <p:cNvPr id="5" name="">
            <a:extLst xmlns:a="http://schemas.openxmlformats.org/drawingml/2006/main">
              <a:ext uri="{FF2B5EF4-FFF2-40B4-BE49-F238E27FC236}">
                <a16:creationId xmlns:a16="http://schemas.microsoft.com/office/drawing/2014/main" id="{A6E9CE8A-691D-469C-B1EA-8A80EF61326E}"/>
              </a:ext>
            </a:extLst>
          </p:cNvPr>
          <p:cNvSpPr>
            <a:spLocks xmlns:a="http://schemas.openxmlformats.org/drawingml/2006/main" noGrp="1"/>
          </p:cNvSpPr>
          <p:nvPr/>
        </p:nvSpPr>
        <p:spPr>
          <a:xfrm xmlns:a="http://schemas.openxmlformats.org/drawingml/2006/main">
            <a:off x="742950" y="29146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Build reviewed topic and decision/task annotations. Measure claim support and extraction precision/recall.</a:t>
            </a:r>
          </a:p>
        </p:txBody>
      </p:sp>
      <p:sp>
        <p:nvSpPr>
          <p:cNvPr id="6" name="">
            <a:extLst xmlns:a="http://schemas.openxmlformats.org/drawingml/2006/main">
              <a:ext uri="{FF2B5EF4-FFF2-40B4-BE49-F238E27FC236}">
                <a16:creationId xmlns:a16="http://schemas.microsoft.com/office/drawing/2014/main" id="{CA3F09F6-B96E-4342-B315-2558B71B26A3}"/>
              </a:ext>
            </a:extLst>
          </p:cNvPr>
          <p:cNvSpPr>
            <a:spLocks xmlns:a="http://schemas.openxmlformats.org/drawingml/2006/main" noGrp="1"/>
          </p:cNvSpPr>
          <p:nvPr/>
        </p:nvSpPr>
        <p:spPr>
          <a:xfrm xmlns:a="http://schemas.openxmlformats.org/drawingml/2006/main">
            <a:off x="742950" y="36290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Boundary rules need text and voice evidence</a:t>
            </a:r>
          </a:p>
        </p:txBody>
      </p:sp>
      <p:sp>
        <p:nvSpPr>
          <p:cNvPr id="7" name="">
            <a:extLst xmlns:a="http://schemas.openxmlformats.org/drawingml/2006/main">
              <a:ext uri="{FF2B5EF4-FFF2-40B4-BE49-F238E27FC236}">
                <a16:creationId xmlns:a16="http://schemas.microsoft.com/office/drawing/2014/main" id="{72FA42DB-C3B2-4B74-B7FC-F5E70CE0FE3E}"/>
              </a:ext>
            </a:extLst>
          </p:cNvPr>
          <p:cNvSpPr>
            <a:spLocks xmlns:a="http://schemas.openxmlformats.org/drawingml/2006/main" noGrp="1"/>
          </p:cNvSpPr>
          <p:nvPr/>
        </p:nvSpPr>
        <p:spPr>
          <a:xfrm xmlns:a="http://schemas.openxmlformats.org/drawingml/2006/main">
            <a:off x="742950" y="40100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Evaluate semantic continuity and ambiguous speaker joins. Keep every segmentation control explicit and reproducible.</a:t>
            </a:r>
          </a:p>
        </p:txBody>
      </p:sp>
      <p:sp>
        <p:nvSpPr>
          <p:cNvPr id="8" name="">
            <a:extLst xmlns:a="http://schemas.openxmlformats.org/drawingml/2006/main">
              <a:ext uri="{FF2B5EF4-FFF2-40B4-BE49-F238E27FC236}">
                <a16:creationId xmlns:a16="http://schemas.microsoft.com/office/drawing/2014/main" id="{1786DD50-2954-4CFA-8861-259EB79A2EBD}"/>
              </a:ext>
            </a:extLst>
          </p:cNvPr>
          <p:cNvSpPr>
            <a:spLocks xmlns:a="http://schemas.openxmlformats.org/drawingml/2006/main" noGrp="1"/>
          </p:cNvSpPr>
          <p:nvPr/>
        </p:nvSpPr>
        <p:spPr>
          <a:xfrm xmlns:a="http://schemas.openxmlformats.org/drawingml/2006/main">
            <a:off x="742950" y="47244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Model and architecture choices need comparative validation</a:t>
            </a:r>
          </a:p>
        </p:txBody>
      </p:sp>
      <p:sp>
        <p:nvSpPr>
          <p:cNvPr id="9" name="">
            <a:extLst xmlns:a="http://schemas.openxmlformats.org/drawingml/2006/main">
              <a:ext uri="{FF2B5EF4-FFF2-40B4-BE49-F238E27FC236}">
                <a16:creationId xmlns:a16="http://schemas.microsoft.com/office/drawing/2014/main" id="{4E9191C7-92D3-4F86-86D1-7E81FA05BFD7}"/>
              </a:ext>
            </a:extLst>
          </p:cNvPr>
          <p:cNvSpPr>
            <a:spLocks xmlns:a="http://schemas.openxmlformats.org/drawingml/2006/main" noGrp="1"/>
          </p:cNvSpPr>
          <p:nvPr/>
        </p:nvSpPr>
        <p:spPr>
          <a:xfrm xmlns:a="http://schemas.openxmlformats.org/drawingml/2006/main">
            <a:off x="742950" y="51054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Assess processing longer recordings in chunks and resource use on the same meetings before choosing a model configuration.</a:t>
            </a:r>
          </a:p>
        </p:txBody>
      </p:sp>
      <p:sp>
        <p:nvSpPr>
          <p:cNvPr id="10" name="">
            <a:extLst xmlns:a="http://schemas.openxmlformats.org/drawingml/2006/main">
              <a:ext uri="{FF2B5EF4-FFF2-40B4-BE49-F238E27FC236}">
                <a16:creationId xmlns:a16="http://schemas.microsoft.com/office/drawing/2014/main" id="{02536637-D589-4215-B902-8E3123DEA745}"/>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The prototype supplies useful evidence. Reliable minutes remain unvalidated. Product Owner review is pending.</a:t>
            </a:r>
          </a:p>
        </p:txBody>
      </p:sp>
    </p:spTree>
    <p:extLst>
      <p:ext uri="{BB962C8B-B14F-4D97-AF65-F5344CB8AC3E}">
        <p14:creationId xmlns:p14="http://schemas.microsoft.com/office/powerpoint/2010/main" val="642569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2026-10-04T16:12:50.1550000Z</dcterms:created>
  <dcterms:modified xsi:type="dcterms:W3CDTF">2026-10-04T16:12:50.1550000Z</dcterms:modified>
</coreProperties>
</file>